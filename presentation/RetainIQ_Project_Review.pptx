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(0:00–0:30). "Good morning. I'm Logesh, and this is RetainIQ — a churn</a:t>
            </a:r>
          </a:p>
          <a:p>
            <a:r>
              <a:t>prediction platform I built end to end: data cleaning, model training, an</a:t>
            </a:r>
          </a:p>
          <a:p>
            <a:r>
              <a:t>explainability layer, a retention recommendation engine, a Flask web app and a</a:t>
            </a:r>
          </a:p>
          <a:p>
            <a:r>
              <a:t>Power BI layer. The headline: the model predicts churn with 80.34% accuracy and</a:t>
            </a:r>
          </a:p>
          <a:p>
            <a:r>
              <a:t>a ROC-AUC of 84.91%, but the real point is what happens after the prediction —</a:t>
            </a:r>
          </a:p>
          <a:p>
            <a:r>
              <a:t>risk bands, explanations, actions and revenue exposure."</a:t>
            </a:r>
          </a:p>
          <a:p/>
          <a:p>
            <a:r>
              <a:t>Do not read the slides. Land the four KPIs, then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(0:30–0:55) Read the thesis line aloud — it is the spine of the whole talk. Then</a:t>
            </a:r>
          </a:p>
          <a:p>
            <a:r>
              <a:t>point at the four quadrants: "I'll move through problem and data, then how the</a:t>
            </a:r>
          </a:p>
          <a:p>
            <a:r>
              <a:t>model was built and chosen, then how a probability becomes an action, and</a:t>
            </a:r>
          </a:p>
          <a:p>
            <a:r>
              <a:t>finally the product itself and what it does and does not deliver."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(0:55–1:45) Frame the business pain, then the four questions — they are the</a:t>
            </a:r>
          </a:p>
          <a:p>
            <a:r>
              <a:t>structure of the entire solution. Finish on the donut: "Notice the trap here.</a:t>
            </a:r>
          </a:p>
          <a:p>
            <a:r>
              <a:t>If I predict nobody churns, I'm 73.46% accurate and completely useless. That</a:t>
            </a:r>
          </a:p>
          <a:p>
            <a:r>
              <a:t>number is why I never selected a model on accuracy alone." That line earns</a:t>
            </a:r>
          </a:p>
          <a:p>
            <a:r>
              <a:t>credibility early and sets up slide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(1:45–2:30) Quick pass over the tiles. Spend the time on the leakage callout —</a:t>
            </a:r>
          </a:p>
          <a:p>
            <a:r>
              <a:t>reviewers consistently reward this. Say: "Churn Score and Churn Reason are the</a:t>
            </a:r>
          </a:p>
          <a:p>
            <a:r>
              <a:t>dataset's most seductive columns, and they're poison: they exist only after the</a:t>
            </a:r>
          </a:p>
          <a:p>
            <a:r>
              <a:t>customer has left. I dropped them. That is why 80% here is a real 80%."</a:t>
            </a:r>
          </a:p>
          <a:p>
            <a:r>
              <a:t>Then one sentence on train/serve parity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(2:30–3:20) Don't narrate every bar — three takeaways only.</a:t>
            </a:r>
          </a:p>
          <a:p>
            <a:r>
              <a:t>Contract: "month-to-month is a 15× risk multiplier."</a:t>
            </a:r>
          </a:p>
          <a:p>
            <a:r>
              <a:t>Tenure: "risk is front-loaded — year one is where retention money belongs."</a:t>
            </a:r>
          </a:p>
          <a:p>
            <a:r>
              <a:t>Experience: "the churn story is service experience, not price alone: fiber optic,</a:t>
            </a:r>
          </a:p>
          <a:p>
            <a:r>
              <a:t>no security, no support."</a:t>
            </a:r>
          </a:p>
          <a:p>
            <a:r>
              <a:t>Close with the bridge: "these three patterns are what the model later recovered</a:t>
            </a:r>
          </a:p>
          <a:p>
            <a:r>
              <a:t>on its own — and what the recommendation engine acts on."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(3:20–4:05) Walk the four boxes quickly, then spend the time on the right panel.</a:t>
            </a:r>
          </a:p>
          <a:p>
            <a:r>
              <a:t>"Cleaning, encoding and the split all live in one module that both the training</a:t>
            </a:r>
          </a:p>
          <a:p>
            <a:r>
              <a:t>notebook and the live app call. The 30-column contract is saved next to the</a:t>
            </a:r>
          </a:p>
          <a:p>
            <a:r>
              <a:t>model and tested — so the app can't silently score on the wrong schema."</a:t>
            </a:r>
          </a:p>
          <a:p>
            <a:r>
              <a:t>If asked about scaling: the saved pipeline handles it; note that feature scaling</a:t>
            </a:r>
          </a:p>
          <a:p>
            <a:r>
              <a:t>matters for the linear model and is applied consistently.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(4:05–4:45) "Same features, same split, same code path — the only thing that</a:t>
            </a:r>
          </a:p>
          <a:p>
            <a:r>
              <a:t>changes is the algorithm." Point out that Logistic Regression led on F1 and on</a:t>
            </a:r>
          </a:p>
          <a:p>
            <a:r>
              <a:t>ROC-AUC, with LightGBM a close second. The takeaway to say out loud: "churn here</a:t>
            </a:r>
          </a:p>
          <a:p>
            <a:r>
              <a:t>is largely linear in the encoded features, so the simplest model wins — and that</a:t>
            </a:r>
          </a:p>
          <a:p>
            <a:r>
              <a:t>also buys me explainability for free." That is the transition into slide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(4:45–5:35) This is the slide to slow down on. "1,409 customers were held back</a:t>
            </a:r>
          </a:p>
          <a:p>
            <a:r>
              <a:t>from training entirely. 919 stayed and were correctly left alone; 116 were</a:t>
            </a:r>
          </a:p>
          <a:p>
            <a:r>
              <a:t>flagged unnecessarily; 161 churners were missed; 213 were caught."</a:t>
            </a:r>
          </a:p>
          <a:p>
            <a:r>
              <a:t>Then the reflection: "56.95% recall is the honest weakness of this model. I would</a:t>
            </a:r>
          </a:p>
          <a:p>
            <a:r>
              <a:t>rather state it than hide it — and it is exactly why threshold tuning and</a:t>
            </a:r>
          </a:p>
          <a:p>
            <a:r>
              <a:t>cost-sensitive learning are on the future-work slide." Reviewers reward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(5:35–6:15) "A probability is not something a retention agent can act on, so I</a:t>
            </a:r>
          </a:p>
          <a:p>
            <a:r>
              <a:t>cut it into three bands."</a:t>
            </a:r>
          </a:p>
          <a:p>
            <a:r>
              <a:t>Then the validation, which is the point: "I checked the bands against the real</a:t>
            </a:r>
          </a:p>
          <a:p>
            <a:r>
              <a:t>churn labels. Low risk actually churns 9.5%, medium 42%, high 73%. The band is a</a:t>
            </a:r>
          </a:p>
          <a:p>
            <a:r>
              <a:t>genuine ordering of risk, not a cosmetic split."</a:t>
            </a:r>
          </a:p>
          <a:p>
            <a:r>
              <a:t>Close with the operational line: "the team starts with 1,135 customers instead</a:t>
            </a:r>
          </a:p>
          <a:p>
            <a:r>
              <a:t>of 7,043."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(6:15–7:00) Left chart: "this is who the high-risk band is — every one of them is</a:t>
            </a:r>
          </a:p>
          <a:p>
            <a:r>
              <a:t>month-to-month, 91% are on fiber optic, 95% have no online security, average</a:t>
            </a:r>
          </a:p>
          <a:p>
            <a:r>
              <a:t>tenure under ten months."</a:t>
            </a:r>
          </a:p>
          <a:p>
            <a:r>
              <a:t>Right: "and for a single customer the app shows which of those factors pushed</a:t>
            </a:r>
          </a:p>
          <a:p>
            <a:r>
              <a:t>this specific score up."</a:t>
            </a:r>
          </a:p>
          <a:p>
            <a:r>
              <a:t>Be upfront on SHAP if asked: "I did the SHAP analysis during experimentation; the</a:t>
            </a:r>
          </a:p>
          <a:p>
            <a:r>
              <a:t>deployed model is linear, so I explain it with coefficients — the same</a:t>
            </a:r>
          </a:p>
          <a:p>
            <a:r>
              <a:t>information without the runtime cost."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(7:00–7:40) "Prediction alone doesn't retain anyone." Show the offer list — note</a:t>
            </a:r>
          </a:p>
          <a:p>
            <a:r>
              <a:t>that the biggest group is a contract-upgrade nudge, which follows directly from</a:t>
            </a:r>
          </a:p>
          <a:p>
            <a:r>
              <a:t>the EDA finding.</a:t>
            </a:r>
          </a:p>
          <a:p>
            <a:r>
              <a:t>Then be careful and precise about the money: "this is monthly revenue at risk,</a:t>
            </a:r>
          </a:p>
          <a:p>
            <a:r>
              <a:t>exposure — $92,539 a month sitting in the high-risk band. I deliberately do not</a:t>
            </a:r>
          </a:p>
          <a:p>
            <a:r>
              <a:t>call it savings."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(7:40–8:20) This is the demo slide — if the live site is up, switch to it here</a:t>
            </a:r>
          </a:p>
          <a:p>
            <a:r>
              <a:t>for 30 seconds; otherwise walk the screenshots.</a:t>
            </a:r>
          </a:p>
          <a:p>
            <a:r>
              <a:t>Say: "bulk upload, validation before scoring, a dashboard with churn rate, risk</a:t>
            </a:r>
          </a:p>
          <a:p>
            <a:r>
              <a:t>distribution and revenue at risk, customer-level drill-down, and downloadable</a:t>
            </a:r>
          </a:p>
          <a:p>
            <a:r>
              <a:t>reports." One engineering detail worth one sentence: "reports are scoped to the</a:t>
            </a:r>
          </a:p>
          <a:p>
            <a:r>
              <a:t>visitor through a signed cookie, so users never see each other's data — that has</a:t>
            </a:r>
          </a:p>
          <a:p>
            <a:r>
              <a:t>its own unit test."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(8:20–8:55) Fast pass — four cards, one sentence each. The Power BI screenshots</a:t>
            </a:r>
          </a:p>
          <a:p>
            <a:r>
              <a:t>on the right show the BI half of the deliverable.</a:t>
            </a:r>
          </a:p>
          <a:p>
            <a:r>
              <a:t>Use the bottom strip as your integrity line: "every number in this deck is</a:t>
            </a:r>
          </a:p>
          <a:p>
            <a:r>
              <a:t>generated by a script in the repository from the project's own artifacts — I can</a:t>
            </a:r>
          </a:p>
          <a:p>
            <a:r>
              <a:t>re-run it live."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(8:55–9:40) Close deliberately. Left column: what exists and works. Middle: the</a:t>
            </a:r>
          </a:p>
          <a:p>
            <a:r>
              <a:t>limits, stated before anyone asks — especially recall. Right: the roadmap.</a:t>
            </a:r>
          </a:p>
          <a:p>
            <a:r>
              <a:t>Final line, spoken: "The contribution isn't the 80% — it's that a probability</a:t>
            </a:r>
          </a:p>
          <a:p>
            <a:r>
              <a:t>becomes a prioritised, explained, costed action, in a product a retention team</a:t>
            </a:r>
          </a:p>
          <a:p>
            <a:r>
              <a:t>can actually open. Thank you — I'm happy to take questions."</a:t>
            </a:r>
          </a:p>
          <a:p/>
          <a:p>
            <a:r>
              <a:t>LIKELY QUESTIONS</a:t>
            </a:r>
          </a:p>
          <a:p>
            <a:r>
              <a:t>· Why not deep learning? 1,409 test rows and a largely linear signal; a neural</a:t>
            </a:r>
          </a:p>
          <a:p>
            <a:r>
              <a:t>  net would add opacity, not accuracy. Benchmarks support this.</a:t>
            </a:r>
          </a:p>
          <a:p>
            <a:r>
              <a:t>· Why is recall low? Class imbalance plus a default 0.5 threshold; tuning and</a:t>
            </a:r>
          </a:p>
          <a:p>
            <a:r>
              <a:t>  calibration are the fix, and are on the roadmap.</a:t>
            </a:r>
          </a:p>
          <a:p>
            <a:r>
              <a:t>· Isn't "revenue at risk" optimistic? It is exposure, not realised savings — the</a:t>
            </a:r>
          </a:p>
          <a:p>
            <a:r>
              <a:t>  deck and the app both say so; validation would need a live campaign.</a:t>
            </a:r>
          </a:p>
          <a:p>
            <a:r>
              <a:t>· How do you know it isn't leakage? Churn Score / Reason / Category / Status were</a:t>
            </a:r>
          </a:p>
          <a:p>
            <a:r>
              <a:t>  dropped before training — they are post-outcome fields.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slide. Use if anyone questions the benchmark or asks for the full metric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slide for API / integration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slide for reproducibility questions. This is a strong answer to "how do we know the numbers are right?"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2FD8B4"/>
                </a:solidFill>
                <a:latin typeface="Consolas"/>
              </a:rPr>
              <a:t>FINAL YEAR PROJECT  ·  B.SC. DATA 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950976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5400" b="1">
                <a:solidFill>
                  <a:srgbClr val="EAF0F7"/>
                </a:solidFill>
                <a:latin typeface="Segoe UI"/>
              </a:rPr>
              <a:t>RetainIQ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2FD8B4"/>
                </a:solidFill>
                <a:latin typeface="Segoe UI"/>
              </a:rPr>
              <a:t>Signal Ops Console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072384"/>
            <a:ext cx="1920240" cy="3200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346704"/>
            <a:ext cx="7223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>
                <a:solidFill>
                  <a:srgbClr val="8CA0BE"/>
                </a:solidFill>
                <a:latin typeface="Segoe UI"/>
              </a:rPr>
              <a:t>An explainable machine learning platform for customer churn prediction, risk intelligence and retention strategy.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04120" y="2157984"/>
            <a:ext cx="105156" cy="201168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87000" y="2011680"/>
            <a:ext cx="105156" cy="347472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469880" y="1865376"/>
            <a:ext cx="105156" cy="493776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652760" y="1719072"/>
            <a:ext cx="105156" cy="64008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835640" y="1572768"/>
            <a:ext cx="105156" cy="78638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0" y="2432304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8CA0BE"/>
                </a:solidFill>
                <a:latin typeface="Consolas"/>
              </a:rPr>
              <a:t>signal strength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572000"/>
            <a:ext cx="2157984" cy="93268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4700016"/>
            <a:ext cx="19019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2FD8B4"/>
                </a:solidFill>
                <a:latin typeface="Segoe UI"/>
              </a:rPr>
              <a:t>80.34%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TEST 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52928" y="4572000"/>
            <a:ext cx="2157984" cy="93268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9232" y="4700016"/>
            <a:ext cx="19019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2FD8B4"/>
                </a:solidFill>
                <a:latin typeface="Segoe UI"/>
              </a:rPr>
              <a:t>84.91%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ROC-AUC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38928" y="4572000"/>
            <a:ext cx="2157984" cy="93268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85232" y="4700016"/>
            <a:ext cx="19019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4C8DFF"/>
                </a:solidFill>
                <a:latin typeface="Segoe UI"/>
              </a:rPr>
              <a:t>7,043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CUSTOMERS SCORED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24927" y="4572000"/>
            <a:ext cx="4197096" cy="93268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71231" y="4700016"/>
            <a:ext cx="394106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FF5C6C"/>
                </a:solidFill>
                <a:latin typeface="Segoe UI"/>
              </a:rPr>
              <a:t>$92,539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MONTHLY REVENUE EXPOSURE IN HIGH-RISK BAND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77900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1">
                <a:solidFill>
                  <a:srgbClr val="EAF0F7"/>
                </a:solidFill>
                <a:latin typeface="Segoe UI"/>
              </a:rPr>
              <a:t>Logesh S.   ·   B.Sc. Data Science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8CA0BE"/>
                </a:solidFill>
                <a:latin typeface="Consolas"/>
              </a:rPr>
              <a:t>Live application: retainiq-predictive-customer-retention-zq6x.onrender.com     ·     Source: github.com/Logesh0247/RetainIQ_Signal_Ops_Console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this project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The one-line thesis, then the four parts of the talk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11057839" cy="1060704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00784"/>
            <a:ext cx="1054577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00" b="0">
                <a:solidFill>
                  <a:srgbClr val="EAF0F7"/>
                </a:solidFill>
                <a:latin typeface="Segoe UI"/>
              </a:rPr>
              <a:t>RetainIQ turns churn from a yes/no prediction into an operational workflow: score the portfolio  →  explain the risk  →  recommend the action  →  quantify the revenue at stake.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798063"/>
            <a:ext cx="5419191" cy="12070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944368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4C8DFF"/>
                </a:solidFill>
                <a:latin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9616" y="2980944"/>
            <a:ext cx="426704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50" b="1">
                <a:solidFill>
                  <a:srgbClr val="EAF0F7"/>
                </a:solidFill>
                <a:latin typeface="Segoe UI"/>
              </a:rPr>
              <a:t>Problem &amp; data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Why retention is reactive today, and the 7,043-customer Telco dataset behind the model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187952"/>
            <a:ext cx="5419191" cy="12070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4334256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F5A623"/>
                </a:solidFill>
                <a:latin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9616" y="4370832"/>
            <a:ext cx="426704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50" b="1">
                <a:solidFill>
                  <a:srgbClr val="EAF0F7"/>
                </a:solidFill>
                <a:latin typeface="Segoe UI"/>
              </a:rPr>
              <a:t>Method &amp; model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Preprocessing, leakage control, feature engineering, four algorithms, one selected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5575" y="2798063"/>
            <a:ext cx="5419191" cy="12070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5031" y="2944368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2FD8B4"/>
                </a:solidFill>
                <a:latin typeface="Consola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8263" y="2980944"/>
            <a:ext cx="426704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50" b="1">
                <a:solidFill>
                  <a:srgbClr val="EAF0F7"/>
                </a:solidFill>
                <a:latin typeface="Segoe UI"/>
              </a:rPr>
              <a:t>Risk, reason &amp; action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Probability → risk bands → per-customer explanation → retention recommendation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5575" y="4187952"/>
            <a:ext cx="5419191" cy="12070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5031" y="4334256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FF5C6C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8263" y="4370832"/>
            <a:ext cx="426704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50" b="1">
                <a:solidFill>
                  <a:srgbClr val="EAF0F7"/>
                </a:solidFill>
                <a:latin typeface="Segoe UI"/>
              </a:rPr>
              <a:t>Product &amp; results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The live console, dashboard, reports, Power BI layer — and the honest limitations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01  ·  BUSINESS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problem: retention is still reactive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Reports explain what happened. They do not say who leaves next.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59893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Churn is expensive and it compounds.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26.54% of this customer base churned — 1,869 of 7,043 customers.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Dashboards describe, they do not prioritise.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Knowing last quarter's churn rate does not tell a retention team whom to call today.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Generic campaigns waste budget.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Blanket offers discount loyal customers and still miss the ones about to leave.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730752"/>
            <a:ext cx="2889504" cy="104241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3858768"/>
            <a:ext cx="32004" cy="786384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877056"/>
            <a:ext cx="261518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Who is likely to churn?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Predicted churn probability per customer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21024" y="3730752"/>
            <a:ext cx="2889504" cy="104241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21024" y="3858768"/>
            <a:ext cx="32004" cy="78638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03904" y="3877056"/>
            <a:ext cx="261518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Why are they at risk?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Feature contributions behind each prediction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889504" cy="104241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5047488"/>
            <a:ext cx="32004" cy="78638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5065776"/>
            <a:ext cx="261518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What should we do?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A retention action matched to the risk drivers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21024" y="4919472"/>
            <a:ext cx="2889504" cy="104241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21024" y="5047488"/>
            <a:ext cx="32004" cy="786384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03904" y="5065776"/>
            <a:ext cx="261518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What is at stake?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Monthly recurring revenue exposed in each risk band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67728" y="1572768"/>
            <a:ext cx="4654296" cy="451713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87184" y="171907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8CA0BE"/>
                </a:solidFill>
                <a:latin typeface="Consolas"/>
              </a:rPr>
              <a:t>THE BASE RATE</a:t>
            </a:r>
          </a:p>
        </p:txBody>
      </p:sp>
      <p:pic>
        <p:nvPicPr>
          <p:cNvPr id="22" name="Picture 21" descr="chart_churn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6560" y="1993391"/>
            <a:ext cx="4136630" cy="36576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187184" y="555955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50" b="0">
                <a:solidFill>
                  <a:srgbClr val="8CA0BE"/>
                </a:solidFill>
                <a:latin typeface="Segoe UI"/>
              </a:rPr>
              <a:t>Any model that predicts "nobody churns" is already 73.46% accurate — which is why accuracy alone decides nothing.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01  · 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data behind 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IBM Telco Customer Churn — 7,043 customers, 34 raw fields, one binary target · 80/20 stratified split: 5,634 train / 1,409 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54480"/>
            <a:ext cx="2094524" cy="96926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82495"/>
            <a:ext cx="183849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EAF0F7"/>
                </a:solidFill>
                <a:latin typeface="Segoe UI"/>
              </a:rPr>
              <a:t>7,043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CUSTOMERS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7756" y="1554480"/>
            <a:ext cx="2094524" cy="96926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54060" y="1682495"/>
            <a:ext cx="183849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EAF0F7"/>
                </a:solidFill>
                <a:latin typeface="Segoe UI"/>
              </a:rPr>
              <a:t>34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RAW FEATURES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48585" y="1554480"/>
            <a:ext cx="2094524" cy="96926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4889" y="1682495"/>
            <a:ext cx="183849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EAF0F7"/>
                </a:solidFill>
                <a:latin typeface="Segoe UI"/>
              </a:rPr>
              <a:t>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ML FEATURES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9413" y="1554480"/>
            <a:ext cx="2094524" cy="96926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35717" y="1682495"/>
            <a:ext cx="183849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FF5C6C"/>
                </a:solidFill>
                <a:latin typeface="Segoe UI"/>
              </a:rPr>
              <a:t>26.54%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CHURN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30242" y="1554480"/>
            <a:ext cx="2094524" cy="96926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546" y="1682495"/>
            <a:ext cx="183849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4C8DFF"/>
                </a:solidFill>
                <a:latin typeface="Segoe UI"/>
              </a:rPr>
              <a:t>80 / 20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TRAIN / TEST SPLIT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706624"/>
            <a:ext cx="539496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>
                <a:solidFill>
                  <a:srgbClr val="2FD8B4"/>
                </a:solidFill>
                <a:latin typeface="Segoe UI"/>
              </a:rPr>
              <a:t>What a row contains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Customer profile — gender, senior citizen, partner, dependents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Services — phone, internet, security, backup, protection, support, streaming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Contract &amp; billing — contract type, payment method, paperless, charges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Value — tenure, monthly charges, total charges, CLTV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130" b="0">
                <a:solidFill>
                  <a:srgbClr val="8CA0BE"/>
                </a:solidFill>
                <a:latin typeface="Segoe UI"/>
              </a:rPr>
              <a:t>Target: Churn Label (Yes / No), converted to 1 / 0.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706624"/>
            <a:ext cx="5358384" cy="159105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834640"/>
            <a:ext cx="4992624" cy="1353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LEAKAGE PREVENTION — the detail that makes the results believable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Churn Score, Churn Reason, Churn Category and Customer Status were removed before training. All four are only known after a customer has already churned, so keeping them would inflate the metrics and break the model in production.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443983"/>
            <a:ext cx="5358384" cy="1243584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571999"/>
            <a:ext cx="499262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TRAIN / SERVE PARITY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The 30 encoded columns are frozen in feature_columns.pkl and rebuilt by the same preprocessing code for every upload — training and live scoring cannot drift apart. There is a unit test for exactly this.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01  ·  EXPLORATORY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the data said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Three patterns that shaped the model — and the retention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on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9659"/>
            <a:ext cx="5440680" cy="3007160"/>
          </a:xfrm>
          <a:prstGeom prst="rect">
            <a:avLst/>
          </a:prstGeom>
        </p:spPr>
      </p:pic>
      <p:pic>
        <p:nvPicPr>
          <p:cNvPr id="8" name="Picture 7" descr="chart_ten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2943" y="1554480"/>
            <a:ext cx="4486625" cy="301751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681728"/>
            <a:ext cx="3576218" cy="157276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4828032"/>
            <a:ext cx="32004" cy="128016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846320"/>
            <a:ext cx="321045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Contract is the strongest signal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42.7% churn on month-to-month vs 2.8% on two-year contracts — a 15× gap.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7738" y="4681728"/>
            <a:ext cx="3576218" cy="157276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7738" y="4828032"/>
            <a:ext cx="32004" cy="128016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0618" y="4846320"/>
            <a:ext cx="321045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Churn is front-loaded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47.4% of first-year customers churn; 55.5% of all churners are in year one. Churned customers average 18.0 months of tenure vs 37.6.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8548" y="4681728"/>
            <a:ext cx="3576218" cy="157276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8548" y="4828032"/>
            <a:ext cx="32004" cy="128016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1428" y="4846320"/>
            <a:ext cx="321045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It is a service-experience story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Fiber optic churns at 41.9% vs 7.4% with no internet; customers without tech support or online security churn at 41.6% / 41.8%.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02  ·  PREPROCESSING &amp;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From raw records to 30 model-ready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One reproducible pipeline, used identically in training and in the live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2558719" cy="100584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00784"/>
            <a:ext cx="222953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EAF0F7"/>
                </a:solidFill>
                <a:latin typeface="Segoe UI"/>
              </a:rPr>
              <a:t>Raw upload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7,043 records · 34 columns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3935" y="1847088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9967" y="1572768"/>
            <a:ext cx="2558719" cy="100584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4559" y="1700784"/>
            <a:ext cx="222953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EAF0F7"/>
                </a:solidFill>
                <a:latin typeface="Segoe UI"/>
              </a:rPr>
              <a:t>Clean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types, blanks, duplicates, category names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6975" y="1847088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572768"/>
            <a:ext cx="2558719" cy="100584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7599" y="1700784"/>
            <a:ext cx="222953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EAF0F7"/>
                </a:solidFill>
                <a:latin typeface="Segoe UI"/>
              </a:rPr>
              <a:t>Encode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16 categoricals → 27 flags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10015" y="1847088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66047" y="1572768"/>
            <a:ext cx="2558719" cy="100584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0639" y="1700784"/>
            <a:ext cx="222953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EAF0F7"/>
                </a:solidFill>
                <a:latin typeface="Segoe UI"/>
              </a:rPr>
              <a:t>30 features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frozen column contract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834639"/>
            <a:ext cx="544068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20" b="1">
                <a:solidFill>
                  <a:srgbClr val="2FD8B4"/>
                </a:solidFill>
                <a:latin typeface="Segoe UI"/>
              </a:rPr>
              <a:t>▸  Cleaning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EAF0F7"/>
                </a:solidFill>
                <a:latin typeface="Segoe UI"/>
              </a:rPr>
              <a:t>     Data-type correction, blank TotalCharges for new customers, duplicate checks, categorical normalisation, and removal of ID and geographic columns that carry no predictive value.</a:t>
            </a:r>
          </a:p>
          <a:p>
            <a:pPr algn="l">
              <a:lnSpc>
                <a:spcPct val="112000"/>
              </a:lnSpc>
              <a:spcBef>
                <a:spcPts val="900"/>
              </a:spcBef>
              <a:spcAft>
                <a:spcPts val="100"/>
              </a:spcAft>
            </a:pPr>
            <a:r>
              <a:rPr sz="1120" b="1">
                <a:solidFill>
                  <a:srgbClr val="2FD8B4"/>
                </a:solidFill>
                <a:latin typeface="Segoe UI"/>
              </a:rPr>
              <a:t>▸  Encoding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EAF0F7"/>
                </a:solidFill>
                <a:latin typeface="Segoe UI"/>
              </a:rPr>
              <a:t>     Every service column becomes an explicit flag (Contract_Two year, Tech Support_Yes, Internet Service_Fiber optic …) so no ordering is invented where none exists.</a:t>
            </a:r>
          </a:p>
          <a:p>
            <a:pPr algn="l">
              <a:lnSpc>
                <a:spcPct val="112000"/>
              </a:lnSpc>
              <a:spcBef>
                <a:spcPts val="900"/>
              </a:spcBef>
              <a:spcAft>
                <a:spcPts val="100"/>
              </a:spcAft>
            </a:pPr>
            <a:r>
              <a:rPr sz="1120" b="1">
                <a:solidFill>
                  <a:srgbClr val="2FD8B4"/>
                </a:solidFill>
                <a:latin typeface="Segoe UI"/>
              </a:rPr>
              <a:t>▸  Scaling &amp; split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EAF0F7"/>
                </a:solidFill>
                <a:latin typeface="Segoe UI"/>
              </a:rPr>
              <a:t>     An 80/20 stratified split keeps the 26.54% churn rate identical in train (5,634) and test (1,409).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2834639"/>
            <a:ext cx="5358384" cy="213969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4808" y="2999232"/>
            <a:ext cx="495604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WHY THIS SLIDE MATTERS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The single most common failure in student ML projects is a notebook that scores well and an app that scores differently. Here the same preprocessing module builds the feature frame for training, for the test-set evaluation, for the live upload — and a unit test asserts the saved column list matches what the model expects.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02  ·  MODELLING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Four algorithms, one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Same features, same split, same scoring code — only the algorithm changes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9187" y="1554480"/>
            <a:ext cx="5553521" cy="31455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01000" y="1609344"/>
            <a:ext cx="3621024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Logistic Regression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linear baseline; interpretable coefficients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Random Forest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bagged trees; captures non-linearity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XGBoost &amp; LightGBM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gradient boosting; strong tabular performers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3730752"/>
            <a:ext cx="3621024" cy="969264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65592" y="3840480"/>
            <a:ext cx="329184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19" b="1">
                <a:solidFill>
                  <a:srgbClr val="F5A623"/>
                </a:solidFill>
                <a:latin typeface="Segoe UI"/>
              </a:rPr>
              <a:t>Benchmark ladder (F1)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Consolas"/>
              </a:rPr>
              <a:t>LR 60.6  ·  LightGBM 59.6  ·  XGBoost 58.5  ·  RF 57.1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828032"/>
            <a:ext cx="11057839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4956048"/>
            <a:ext cx="10692079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WHY FOUR MODELS AND NOT ONE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 single model proves nothing. Four algorithms on the same pipeline show the result is a property of the features and the problem — not of one lucky configuration. Accuracy, precision, recall, F1 and ROC-AUC were all recorded, and the winner was chosen on F1 and ROC-AUC, not accuracy.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02  · 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Why Logistic Regression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Held-out test set, 1,409 customers the model never saw in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9393" y="1536192"/>
            <a:ext cx="3687109" cy="2761488"/>
          </a:xfrm>
          <a:prstGeom prst="rect">
            <a:avLst/>
          </a:prstGeom>
        </p:spPr>
      </p:pic>
      <p:pic>
        <p:nvPicPr>
          <p:cNvPr id="8" name="Picture 7" descr="chart_r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1302" y="1536192"/>
            <a:ext cx="3213090" cy="276148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425696"/>
            <a:ext cx="2094524" cy="85953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553712"/>
            <a:ext cx="183849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900" b="1">
                <a:solidFill>
                  <a:srgbClr val="EAF0F7"/>
                </a:solidFill>
                <a:latin typeface="Segoe UI"/>
              </a:rPr>
              <a:t>80.34%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7756" y="4425696"/>
            <a:ext cx="2094524" cy="85953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54060" y="4553712"/>
            <a:ext cx="183849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900" b="1">
                <a:solidFill>
                  <a:srgbClr val="EAF0F7"/>
                </a:solidFill>
                <a:latin typeface="Segoe UI"/>
              </a:rPr>
              <a:t>64.74%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8585" y="4425696"/>
            <a:ext cx="2094524" cy="85953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4889" y="4553712"/>
            <a:ext cx="183849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900" b="1">
                <a:solidFill>
                  <a:srgbClr val="F5A623"/>
                </a:solidFill>
                <a:latin typeface="Segoe UI"/>
              </a:rPr>
              <a:t>56.95%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9413" y="4425696"/>
            <a:ext cx="2094524" cy="85953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35717" y="4553712"/>
            <a:ext cx="183849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900" b="1">
                <a:solidFill>
                  <a:srgbClr val="2FD8B4"/>
                </a:solidFill>
                <a:latin typeface="Segoe UI"/>
              </a:rPr>
              <a:t>60.60%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F1 SCORE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30242" y="4425696"/>
            <a:ext cx="2094524" cy="85953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76546" y="4553712"/>
            <a:ext cx="183849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900" b="1">
                <a:solidFill>
                  <a:srgbClr val="2FD8B4"/>
                </a:solidFill>
                <a:latin typeface="Segoe UI"/>
              </a:rPr>
              <a:t>84.91%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ROC-AUC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37667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Honest reading: the model catches 213 of 374 churners in the test set (56.95% recall) and is right 64.74% of the time when it raises a flag. For a retention team that is a usable work queue — and the missed half is the number one item in the future-work slide.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03  ·  RISK SEGMENTATION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Turning a probability into a work queue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Every scored customer lands in one of three operational bands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36192"/>
            <a:ext cx="3539642" cy="85953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45919"/>
            <a:ext cx="3137306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2FD8B4"/>
                </a:solidFill>
                <a:latin typeface="Consolas"/>
              </a:rPr>
              <a:t>&lt; 30%   LOW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4,435 customers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6026" y="1536192"/>
            <a:ext cx="3539642" cy="85953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7194" y="1645919"/>
            <a:ext cx="3137306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F5A623"/>
                </a:solidFill>
                <a:latin typeface="Consolas"/>
              </a:rPr>
              <a:t>30 – 60%   MEDIUM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1,473 customers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5124" y="1536192"/>
            <a:ext cx="3539642" cy="85953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6292" y="1645919"/>
            <a:ext cx="3137306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FF5C6C"/>
                </a:solidFill>
                <a:latin typeface="Consolas"/>
              </a:rPr>
              <a:t>≥ 60%   HIGH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1,135 customers</a:t>
            </a:r>
          </a:p>
        </p:txBody>
      </p:sp>
      <p:pic>
        <p:nvPicPr>
          <p:cNvPr id="13" name="Picture 12" descr="chart_risk_b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067" y="2487168"/>
            <a:ext cx="6188889" cy="312724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882127" y="2523744"/>
            <a:ext cx="3739896" cy="146304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8" y="2651760"/>
            <a:ext cx="3410712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VALIDATION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The bands track reality: actual churn is 9.5% in low risk, 42.0% in medium and 73.0% in high risk. The segmentation is not decoration — it orders the portfolio correctly.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4096511"/>
            <a:ext cx="3739896" cy="14996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5008" y="4224528"/>
            <a:ext cx="341071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FF5C6C"/>
                </a:solidFill>
                <a:latin typeface="Consolas"/>
              </a:rPr>
              <a:t>THE OPERATIONAL PAYOFF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Instead of calling 7,043 customers, the team starts with 1,135 (16.1% of the base) where 73% will actually leave — carrying $92,539 of recurring monthly charges.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03  ·  EXPLAINABILITY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Why the model flags a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profile of the high-risk band, and a per-customer explanation in the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high_risk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159" y="1536191"/>
            <a:ext cx="6839256" cy="352958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680960" y="1554480"/>
            <a:ext cx="3941063" cy="177393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1682495"/>
            <a:ext cx="36118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PER-CUSTOMER EXPLANATION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For each prediction the console shows the top drivers, computed as coefficient × customer value — the honest linear explanation for a logistic model, with human labels like "Fiber optic internet service" or "Account tenure".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3438144"/>
            <a:ext cx="3941063" cy="16459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3566160"/>
            <a:ext cx="3575303" cy="1408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ON SHAP — INTELLECTUALLY HONEST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SHAP was explored during the project (summary, bar, dependence and waterfall plots are in the repository). Production explanation is aligned to the deployed Logistic Regression model instead — accurate for a linear model, and it costs nothing at request 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03  ·  RETENTION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From risk to action — and to money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2,608 at-risk customers (high + medium) each received a specific recommendation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029" y="1554479"/>
            <a:ext cx="6316036" cy="28346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269480" y="1536192"/>
            <a:ext cx="4352544" cy="28712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2360" y="1664207"/>
            <a:ext cx="402336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RECOMMENDATIONS ISSUED (FULL PORTFOLIO)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Promote Long-Term Contract            792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5% Discount Offer                            663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Offer 15% Discount                          658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Welcome Retention Package          430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Free Online Security                       45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Switch to Autopay / Check-in          18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Free Premium Support                      2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Rules are driven by the customer's own risk factors — a month-to-month customer with no security gets a different offer than a loyal high-value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35424"/>
            <a:ext cx="6492240" cy="111556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663440"/>
            <a:ext cx="612647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SPEAK PRECISELY ABOUT THIS NUMBER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RetainIQ reports monthly revenue at risk — the recurring charges sitting in flagged customers. $92,539/month in high risk, $200,302 including medium. It is exposure, not money already saved.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4535424"/>
            <a:ext cx="4352544" cy="111556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4663440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DECISION FRAMEWORK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EAF0F7"/>
                </a:solidFill>
                <a:latin typeface="Segoe UI"/>
              </a:rPr>
              <a:t>Data → insight → prediction → explanation → action → business value. The platform deliberately does not stop at step three.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04  · 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product: a Signal Ops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Flask application, deployed and publicly reachable — not a notebook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0191" y="1499616"/>
            <a:ext cx="4791313" cy="2084831"/>
          </a:xfrm>
          <a:prstGeom prst="rect">
            <a:avLst/>
          </a:prstGeom>
        </p:spPr>
      </p:pic>
      <p:pic>
        <p:nvPicPr>
          <p:cNvPr id="8" name="Picture 7" descr="01.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732" y="3675887"/>
            <a:ext cx="3282919" cy="2103120"/>
          </a:xfrm>
          <a:prstGeom prst="rect">
            <a:avLst/>
          </a:prstGeom>
        </p:spPr>
      </p:pic>
      <p:pic>
        <p:nvPicPr>
          <p:cNvPr id="9" name="Picture 8" descr="04.Bulk_predic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8126" y="3675887"/>
            <a:ext cx="3699202" cy="21031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125711" y="3675887"/>
            <a:ext cx="2496312" cy="21031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90303" y="3803903"/>
            <a:ext cx="2167128" cy="1847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WHAT A USER DOES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EAF0F7"/>
                </a:solidFill>
                <a:latin typeface="Segoe UI"/>
              </a:rPr>
              <a:t>1  Upload a customer CSV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EAF0F7"/>
                </a:solidFill>
                <a:latin typeface="Segoe UI"/>
              </a:rPr>
              <a:t>2  Validate the file first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EAF0F7"/>
                </a:solidFill>
                <a:latin typeface="Segoe UI"/>
              </a:rPr>
              <a:t>3  Score the portfolio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EAF0F7"/>
                </a:solidFill>
                <a:latin typeface="Segoe UI"/>
              </a:rPr>
              <a:t>4  Read KPIs, drill into a customer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950" b="0">
                <a:solidFill>
                  <a:srgbClr val="EAF0F7"/>
                </a:solidFill>
                <a:latin typeface="Segoe UI"/>
              </a:rPr>
              <a:t>5  Download the report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19" b="0">
                <a:solidFill>
                  <a:srgbClr val="8CA0BE"/>
                </a:solidFill>
                <a:latin typeface="Segoe UI"/>
              </a:rPr>
              <a:t>Reports are private per visitor — a cookie-scoped run, not a shared folder.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04  ·  ENGINEERING &amp;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Engineering beyond the notebook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Business intelligence, an API, automated tests and a tuned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54480"/>
            <a:ext cx="5400903" cy="142646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682495"/>
            <a:ext cx="32004" cy="1170432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700784"/>
            <a:ext cx="4980279" cy="1152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>
                <a:solidFill>
                  <a:srgbClr val="2FD8B4"/>
                </a:solidFill>
                <a:latin typeface="Segoe UI"/>
              </a:rPr>
              <a:t>Power BI layer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A four-page dashboard — executive overview, customer insights, risk intelligence, retention strategy — built on the exported scoring dataset. The ML app is predictive; Power BI is descriptive and diagnostic.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3863" y="1554480"/>
            <a:ext cx="5400903" cy="142646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23863" y="1682495"/>
            <a:ext cx="32004" cy="1170432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5031" y="1700784"/>
            <a:ext cx="4980279" cy="1152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>
                <a:solidFill>
                  <a:srgbClr val="4C8DFF"/>
                </a:solidFill>
                <a:latin typeface="Segoe UI"/>
              </a:rPr>
              <a:t>Prediction API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The Flask app exposes /api/health and /api/predict, and a FastAPI wrapper serves the same engine with Pydantic-validated payloads for programmatic use.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27248"/>
            <a:ext cx="5400903" cy="142646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255264"/>
            <a:ext cx="32004" cy="117043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273552"/>
            <a:ext cx="4980279" cy="1152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Automated tests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Nine unit tests cover encoding, model loading, scoring, risk classification, recommendation generation, CSV validation and report privacy.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3863" y="3127248"/>
            <a:ext cx="5400903" cy="142646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3863" y="3255264"/>
            <a:ext cx="32004" cy="1170432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5031" y="3273552"/>
            <a:ext cx="4980279" cy="1152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>
                <a:solidFill>
                  <a:srgbClr val="FF5C6C"/>
                </a:solidFill>
                <a:latin typeface="Segoe UI"/>
              </a:rPr>
              <a:t>Production deployment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Gunicorn with a gthread worker, 300-second timeout, preload and periodic worker recycling for small cloud instances; Docker and Procfile provided; hosted on Render.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9872" y="1554480"/>
            <a:ext cx="3502152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age1_executive_overview.p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1099" y="1636776"/>
            <a:ext cx="3159697" cy="175564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8119872" y="3639311"/>
            <a:ext cx="3502152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age3_risk_intelligence.p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0864" y="3721607"/>
            <a:ext cx="3160166" cy="1755648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566928" y="4736592"/>
            <a:ext cx="7863840" cy="969264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4846320"/>
            <a:ext cx="7461504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30" b="1">
                <a:solidFill>
                  <a:srgbClr val="2FD8B4"/>
                </a:solidFill>
                <a:latin typeface="Consolas"/>
              </a:rPr>
              <a:t>REPRODUCIBLE BY CONSTRUCTION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Every chart in this deck is generated from the repository's own artifacts — the raw dataset, the saved models, the held-out split and the production scoring pipeline. Re-run one script and the figures reproduce, including the metrics table.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04  · 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Results, honest limits, and what comes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60704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225295"/>
            <a:ext cx="3527450" cy="37033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353311"/>
            <a:ext cx="3125114" cy="342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2FD8B4"/>
                </a:solidFill>
                <a:latin typeface="Consolas"/>
              </a:rPr>
              <a:t>WHAT WAS DELIVERED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End-to-end ML pipeline on 7,043 customers, 30 engineered features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Four algorithms benchmarked; Logistic Regression selected on F1 and ROC-AUC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80.34% accuracy, 60.60% F1, 84.91% ROC-AUC on held-out data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Risk bands validated against real outcomes (9.5% → 42.0% → 73.0%)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Live Flask console, dashboard, private reports, Power BI layer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2122" y="1225295"/>
            <a:ext cx="3527450" cy="37033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33290" y="1353311"/>
            <a:ext cx="3125114" cy="342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LIMITATIONS — STATED PLAINLY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Trained on historical data from one telecom; behaviour may not transfer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56.95% recall — roughly two in five churners are still missed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No live behavioural feed, no drift monitoring, no automatic retraining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Probabilities are not guarantees; recommendations are decision support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Revenue figures are exposure, not realised savings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1225295"/>
            <a:ext cx="3527450" cy="37033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98484" y="1353311"/>
            <a:ext cx="3125114" cy="342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4C8DFF"/>
                </a:solidFill>
                <a:latin typeface="Consolas"/>
              </a:rPr>
              <a:t>WHAT COMES NEXT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Threshold tuning and probability calibration to lift recall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Cost-sensitive learning — a missed churner costs more than a wasted offer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Drift detection and scheduled retraining (MLOps loop)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Counterfactual / what-if explanations for retention agents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CRM integration and A/B testing of retention offers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084064"/>
            <a:ext cx="11057839" cy="713232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5193792"/>
            <a:ext cx="10618927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The contribution: churn prediction reframed from a classification score into a retention intelligence workflow — and shipped as a working product. Thank you — questions welcome.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8CA0BE"/>
                </a:solidFill>
                <a:latin typeface="Consolas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Full benchmark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Held-out test set, 1,409 customers — every metric recorded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9344"/>
            <a:ext cx="3977639" cy="45720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728216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19" b="1">
                <a:solidFill>
                  <a:srgbClr val="8CA0BE"/>
                </a:solidFill>
                <a:latin typeface="Consolas"/>
              </a:rPr>
              <a:t>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44568" y="1609344"/>
            <a:ext cx="1426464" cy="45720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2583" y="1728216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19" b="1">
                <a:solidFill>
                  <a:srgbClr val="8CA0BE"/>
                </a:solidFill>
                <a:latin typeface="Consolas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71031" y="1609344"/>
            <a:ext cx="1426464" cy="45720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9047" y="1728216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19" b="1">
                <a:solidFill>
                  <a:srgbClr val="8CA0BE"/>
                </a:solidFill>
                <a:latin typeface="Consolas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97496" y="1609344"/>
            <a:ext cx="1298448" cy="45720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1728216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19" b="1">
                <a:solidFill>
                  <a:srgbClr val="8CA0BE"/>
                </a:solidFill>
                <a:latin typeface="Consolas"/>
              </a:rPr>
              <a:t>Recall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95944" y="1609344"/>
            <a:ext cx="1298448" cy="45720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728216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19" b="1">
                <a:solidFill>
                  <a:srgbClr val="8CA0BE"/>
                </a:solidFill>
                <a:latin typeface="Consolas"/>
              </a:rPr>
              <a:t>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94392" y="1609344"/>
            <a:ext cx="1636776" cy="45720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22408" y="1728216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19" b="1">
                <a:solidFill>
                  <a:srgbClr val="8CA0BE"/>
                </a:solidFill>
                <a:latin typeface="Consolas"/>
              </a:rPr>
              <a:t>ROC-AUC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157984"/>
            <a:ext cx="3977639" cy="49377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2276856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EAF0F7"/>
                </a:solidFill>
                <a:latin typeface="Segoe UI"/>
              </a:rPr>
              <a:t>Logistic Regression  ← selected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44568" y="2157984"/>
            <a:ext cx="1426464" cy="49377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72583" y="2276856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2FD8B4"/>
                </a:solidFill>
                <a:latin typeface="Consolas"/>
              </a:rPr>
              <a:t>80.34%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71031" y="2157984"/>
            <a:ext cx="1426464" cy="49377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9047" y="2276856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2FD8B4"/>
                </a:solidFill>
                <a:latin typeface="Consolas"/>
              </a:rPr>
              <a:t>64.74%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97496" y="2157984"/>
            <a:ext cx="1298448" cy="49377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25512" y="2276856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2FD8B4"/>
                </a:solidFill>
                <a:latin typeface="Consolas"/>
              </a:rPr>
              <a:t>56.95%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95944" y="2157984"/>
            <a:ext cx="1298448" cy="49377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23960" y="2276856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2FD8B4"/>
                </a:solidFill>
                <a:latin typeface="Consolas"/>
              </a:rPr>
              <a:t>60.60%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4392" y="2157984"/>
            <a:ext cx="1636776" cy="49377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22408" y="2276856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2FD8B4"/>
                </a:solidFill>
                <a:latin typeface="Consolas"/>
              </a:rPr>
              <a:t>84.91%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2706624"/>
            <a:ext cx="3977639" cy="49377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" y="2825496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LightGBM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44568" y="2706624"/>
            <a:ext cx="1426464" cy="49377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72583" y="2825496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Consolas"/>
              </a:rPr>
              <a:t>80.06%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71031" y="2706624"/>
            <a:ext cx="1426464" cy="49377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9047" y="2825496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Consolas"/>
              </a:rPr>
              <a:t>64.49%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7496" y="2706624"/>
            <a:ext cx="1298448" cy="49377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25512" y="2825496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Consolas"/>
              </a:rPr>
              <a:t>55.35%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95944" y="2706624"/>
            <a:ext cx="1298448" cy="49377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23960" y="2825496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Consolas"/>
              </a:rPr>
              <a:t>59.57%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94392" y="2706624"/>
            <a:ext cx="1636776" cy="49377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22408" y="2825496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Consolas"/>
              </a:rPr>
              <a:t>84.71%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3255264"/>
            <a:ext cx="3977639" cy="49377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4944" y="3374136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XGBoost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44568" y="3255264"/>
            <a:ext cx="1426464" cy="49377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72583" y="3374136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Consolas"/>
              </a:rPr>
              <a:t>79.06%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71031" y="3255264"/>
            <a:ext cx="1426464" cy="49377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99047" y="3374136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Consolas"/>
              </a:rPr>
              <a:t>61.72%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97496" y="3255264"/>
            <a:ext cx="1298448" cy="49377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25512" y="3374136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Consolas"/>
              </a:rPr>
              <a:t>55.61%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695944" y="3255264"/>
            <a:ext cx="1298448" cy="49377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23960" y="3374136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Consolas"/>
              </a:rPr>
              <a:t>58.51%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94392" y="3255264"/>
            <a:ext cx="1636776" cy="49377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122408" y="3374136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Consolas"/>
              </a:rPr>
              <a:t>83.34%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3803904"/>
            <a:ext cx="3977639" cy="49377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4944" y="3922776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Random Forest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44568" y="3803904"/>
            <a:ext cx="1426464" cy="49377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72583" y="3922776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Consolas"/>
              </a:rPr>
              <a:t>78.99%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971031" y="3803904"/>
            <a:ext cx="1426464" cy="49377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99047" y="3922776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Consolas"/>
              </a:rPr>
              <a:t>62.34%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397496" y="3803904"/>
            <a:ext cx="1298448" cy="49377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525512" y="3922776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Consolas"/>
              </a:rPr>
              <a:t>52.67%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695944" y="3803904"/>
            <a:ext cx="1298448" cy="49377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823960" y="3922776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Consolas"/>
              </a:rPr>
              <a:t>57.10%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94392" y="3803904"/>
            <a:ext cx="1636776" cy="49377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22408" y="3922776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Consolas"/>
              </a:rPr>
              <a:t>83.48%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" y="4553712"/>
            <a:ext cx="1105783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0">
                <a:solidFill>
                  <a:srgbClr val="8CA0BE"/>
                </a:solidFill>
                <a:latin typeface="Segoe UI"/>
              </a:rPr>
              <a:t>All four models were trained on the identical 5,634-row training split with the identical 30-feature frame, and evaluated with the same scoring code — the only variable is the algorithm.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2FD8B4"/>
                </a:solidFill>
                <a:latin typeface="Consolas"/>
              </a:rPr>
              <a:t>Reproduce: python presentation/build_assets.py  →  writes presentation/assets/model_metrics.csv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6928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Appendix · use only if asked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8CA0BE"/>
                </a:solidFill>
                <a:latin typeface="Consolas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prediction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The same model and preprocessing exposed programmatically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5486400" cy="30175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700784"/>
            <a:ext cx="5084064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1">
                <a:solidFill>
                  <a:srgbClr val="2FD8B4"/>
                </a:solidFill>
                <a:latin typeface="Consolas"/>
              </a:rPr>
              <a:t>POST /api/predict</a:t>
            </a:r>
          </a:p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00" b="0">
                <a:solidFill>
                  <a:srgbClr val="EAF0F7"/>
                </a:solidFill>
                <a:latin typeface="Consolas"/>
              </a:rPr>
              <a:t>{ "gender": "Male", "SeniorCitizen": 1,</a:t>
            </a:r>
          </a:p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00" b="0">
                <a:solidFill>
                  <a:srgbClr val="EAF0F7"/>
                </a:solidFill>
                <a:latin typeface="Consolas"/>
              </a:rPr>
              <a:t>  "Partner": "Yes", "Dependents": "No",</a:t>
            </a:r>
          </a:p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00" b="0">
                <a:solidFill>
                  <a:srgbClr val="EAF0F7"/>
                </a:solidFill>
                <a:latin typeface="Consolas"/>
              </a:rPr>
              <a:t>  "tenure": 8, "InternetService": "Fiber optic",</a:t>
            </a:r>
          </a:p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00" b="0">
                <a:solidFill>
                  <a:srgbClr val="EAF0F7"/>
                </a:solidFill>
                <a:latin typeface="Consolas"/>
              </a:rPr>
              <a:t>  "OnlineSecurity": "No", "TechSupport": "No",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000" b="0">
                <a:solidFill>
                  <a:srgbClr val="EAF0F7"/>
                </a:solidFill>
                <a:latin typeface="Consolas"/>
              </a:rPr>
              <a:t>  "Contract": "Month-to-month", ... }</a:t>
            </a:r>
          </a:p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19" b="0">
                <a:solidFill>
                  <a:srgbClr val="2FD8B4"/>
                </a:solidFill>
                <a:latin typeface="Consolas"/>
              </a:rPr>
              <a:t>→  probability · prediction · risk_level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19" b="0">
                <a:solidFill>
                  <a:srgbClr val="2FD8B4"/>
                </a:solidFill>
                <a:latin typeface="Consolas"/>
              </a:rPr>
              <a:t>→  top_drivers · primary_action · recommendations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572768"/>
            <a:ext cx="5385816" cy="30175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700784"/>
            <a:ext cx="498348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2FD8B4"/>
                </a:solidFill>
                <a:latin typeface="Consolas"/>
              </a:rPr>
              <a:t>TWO INTERFACES, ONE ENGINE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The Flask application is the product; the FastAPI wrapper exists so the same scoring functions can be called from any client.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Both call utils/prediction.py and src/preprocessing.py — there is no second implementation to keep in sync.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Pydantic schemas validate every field, so a malformed customer record returns a clear 400 instead of a stack trace.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Appendix · use only if asked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8CA0BE"/>
                </a:solidFill>
                <a:latin typeface="Consolas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How these figures were produced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So the deck can be audited against the repository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9344"/>
            <a:ext cx="4663440" cy="4754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230368" y="1609344"/>
            <a:ext cx="6419088" cy="4754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3736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60" b="1">
                <a:solidFill>
                  <a:srgbClr val="8CA0BE"/>
                </a:solidFill>
                <a:latin typeface="Segoe UI"/>
              </a:rPr>
              <a:t>Chart / figure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76672" y="173736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8CA0BE"/>
                </a:solidFill>
                <a:latin typeface="Segoe UI"/>
              </a:rPr>
              <a:t>Source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139696"/>
            <a:ext cx="4663440" cy="47548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30368" y="2139696"/>
            <a:ext cx="6419088" cy="47548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2677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Churn split, contract, internet, tenure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76672" y="22677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2FD8B4"/>
                </a:solidFill>
                <a:latin typeface="Consolas"/>
              </a:rPr>
              <a:t>Data/01.Telco_customer_churn_Dataset.csv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670048"/>
            <a:ext cx="4663440" cy="47548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230368" y="2670048"/>
            <a:ext cx="6419088" cy="47548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7980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Model benchmark, confusion matrix, ROC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76672" y="279806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2FD8B4"/>
                </a:solidFill>
                <a:latin typeface="Consolas"/>
              </a:rPr>
              <a:t>models/*.pkl scored on Data/processed_data/test/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200400"/>
            <a:ext cx="4663440" cy="47548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230368" y="3200400"/>
            <a:ext cx="6419088" cy="47548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32841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Risk bands, high-risk profile, revenue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76672" y="3328416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2FD8B4"/>
                </a:solidFill>
                <a:latin typeface="Consolas"/>
              </a:rPr>
              <a:t>Production pipeline — run_bulk_prediction_from_bytes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3730752"/>
            <a:ext cx="4663440" cy="47548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230368" y="3730752"/>
            <a:ext cx="6419088" cy="47548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385876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Console screenshots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76672" y="3858768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2FD8B4"/>
                </a:solidFill>
                <a:latin typeface="Consolas"/>
              </a:rPr>
              <a:t>templates/images/ (captured from the live app)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4261104"/>
            <a:ext cx="4663440" cy="47548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230368" y="4261104"/>
            <a:ext cx="6419088" cy="47548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438912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Power BI pages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76672" y="438912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2FD8B4"/>
                </a:solidFill>
                <a:latin typeface="Consolas"/>
              </a:rPr>
              <a:t>Power_BI_dashboard/Screenshots/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4919472"/>
            <a:ext cx="1105783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047488"/>
            <a:ext cx="10692079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THE POINT OF THIS SLIDE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Nothing here is hand-typed. presentation/build_assets.py recomputes every figure from the saved artifacts and the production scoring path, so the deck cannot drift away from the project — if a model is retrained, the charts and the benchmark table regenerate together.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Appendix · use only if asked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