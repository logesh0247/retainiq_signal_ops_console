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(1:55–2:30) Make clear this is a comparison between two layers in this project,</a:t>
            </a:r>
          </a:p>
          <a:p>
            <a:r>
              <a:t>not a claim that RetainIQ replaces an external product. Power BI is useful for</a:t>
            </a:r>
          </a:p>
          <a:p>
            <a:r>
              <a:t>portfolio and segment monitoring: where is churn concentrated? The Signal Ops</a:t>
            </a:r>
          </a:p>
          <a:p>
            <a:r>
              <a:t>Console adds a different capability: upload customers, score each row with the</a:t>
            </a:r>
          </a:p>
          <a:p>
            <a:r>
              <a:t>deployed Logistic Regression, assign a risk tier, show coefficient-based drivers</a:t>
            </a:r>
          </a:p>
          <a:p>
            <a:r>
              <a:t>and a rule-based suggestion, then export the work for review.</a:t>
            </a:r>
          </a:p>
          <a:p/>
          <a:p>
            <a:r>
              <a:t>The two layers are complementary. Close with the caveat: recommendations are</a:t>
            </a:r>
          </a:p>
          <a:p>
            <a:r>
              <a:t>decision support; no campaign uplift has been measured, and revenue is framed as</a:t>
            </a:r>
          </a:p>
          <a:p>
            <a:r>
              <a:t>at risk rather than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(2:30–3:10)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(3:10–3:55)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(3:55–4:40)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(4:40–5:10)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(5:10–5:40)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(5:40–6:30)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(6:30–7:00)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(7:00–7:40)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(8:50–9:25)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(9:25–9:50)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(9:50–10:20)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(10:20–10:45)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(10:45–11:10)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(11:10–11:40)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9488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PROJECT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RetainIQ adds to the existing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Power BI gives a portfolio view; the Signal Ops Console adds customer-level scoring and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17904"/>
            <a:ext cx="41148" cy="3429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4C8DFF"/>
                </a:solidFill>
                <a:latin typeface="Consolas"/>
              </a:rPr>
              <a:t>EXISTING · POWER BI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Portfolio reporting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Aggregates historical churn and portfolio KPIs.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Compares patterns across contract, tenure and service.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Answers: where is churn concentrated?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6431" y="1517904"/>
            <a:ext cx="41148" cy="342900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2FD8B4"/>
                </a:solidFill>
                <a:latin typeface="Consolas"/>
              </a:rPr>
              <a:t>NEW · RETAINIQ SIGNAL OPS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Customer-level decision support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Scores uploaded rows with the deployed Logistic Regression.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Returns churn probability and a Low / Medium / High risk tier.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Shows coefficient-based drivers and rule-based suggestions.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Supports bulk review and private report downloads.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093208"/>
            <a:ext cx="11057839" cy="7315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184648"/>
            <a:ext cx="1065550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40" b="1">
                <a:solidFill>
                  <a:srgbClr val="EAF0F7"/>
                </a:solidFill>
                <a:latin typeface="Segoe UI"/>
              </a:rPr>
              <a:t>POWER BI monitors the portfolio. RETAINIQ prioritises new customer uploads for review.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20" b="0">
                <a:solidFill>
                  <a:srgbClr val="2FD8B4"/>
                </a:solidFill>
                <a:latin typeface="Segoe UI"/>
              </a:rPr>
              <a:t>Complementary layers: reporting → risk priority → driver → suggested next step.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89788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30" b="0">
                <a:solidFill>
                  <a:srgbClr val="8CA0BE"/>
                </a:solidFill>
                <a:latin typeface="Segoe UI"/>
              </a:rPr>
              <a:t>Decision support only: campaign uplift has not been measured; revenue figures are exposure, not confirmed savings.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19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Slow bulk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large CSV can outlast the default 30-second timeout, killing the worker and returning a 502.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19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648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TIMEOUT 300S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9311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MODEL LOAD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9119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3711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Reloading on every request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3711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Reading the model pickle for every request wastes scarce instance memory.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711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3439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GUNICORN PRELOAD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584448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MEMORY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1328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19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Long-lived workers grow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19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worker can accumulate memory over time until the host kills the process.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45919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55648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REQUEST RECYCLING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4719" y="3584448"/>
            <a:ext cx="41148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9311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5A623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COLD START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9119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3711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The free tier sleeps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93711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After idle time, the host suspends the app and the first visitor waits for a cold start.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93711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3439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F5A623"/>
                </a:solidFill>
                <a:latin typeface="Consolas"/>
              </a:rPr>
              <a:t>→  WARM BEFORE DEMO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5678423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4C8DFF"/>
                </a:solidFill>
                <a:latin typeface="Consolas"/>
              </a:rPr>
              <a:t>DEPLOYMENT
STACK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0" y="5650992"/>
            <a:ext cx="15544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59152" y="5692140"/>
            <a:ext cx="14081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GUNICORN · GTHREAD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31920" y="5650992"/>
            <a:ext cx="118872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05072" y="5692140"/>
            <a:ext cx="10424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TIMEOUT 300S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12080" y="5650992"/>
            <a:ext cx="157276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85232" y="5692140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PRELOAD + RECYCLE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76288" y="5650992"/>
            <a:ext cx="175564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49440" y="5692140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DOCKERFILE · PROCFILE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23376" y="5650992"/>
            <a:ext cx="17830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6528" y="5692140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PINNED REQS · RENDER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