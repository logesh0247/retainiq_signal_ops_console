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(1:55–2:20) Keep the two roles distinct. Power BI summarises historical churn,</a:t>
            </a:r>
          </a:p>
          <a:p>
            <a:r>
              <a:t>KPIs and segment patterns across the portfolio. RetainIQ scores uploaded customer</a:t>
            </a:r>
          </a:p>
          <a:p>
            <a:r>
              <a:t>rows with the deployed Logistic Regression, then returns probabilities, risk tiers,</a:t>
            </a:r>
          </a:p>
          <a:p>
            <a:r>
              <a:t>coefficient-based drivers and rule-based suggestions that can be reviewed in bulk.</a:t>
            </a:r>
          </a:p>
          <a:p>
            <a:r>
              <a:t>The layers complement one another. Campaign uplift has not been measured, and the</a:t>
            </a:r>
          </a:p>
          <a:p>
            <a:r>
              <a:t>revenue numbers are exposure, not confirmed savings. Now move from project context</a:t>
            </a:r>
          </a:p>
          <a:p>
            <a:r>
              <a:t>to the data that feeds the scoring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(2:20–3:00)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(3:00–3:45)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(3:45–4:30)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(4:30–5:00)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(5:00–5:30)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(5:30–6:20)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(6:20–6:50)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(6:50–7:30)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(7:30–8:05)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(8:05–8:40)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(8:40–9:15)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(9:40–10:10)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(11:00–11:30)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/ LINKS (11:30–11:45) Use this slide to hand off from the review to the</a:t>
            </a:r>
          </a:p>
          <a:p>
            <a:r>
              <a:t>working product. The live URL is clickable and also available as a QR code; the</a:t>
            </a:r>
          </a:p>
          <a:p>
            <a:r>
              <a:t>source repository has its own QR and link. The same scoring path powers the model,</a:t>
            </a:r>
          </a:p>
          <a:p>
            <a:r>
              <a:t>risk bands, coefficient explanations and recommendations shown throughout the deck.</a:t>
            </a:r>
          </a:p>
          <a:p>
            <a:r>
              <a:t>Offer the demo: "if you'd like, I can upload a customer file and score it live."</a:t>
            </a:r>
          </a:p>
          <a:p>
            <a:r>
              <a:t>The host is a free tier, so warm it before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(11:45–11:55) End on this dedicated final slide. "Thank you for your</a:t>
            </a:r>
          </a:p>
          <a:p>
            <a:r>
              <a:t>time — happy to take questions." Keep the contribution precise: the project turns</a:t>
            </a:r>
          </a:p>
          <a:p>
            <a:r>
              <a:t>a churn probability into a prioritised, explained and costed retention action.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 is exposure, not savings; validating it</a:t>
            </a:r>
          </a:p>
          <a:p>
            <a:r>
              <a:t> 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COMPLEMENTARY ANALYTICS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Portfolio-level understanding and customer-level scoring work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281635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6431" y="1517904"/>
            <a:ext cx="5428335" cy="281635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00784"/>
            <a:ext cx="50259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POWER BI · PORTFOLIO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029967"/>
            <a:ext cx="50259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Historical and aggregate 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42032"/>
            <a:ext cx="502599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Portfolio-level historical churn and KPIs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Segment patterns across contract, tenure, and services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Describes what happened and where churn concentrates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7599" y="1700784"/>
            <a:ext cx="50259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RETAINIQ · CUSTOMER-LEVEL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7599" y="2029967"/>
            <a:ext cx="50259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Scoring that supports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2542032"/>
            <a:ext cx="502599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Scores uploaded customer rows with the deployed Logistic Regression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Returns churn probabilities and risk tiers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Shows coefficient-based drivers with rule-based suggestions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Supports bulk review and export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17136"/>
            <a:ext cx="11057839" cy="157276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663440"/>
            <a:ext cx="10655503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COMPLEMENTARY, NOT A REPLACEMENT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Power BI describes portfolio patterns; RetainIQ adds individual customer scoring and operational next steps.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Campaign uplift has not been measured. Revenue is exposure at risk, not confirmed savings.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LIVE DEMO &amp; PROJECT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>
                <a:solidFill>
                  <a:srgbClr val="2FD8B4"/>
                </a:solidFill>
                <a:latin typeface="Consolas"/>
              </a:rPr>
              <a:t>PROJECT TAKEAWAY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700" b="1">
                <a:solidFill>
                  <a:srgbClr val="EAF0F7"/>
                </a:solidFill>
                <a:latin typeface="Segoe UI"/>
              </a:rPr>
              <a:t>Probability → action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From churn risk to a prioritised, explained and costed retention response.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17904"/>
            <a:ext cx="11057839" cy="455371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17904"/>
            <a:ext cx="11057839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73936"/>
            <a:ext cx="10143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RETAINIQ · SIGNAL OPS CONSOLE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50992" y="2772460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43016" y="2618841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2465222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2311603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9088" y="2157984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017520"/>
            <a:ext cx="10143439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EAF0F7"/>
                </a:solidFill>
                <a:latin typeface="Segoe UI"/>
              </a:rP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886200"/>
            <a:ext cx="101434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FD8B4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4370832"/>
            <a:ext cx="3447288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4572000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400" b="0">
                <a:solidFill>
                  <a:srgbClr val="8CA0BE"/>
                </a:solidFill>
                <a:latin typeface="Segoe UI"/>
              </a:rPr>
              <a:t>From churn probability to a prioritised, explained and costed retention 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248656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4C8DFF"/>
                </a:solidFill>
                <a:latin typeface="Consolas"/>
              </a:rPr>
              <a:t>LOGESH S.  ·  B.SC.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5559552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Consolas"/>
              </a:rPr>
              <a:t>80.34% ACCURACY  ·  84.91% ROC-AUC  ·  7,043 CUSTOMERS SCORED  ·  $92,539 HIGH-RISK MONTHLY EXPOSURE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