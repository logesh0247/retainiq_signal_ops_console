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(0:00–0:35). "Good morning. A telecom knows it lost a quarter of its</a:t>
            </a:r>
          </a:p>
          <a:p>
            <a:r>
              <a:t>customers last year. What it cannot tell you is who leaves next month, why, or</a:t>
            </a:r>
          </a:p>
          <a:p>
            <a:r>
              <a:t>what to do about it. That gap is the whole project.</a:t>
            </a:r>
          </a:p>
          <a:p/>
          <a:p>
            <a:r>
              <a:t>RetainIQ reads a customer's weakening signal — from raw records, to a predicted</a:t>
            </a:r>
          </a:p>
          <a:p>
            <a:r>
              <a:t>probability, to an explained reason, to a recommended action, and finally to the</a:t>
            </a:r>
          </a:p>
          <a:p>
            <a:r>
              <a:t>revenue that action protects. 80.34% accuracy, 84.91% ROC-AUC, 7,043 customers</a:t>
            </a:r>
          </a:p>
          <a:p>
            <a:r>
              <a:t>scored, and $92,539 a month of recurring revenue sitting in the high-risk band."</a:t>
            </a:r>
          </a:p>
          <a:p/>
          <a:p>
            <a:r>
              <a:t>Then move — do not read the tiles.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(0:35–1:05) "Everything I show you maps to one of these fourteen boxes, and the</a:t>
            </a:r>
          </a:p>
          <a:p>
            <a:r>
              <a:t>boxes group into three acts."</a:t>
            </a:r>
          </a:p>
          <a:p>
            <a:r>
              <a:t>Point along the arcs: "Act one, the signal fades — the problem and the data. Act</a:t>
            </a:r>
          </a:p>
          <a:p>
            <a:r>
              <a:t>two, reading the signal — the model work. Act three — what it's worth and the</a:t>
            </a:r>
          </a:p>
          <a:p>
            <a:r>
              <a:t>product."</a:t>
            </a:r>
          </a:p>
          <a:p>
            <a:r>
              <a:t>Promise the structure and then keep it. Do not narrate every box.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(1:05–1:55) Frame the pain, then the four questions — they structure the entire</a:t>
            </a:r>
          </a:p>
          <a:p>
            <a:r>
              <a:t>solution. Finish on the donut: "Notice the trap. If I predict nobody churns I'm</a:t>
            </a:r>
          </a:p>
          <a:p>
            <a:r>
              <a:t>73.46% accurate and completely useless. That single number is why no model in</a:t>
            </a:r>
          </a:p>
          <a:p>
            <a:r>
              <a:t>this deck is chosen on accuracy."</a:t>
            </a:r>
          </a:p>
          <a:p>
            <a:r>
              <a:t>That line earns credibility early and sets up Phase 07.</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(1:55–2:35) Quick pass on the tiles. Spend the time on the right-hand callouts:</a:t>
            </a:r>
          </a:p>
          <a:p>
            <a:r>
              <a:t>"the split is stratified, so both halves carry exactly the same 26.54% churn rate</a:t>
            </a:r>
          </a:p>
          <a:p>
            <a:r>
              <a:t>— the model never sees a distorted class balance."</a:t>
            </a:r>
          </a:p>
          <a:p>
            <a:r>
              <a:t>And the parity point: "the 30-column contract is saved next to the model and</a:t>
            </a:r>
          </a:p>
          <a:p>
            <a:r>
              <a:t>tested, so the app cannot silently score on the wrong schema."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(2:35–3:20) Walk the four boxes quickly, then slow down on the leakage callout —</a:t>
            </a:r>
          </a:p>
          <a:p>
            <a:r>
              <a:t>reviewers consistently reward this. "Churn Score and Churn Reason are the</a:t>
            </a:r>
          </a:p>
          <a:p>
            <a:r>
              <a:t>dataset's most seductive columns and they're poison: they only exist after the</a:t>
            </a:r>
          </a:p>
          <a:p>
            <a:r>
              <a:t>customer has left. I dropped them. That is why 80% here is a real 80%."</a:t>
            </a:r>
          </a:p>
          <a:p>
            <a:r>
              <a:t>One sentence on encoding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(3:20–4:05) Three takeaways only, no bar-by-bar narration.</a:t>
            </a:r>
          </a:p>
          <a:p>
            <a:r>
              <a:t>"Month-to-month is a 15× risk multiplier."</a:t>
            </a:r>
          </a:p>
          <a:p>
            <a:r>
              <a:t>"Risk is front-loaded — year one is where retention money belongs."</a:t>
            </a:r>
          </a:p>
          <a:p>
            <a:r>
              <a:t>"And the story is service experience, not just price: fiber optic, no security,</a:t>
            </a:r>
          </a:p>
          <a:p>
            <a:r>
              <a:t>no support."</a:t>
            </a:r>
          </a:p>
          <a:p>
            <a:r>
              <a:t>Bridge out: "these are the patterns the model later recovered on its own — and</a:t>
            </a:r>
          </a:p>
          <a:p>
            <a:r>
              <a:t>what the recommendation engine acts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(4:05–4:35) Short slide, but it answers a question examiners like: "why did you</a:t>
            </a:r>
          </a:p>
          <a:p>
            <a:r>
              <a:t>encode it that way?"</a:t>
            </a:r>
          </a:p>
          <a:p>
            <a:r>
              <a:t>"Three continuous measures. Everything else is a yes/no flag — because numbering</a:t>
            </a:r>
          </a:p>
          <a:p>
            <a:r>
              <a:t>DSL as 1 and Fiber as 2 would invent an ordering that isn't real."</a:t>
            </a:r>
          </a:p>
          <a:p>
            <a:r>
              <a:t>Then the contract point: "the 30 column names are saved with the model and</a:t>
            </a:r>
          </a:p>
          <a:p>
            <a:r>
              <a:t>checked at scoring time, so a schema mismatch fails loudly instead of silently</a:t>
            </a:r>
          </a:p>
          <a:p>
            <a:r>
              <a:t>producing garbage."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(4:35–5:05) "Same features, same split, same code path — the only thing that</a:t>
            </a:r>
          </a:p>
          <a:p>
            <a:r>
              <a:t>changes is the algorithm."</a:t>
            </a:r>
          </a:p>
          <a:p>
            <a:r>
              <a:t>Then the key observation: Logistic Regression leads on F1 and ROC-AUC, with</a:t>
            </a:r>
          </a:p>
          <a:p>
            <a:r>
              <a:t>LightGBM a close second. Say why it matters: "churn here is largely linear in the</a:t>
            </a:r>
          </a:p>
          <a:p>
            <a:r>
              <a:t>encoded features, so the simplest model wins — and that also buys me</a:t>
            </a:r>
          </a:p>
          <a:p>
            <a:r>
              <a:t>explainability for free." That sets up Phase 09.</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(5:05–5:55) The credibility slide — slow down.</a:t>
            </a:r>
          </a:p>
          <a:p>
            <a:r>
              <a:t>"1,409 customers held back entirely. 919 stayed and were correctly left alone;</a:t>
            </a:r>
          </a:p>
          <a:p>
            <a:r>
              <a:t>116 were flagged unnecessarily; 161 churners were missed; 213 caught."</a:t>
            </a:r>
          </a:p>
          <a:p>
            <a:r>
              <a:t>Then the stability point, which most projects never show: "five-fold</a:t>
            </a:r>
          </a:p>
          <a:p>
            <a:r>
              <a:t>cross-validation gives 62.11% F1 with a 2.96 standard deviation, and my deployed</a:t>
            </a:r>
          </a:p>
          <a:p>
            <a:r>
              <a:t>result sits inside it. So this is a stable result, not a lucky split."</a:t>
            </a:r>
          </a:p>
          <a:p>
            <a:r>
              <a:t>Then own the weakness: "recall is 56.95% — that is the one number I would fix</a:t>
            </a:r>
          </a:p>
          <a:p>
            <a:r>
              <a:t>first, and I'll show you exactly how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(5:55–6:25) "Four algorithms, identical treatment. Look at how close they are —</a:t>
            </a:r>
          </a:p>
          <a:p>
            <a:r>
              <a:t>LightGBM is within 0.28 of a point on accuracy. If I had picked on accuracy I'd</a:t>
            </a:r>
          </a:p>
          <a:p>
            <a:r>
              <a:t>have picked a harder model to explain, for no real gain."</a:t>
            </a:r>
          </a:p>
          <a:p>
            <a:r>
              <a:t>Then state the rule: "I selected on F1 and ROC-AUC, because what matters</a:t>
            </a:r>
          </a:p>
          <a:p>
            <a:r>
              <a:t>operationally is ranking risk, not classifying the majority correctly."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(6:25–7:05) This is the strongest slide in the deck — give it time.</a:t>
            </a:r>
          </a:p>
          <a:p>
            <a:r>
              <a:t>"0.5 is a library default, not a business decision. So I measured the whole range."</a:t>
            </a:r>
          </a:p>
          <a:p>
            <a:r>
              <a:t>Point at the crossing: "at 0.35 I catch 71.7% of churners instead of 57% — and F1</a:t>
            </a:r>
          </a:p>
          <a:p>
            <a:r>
              <a:t>actually goes UP, not down."</a:t>
            </a:r>
          </a:p>
          <a:p>
            <a:r>
              <a:t>Then the diagnostic proof, which is the real insight: "I retrained with balanced</a:t>
            </a:r>
          </a:p>
          <a:p>
            <a:r>
              <a:t>class weights. Recall goes from 56.95 to 77.81, and ROC-AUC doesn't move —</a:t>
            </a:r>
          </a:p>
          <a:p>
            <a:r>
              <a:t>84.89 versus 84.90. The model was already ranking customers correctly. Only the</a:t>
            </a:r>
          </a:p>
          <a:p>
            <a:r>
              <a:t>cut-off was discarding them."</a:t>
            </a:r>
          </a:p>
          <a:p>
            <a:r>
              <a:t>Then be honest: "it stays at 0.5 in production today because moving it is a</a:t>
            </a:r>
          </a:p>
          <a:p>
            <a:r>
              <a:t>business decision about the cost of a wasted offer versus a lost customer — not</a:t>
            </a:r>
          </a:p>
          <a:p>
            <a:r>
              <a:t>something I should silently change."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(7:05–7:40) Left chart: "this is who the high-risk band is — every one of them is</a:t>
            </a:r>
          </a:p>
          <a:p>
            <a:r>
              <a:t>month-to-month, 91% are on fiber optic, 95% have no online security, and they</a:t>
            </a:r>
          </a:p>
          <a:p>
            <a:r>
              <a:t>average under ten months of tenure."</a:t>
            </a:r>
          </a:p>
          <a:p>
            <a:r>
              <a:t>Right: "and for a single customer the app names which of those factors pushed</a:t>
            </a:r>
          </a:p>
          <a:p>
            <a:r>
              <a:t>this particular score."</a:t>
            </a:r>
          </a:p>
          <a:p>
            <a:r>
              <a:t>If asked about SHAP: "I ran the SHAP analysis during experimentation; the</a:t>
            </a:r>
          </a:p>
          <a:p>
            <a:r>
              <a:t>deployed model is linear, so I explain it with coefficients — same information,</a:t>
            </a:r>
          </a:p>
          <a:p>
            <a:r>
              <a:t>no runtime cost." Do not overclaim 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(7:40–8:15) "A probability isn't something a retention agent can act on, so I cut</a:t>
            </a:r>
          </a:p>
          <a:p>
            <a:r>
              <a:t>it into three bands."</a:t>
            </a:r>
          </a:p>
          <a:p>
            <a:r>
              <a:t>Then the validation, which is the point of the slide: "I checked the bands against</a:t>
            </a:r>
          </a:p>
          <a:p>
            <a:r>
              <a:t>the real churn labels. Low risk actually churns 9.5%, medium 42%, high 73%. The</a:t>
            </a:r>
          </a:p>
          <a:p>
            <a:r>
              <a:t>band is a genuine ordering of risk, not a cosmetic split."</a:t>
            </a:r>
          </a:p>
          <a:p>
            <a:r>
              <a:t>Close operationally: "the team starts with 1,135 customers instead of 7,043."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(8:15–8:50) "Prediction alone doesn't retain anyone."</a:t>
            </a:r>
          </a:p>
          <a:p>
            <a:r>
              <a:t>Show the offer list — note the biggest group is a contract-upgrade nudge, which</a:t>
            </a:r>
          </a:p>
          <a:p>
            <a:r>
              <a:t>follows directly from the Phase 04 finding about month-to-month risk.</a:t>
            </a:r>
          </a:p>
          <a:p>
            <a:r>
              <a:t>Then be precise about money: "this is monthly revenue at risk — exposure, $92,539</a:t>
            </a:r>
          </a:p>
          <a:p>
            <a:r>
              <a:t>a month sitting in the high-risk band. I deliberately do not call it savings."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(8:50–9:15) "The machine learning app answers what is likely to happen. Power BI</a:t>
            </a:r>
          </a:p>
          <a:p>
            <a:r>
              <a:t>answers what already happened and why — and it's what a non-technical</a:t>
            </a:r>
          </a:p>
          <a:p>
            <a:r>
              <a:t>stakeholder actually opens."</a:t>
            </a:r>
          </a:p>
          <a:p>
            <a:r>
              <a:t>Four pages: executive overview, customer insights, risk intelligence, retention</a:t>
            </a:r>
          </a:p>
          <a:p>
            <a:r>
              <a:t>strategy. One sentence each, don't linger.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(9:15–9:45) This is the demo slide. If the live site is warm, switch to it for</a:t>
            </a:r>
          </a:p>
          <a:p>
            <a:r>
              <a:t>thirty seconds; otherwise walk the screenshots.</a:t>
            </a:r>
          </a:p>
          <a:p>
            <a:r>
              <a:t>"Upload a portfolio, validate it before scoring, then read churn rate, risk</a:t>
            </a:r>
          </a:p>
          <a:p>
            <a:r>
              <a:t>distribution and revenue at risk — and drill into any single customer."</a:t>
            </a:r>
          </a:p>
          <a:p>
            <a:r>
              <a:t>One engineering detail worth a sentence: "reports are scoped to the visitor with</a:t>
            </a:r>
          </a:p>
          <a:p>
            <a:r>
              <a:t>a signed cookie, so users never see each other's data — that has its own unit</a:t>
            </a:r>
          </a:p>
          <a:p>
            <a:r>
              <a:t>test."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(9:45–10:10) Don't list technology here — that's the next slide. This slide is</a:t>
            </a:r>
          </a:p>
          <a:p>
            <a:r>
              <a:t>about the production problems, which is what actually separates a notebook from</a:t>
            </a:r>
          </a:p>
          <a:p>
            <a:r>
              <a:t>a deployed service.</a:t>
            </a:r>
          </a:p>
          <a:p>
            <a:r>
              <a:t>"Four things broke or nearly broke when this left my laptop: slow scoring hitting</a:t>
            </a:r>
          </a:p>
          <a:p>
            <a:r>
              <a:t>the worker timeout, the model being reloaded per request, memory creeping until</a:t>
            </a:r>
          </a:p>
          <a:p>
            <a:r>
              <a:t>the platform killed the worker, and the free tier sleeping."</a:t>
            </a:r>
          </a:p>
          <a:p>
            <a:r>
              <a:t>Then the honest operational note: "which means if you scan the QR at the end, and</a:t>
            </a:r>
          </a:p>
          <a:p>
            <a:r>
              <a:t>the app has been idle, you'll wait about a minute for it to wake up. I'll warm it</a:t>
            </a:r>
          </a:p>
          <a:p>
            <a:r>
              <a:t>before we start."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(10:10–10:35) Do not read the columns. One sentence each.</a:t>
            </a:r>
          </a:p>
          <a:p>
            <a:r>
              <a:t>"Python and pandas for the data work. Scikit-learn, four algorithms, Logistic</a:t>
            </a:r>
          </a:p>
          <a:p>
            <a:r>
              <a:t>Regression deployed. Flask with a hand-built CSS design system for the product.</a:t>
            </a:r>
          </a:p>
          <a:p>
            <a:r>
              <a:t>FastAPI, Docker and Render around it. Power BI for the business layer."</a:t>
            </a:r>
          </a:p>
          <a:p>
            <a:r>
              <a:t>If asked about a tool that isn't here: only claim what can be opened in the</a:t>
            </a:r>
          </a:p>
          <a:p>
            <a:r>
              <a:t>repository.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(10:35–11:05) Most students hide this slide. Put it up and read it.</a:t>
            </a:r>
          </a:p>
          <a:p>
            <a:r>
              <a:t>"Three things I would not do with this model today. I wouldn't trust it on a</a:t>
            </a:r>
          </a:p>
          <a:p>
            <a:r>
              <a:t>different market — it has only ever seen one telecom. I wouldn't quote revenue as</a:t>
            </a:r>
          </a:p>
          <a:p>
            <a:r>
              <a:t>savings, only as exposure. And I wouldn't ship a retention campaign aimed at</a:t>
            </a:r>
          </a:p>
          <a:p>
            <a:r>
              <a:t>senior citizens without a bias audit — they churn at 41.7%, nearly double the</a:t>
            </a:r>
          </a:p>
          <a:p>
            <a:r>
              <a:t>base rate, so a risk-optimising model will concentrate offers on them."</a:t>
            </a:r>
          </a:p>
          <a:p>
            <a:r>
              <a:t>Then close the loop: "and the fix for the recall number is already measured — 0.35</a:t>
            </a:r>
          </a:p>
          <a:p>
            <a:r>
              <a:t>catches 71.7%. That's the next cycle, which starts back at Phase 02 with drift</a:t>
            </a:r>
          </a:p>
          <a:p>
            <a:r>
              <a:t>monitoring."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(11:05–11:30) Leave this slide up for questions. It puts the live URL and</a:t>
            </a:r>
          </a:p>
          <a:p>
            <a:r>
              <a:t>a scannable QR in front of the examiner and ends on the thesis, not a tool list.</a:t>
            </a:r>
          </a:p>
          <a:p>
            <a:r>
              <a:t>"The contribution isn't the 80% — it's that a probability becomes a prioritised,</a:t>
            </a:r>
          </a:p>
          <a:p>
            <a:r>
              <a:t>explained, costed action, in a product a retention team can actually open. Thank</a:t>
            </a:r>
          </a:p>
          <a:p>
            <a:r>
              <a:t>you — happy to take questions."</a:t>
            </a:r>
          </a:p>
          <a:p>
            <a:r>
              <a:t>Offer the demo: "if you'd like, I can upload a customer file and score it live."</a:t>
            </a:r>
          </a:p>
          <a:p>
            <a:r>
              <a:t>Remember the free tier sleeps — warm the app before you present.</a:t>
            </a:r>
          </a:p>
          <a:p/>
          <a:p>
            <a:r>
              <a:t>LIKELY QUESTIONS</a:t>
            </a:r>
          </a:p>
          <a:p>
            <a:r>
              <a:t>· Why not deep learning? 1,409 test rows and a largely linear signal; the four-way</a:t>
            </a:r>
          </a:p>
          <a:p>
            <a:r>
              <a:t>  benchmark supports the simpler model, and it stays explainable.</a:t>
            </a:r>
          </a:p>
          <a:p>
            <a:r>
              <a:t>· Why is recall low? The 0.5 threshold is a default. Phase 08 shows 0.35 catches</a:t>
            </a:r>
          </a:p>
          <a:p>
            <a:r>
              <a:t>  71.7%, and balanced class weights reach 77.81% recall at identical ROC-AUC.</a:t>
            </a:r>
          </a:p>
          <a:p>
            <a:r>
              <a:t>· Isn't revenue-at-risk optimistic? It's exposure, not savings — the deck and the</a:t>
            </a:r>
          </a:p>
          <a:p>
            <a:r>
              <a:t>  app both say so; validating it needs a live campaign.</a:t>
            </a:r>
          </a:p>
          <a:p>
            <a:r>
              <a:t>· How do you know it isn't leakage? Churn Score, Reason, Category and Status are</a:t>
            </a:r>
          </a:p>
          <a:p>
            <a:r>
              <a:t>  post-outcome fields and were dropped before training.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Use if anyone questions the benchmark or wants the full metric set.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for 'what parameters did you use?'. Be straightforward: these are defaults, and that was deliberate so the comparison tested algorithms rather than tuning effort.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Any question about which variables the model sees can be answered by pointing here.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for API and reproducibility questions. Strong answer to 'how do we know these numbers are right?'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Use it if a reviewer asks how the pieces connect, or how the notebook work reaches the running app. The answer is one shared preprocessing path and a frozen feature contract.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8778240" cy="256032"/>
          </a:xfrm>
          <a:prstGeom prst="rect">
            <a:avLst/>
          </a:prstGeom>
          <a:noFill/>
        </p:spPr>
        <p:txBody>
          <a:bodyPr wrap="square" lIns="0" rIns="0" tIns="0" bIns="0" anchor="t">
            <a:spAutoFit/>
          </a:bodyPr>
          <a:lstStyle/>
          <a:p>
            <a:pPr algn="l">
              <a:lnSpc>
                <a:spcPct val="112000"/>
              </a:lnSpc>
              <a:spcAft>
                <a:spcPts val="0"/>
              </a:spcAft>
            </a:pPr>
            <a:r>
              <a:rPr sz="1100" b="1">
                <a:solidFill>
                  <a:srgbClr val="2FD8B4"/>
                </a:solidFill>
                <a:latin typeface="Consolas"/>
              </a:rPr>
              <a:t>FINAL YEAR PROJECT   ·   B.SC. DATA SCIENCE</a:t>
            </a:r>
          </a:p>
        </p:txBody>
      </p:sp>
      <p:sp>
        <p:nvSpPr>
          <p:cNvPr id="5" name="TextBox 4"/>
          <p:cNvSpPr txBox="1"/>
          <p:nvPr/>
        </p:nvSpPr>
        <p:spPr>
          <a:xfrm>
            <a:off x="566928" y="1463040"/>
            <a:ext cx="9509760" cy="1536192"/>
          </a:xfrm>
          <a:prstGeom prst="rect">
            <a:avLst/>
          </a:prstGeom>
          <a:noFill/>
        </p:spPr>
        <p:txBody>
          <a:bodyPr wrap="square" lIns="0" rIns="0" tIns="0" bIns="0" anchor="t">
            <a:spAutoFit/>
          </a:bodyPr>
          <a:lstStyle/>
          <a:p>
            <a:pPr algn="l">
              <a:lnSpc>
                <a:spcPct val="112000"/>
              </a:lnSpc>
              <a:spcAft>
                <a:spcPts val="200"/>
              </a:spcAft>
            </a:pPr>
            <a:r>
              <a:rPr sz="5400" b="1">
                <a:solidFill>
                  <a:srgbClr val="EAF0F7"/>
                </a:solidFill>
                <a:latin typeface="Segoe UI"/>
              </a:rPr>
              <a:t>RetainIQ</a:t>
            </a:r>
          </a:p>
          <a:p>
            <a:pPr algn="l">
              <a:lnSpc>
                <a:spcPct val="112000"/>
              </a:lnSpc>
              <a:spcAft>
                <a:spcPts val="0"/>
              </a:spcAft>
            </a:pPr>
            <a:r>
              <a:rPr sz="2800" b="1">
                <a:solidFill>
                  <a:srgbClr val="2FD8B4"/>
                </a:solidFill>
                <a:latin typeface="Segoe UI"/>
              </a:rPr>
              <a:t>Signal Ops Console</a:t>
            </a:r>
          </a:p>
        </p:txBody>
      </p:sp>
      <p:sp>
        <p:nvSpPr>
          <p:cNvPr id="6" name="Rectangle 5"/>
          <p:cNvSpPr/>
          <p:nvPr/>
        </p:nvSpPr>
        <p:spPr>
          <a:xfrm>
            <a:off x="566928" y="3127248"/>
            <a:ext cx="1920240" cy="32004"/>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3383280"/>
            <a:ext cx="7406640" cy="914400"/>
          </a:xfrm>
          <a:prstGeom prst="rect">
            <a:avLst/>
          </a:prstGeom>
          <a:noFill/>
        </p:spPr>
        <p:txBody>
          <a:bodyPr wrap="square" lIns="0" rIns="0" tIns="0" bIns="0" anchor="t">
            <a:spAutoFit/>
          </a:bodyPr>
          <a:lstStyle/>
          <a:p>
            <a:pPr algn="l">
              <a:lnSpc>
                <a:spcPct val="125000"/>
              </a:lnSpc>
              <a:spcAft>
                <a:spcPts val="0"/>
              </a:spcAft>
            </a:pPr>
            <a:r>
              <a:rPr sz="1450" b="0">
                <a:solidFill>
                  <a:srgbClr val="8CA0BE"/>
                </a:solidFill>
                <a:latin typeface="Segoe UI"/>
              </a:rPr>
              <a:t>An explainable machine learning platform for customer churn prediction, risk intelligence and retention strategy.</a:t>
            </a:r>
          </a:p>
        </p:txBody>
      </p:sp>
      <p:sp>
        <p:nvSpPr>
          <p:cNvPr id="8" name="Rectangle 7"/>
          <p:cNvSpPr/>
          <p:nvPr/>
        </p:nvSpPr>
        <p:spPr>
          <a:xfrm>
            <a:off x="10104120" y="2242108"/>
            <a:ext cx="110413" cy="211226"/>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296144" y="2088489"/>
            <a:ext cx="110413" cy="364845"/>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488168" y="1934870"/>
            <a:ext cx="110413" cy="518464"/>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80192" y="1781251"/>
            <a:ext cx="110413" cy="672084"/>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872216" y="1627631"/>
            <a:ext cx="110413" cy="825703"/>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04120" y="2549347"/>
            <a:ext cx="2011680" cy="219456"/>
          </a:xfrm>
          <a:prstGeom prst="rect">
            <a:avLst/>
          </a:prstGeom>
          <a:noFill/>
        </p:spPr>
        <p:txBody>
          <a:bodyPr wrap="square" lIns="0" rIns="0" tIns="0" bIns="0" anchor="t">
            <a:spAutoFit/>
          </a:bodyPr>
          <a:lstStyle/>
          <a:p>
            <a:pPr algn="l">
              <a:lnSpc>
                <a:spcPct val="112000"/>
              </a:lnSpc>
              <a:spcAft>
                <a:spcPts val="0"/>
              </a:spcAft>
            </a:pPr>
            <a:r>
              <a:rPr sz="892" b="0">
                <a:solidFill>
                  <a:srgbClr val="8CA0BE"/>
                </a:solidFill>
                <a:latin typeface="Consolas"/>
              </a:rPr>
              <a:t>signal strength</a:t>
            </a:r>
          </a:p>
        </p:txBody>
      </p:sp>
      <p:sp>
        <p:nvSpPr>
          <p:cNvPr id="14" name="Rounded Rectangle 13"/>
          <p:cNvSpPr/>
          <p:nvPr/>
        </p:nvSpPr>
        <p:spPr>
          <a:xfrm>
            <a:off x="566928" y="4517136"/>
            <a:ext cx="2157984" cy="93915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4645152"/>
            <a:ext cx="1901952" cy="737985"/>
          </a:xfrm>
          <a:prstGeom prst="rect">
            <a:avLst/>
          </a:prstGeom>
          <a:noFill/>
        </p:spPr>
        <p:txBody>
          <a:bodyPr wrap="square" lIns="0" rIns="0" tIns="0" bIns="0" anchor="t">
            <a:spAutoFit/>
          </a:bodyPr>
          <a:lstStyle/>
          <a:p>
            <a:pPr algn="l">
              <a:lnSpc>
                <a:spcPct val="112000"/>
              </a:lnSpc>
              <a:spcAft>
                <a:spcPts val="200"/>
              </a:spcAft>
            </a:pPr>
            <a:r>
              <a:rPr sz="2700" b="1">
                <a:solidFill>
                  <a:srgbClr val="2FD8B4"/>
                </a:solidFill>
                <a:latin typeface="Segoe UI"/>
              </a:rPr>
              <a:t>80.34%</a:t>
            </a:r>
          </a:p>
          <a:p>
            <a:pPr algn="l">
              <a:lnSpc>
                <a:spcPct val="112000"/>
              </a:lnSpc>
              <a:spcAft>
                <a:spcPts val="0"/>
              </a:spcAft>
            </a:pPr>
            <a:r>
              <a:rPr sz="950" b="0">
                <a:solidFill>
                  <a:srgbClr val="8CA0BE"/>
                </a:solidFill>
                <a:latin typeface="Segoe UI"/>
              </a:rPr>
              <a:t>TEST ACCURACY</a:t>
            </a:r>
          </a:p>
        </p:txBody>
      </p:sp>
      <p:sp>
        <p:nvSpPr>
          <p:cNvPr id="16" name="Rounded Rectangle 15"/>
          <p:cNvSpPr/>
          <p:nvPr/>
        </p:nvSpPr>
        <p:spPr>
          <a:xfrm>
            <a:off x="2852928" y="4517136"/>
            <a:ext cx="2157984" cy="93915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99232" y="4645152"/>
            <a:ext cx="1901952" cy="737985"/>
          </a:xfrm>
          <a:prstGeom prst="rect">
            <a:avLst/>
          </a:prstGeom>
          <a:noFill/>
        </p:spPr>
        <p:txBody>
          <a:bodyPr wrap="square" lIns="0" rIns="0" tIns="0" bIns="0" anchor="t">
            <a:spAutoFit/>
          </a:bodyPr>
          <a:lstStyle/>
          <a:p>
            <a:pPr algn="l">
              <a:lnSpc>
                <a:spcPct val="112000"/>
              </a:lnSpc>
              <a:spcAft>
                <a:spcPts val="200"/>
              </a:spcAft>
            </a:pPr>
            <a:r>
              <a:rPr sz="2700" b="1">
                <a:solidFill>
                  <a:srgbClr val="2FD8B4"/>
                </a:solidFill>
                <a:latin typeface="Segoe UI"/>
              </a:rPr>
              <a:t>84.91%</a:t>
            </a:r>
          </a:p>
          <a:p>
            <a:pPr algn="l">
              <a:lnSpc>
                <a:spcPct val="112000"/>
              </a:lnSpc>
              <a:spcAft>
                <a:spcPts val="0"/>
              </a:spcAft>
            </a:pPr>
            <a:r>
              <a:rPr sz="950" b="0">
                <a:solidFill>
                  <a:srgbClr val="8CA0BE"/>
                </a:solidFill>
                <a:latin typeface="Segoe UI"/>
              </a:rPr>
              <a:t>ROC-AUC</a:t>
            </a:r>
          </a:p>
        </p:txBody>
      </p:sp>
      <p:sp>
        <p:nvSpPr>
          <p:cNvPr id="18" name="Rounded Rectangle 17"/>
          <p:cNvSpPr/>
          <p:nvPr/>
        </p:nvSpPr>
        <p:spPr>
          <a:xfrm>
            <a:off x="5138928" y="4517136"/>
            <a:ext cx="2157984" cy="93915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285232" y="4645152"/>
            <a:ext cx="1901952" cy="737985"/>
          </a:xfrm>
          <a:prstGeom prst="rect">
            <a:avLst/>
          </a:prstGeom>
          <a:noFill/>
        </p:spPr>
        <p:txBody>
          <a:bodyPr wrap="square" lIns="0" rIns="0" tIns="0" bIns="0" anchor="t">
            <a:spAutoFit/>
          </a:bodyPr>
          <a:lstStyle/>
          <a:p>
            <a:pPr algn="l">
              <a:lnSpc>
                <a:spcPct val="112000"/>
              </a:lnSpc>
              <a:spcAft>
                <a:spcPts val="200"/>
              </a:spcAft>
            </a:pPr>
            <a:r>
              <a:rPr sz="2700" b="1">
                <a:solidFill>
                  <a:srgbClr val="4C8DFF"/>
                </a:solidFill>
                <a:latin typeface="Segoe UI"/>
              </a:rPr>
              <a:t>7,043</a:t>
            </a:r>
          </a:p>
          <a:p>
            <a:pPr algn="l">
              <a:lnSpc>
                <a:spcPct val="112000"/>
              </a:lnSpc>
              <a:spcAft>
                <a:spcPts val="0"/>
              </a:spcAft>
            </a:pPr>
            <a:r>
              <a:rPr sz="950" b="0">
                <a:solidFill>
                  <a:srgbClr val="8CA0BE"/>
                </a:solidFill>
                <a:latin typeface="Segoe UI"/>
              </a:rPr>
              <a:t>CUSTOMERS SCORED</a:t>
            </a:r>
          </a:p>
        </p:txBody>
      </p:sp>
      <p:sp>
        <p:nvSpPr>
          <p:cNvPr id="20" name="Rounded Rectangle 19"/>
          <p:cNvSpPr/>
          <p:nvPr/>
        </p:nvSpPr>
        <p:spPr>
          <a:xfrm>
            <a:off x="7424927" y="4517136"/>
            <a:ext cx="4197096" cy="93915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71231" y="4645152"/>
            <a:ext cx="3941063" cy="737985"/>
          </a:xfrm>
          <a:prstGeom prst="rect">
            <a:avLst/>
          </a:prstGeom>
          <a:noFill/>
        </p:spPr>
        <p:txBody>
          <a:bodyPr wrap="square" lIns="0" rIns="0" tIns="0" bIns="0" anchor="t">
            <a:spAutoFit/>
          </a:bodyPr>
          <a:lstStyle/>
          <a:p>
            <a:pPr algn="l">
              <a:lnSpc>
                <a:spcPct val="112000"/>
              </a:lnSpc>
              <a:spcAft>
                <a:spcPts val="200"/>
              </a:spcAft>
            </a:pPr>
            <a:r>
              <a:rPr sz="2700" b="1">
                <a:solidFill>
                  <a:srgbClr val="FF5C6C"/>
                </a:solidFill>
                <a:latin typeface="Segoe UI"/>
              </a:rPr>
              <a:t>$92,539</a:t>
            </a:r>
          </a:p>
          <a:p>
            <a:pPr algn="l">
              <a:lnSpc>
                <a:spcPct val="112000"/>
              </a:lnSpc>
              <a:spcAft>
                <a:spcPts val="0"/>
              </a:spcAft>
            </a:pPr>
            <a:r>
              <a:rPr sz="900" b="0">
                <a:solidFill>
                  <a:srgbClr val="8CA0BE"/>
                </a:solidFill>
                <a:latin typeface="Segoe UI"/>
              </a:rPr>
              <a:t>MONTHLY REVENUE AT RISK IN THE HIGH-RISK BAND</a:t>
            </a:r>
          </a:p>
        </p:txBody>
      </p:sp>
      <p:sp>
        <p:nvSpPr>
          <p:cNvPr id="22" name="TextBox 21"/>
          <p:cNvSpPr txBox="1"/>
          <p:nvPr/>
        </p:nvSpPr>
        <p:spPr>
          <a:xfrm>
            <a:off x="566928" y="5694033"/>
            <a:ext cx="11064240" cy="560462"/>
          </a:xfrm>
          <a:prstGeom prst="rect">
            <a:avLst/>
          </a:prstGeom>
          <a:noFill/>
        </p:spPr>
        <p:txBody>
          <a:bodyPr wrap="square" lIns="0" rIns="0" tIns="0" bIns="0" anchor="t">
            <a:spAutoFit/>
          </a:bodyPr>
          <a:lstStyle/>
          <a:p>
            <a:pPr algn="l">
              <a:lnSpc>
                <a:spcPct val="112000"/>
              </a:lnSpc>
              <a:spcAft>
                <a:spcPts val="300"/>
              </a:spcAft>
            </a:pPr>
            <a:r>
              <a:rPr sz="1250" b="1">
                <a:solidFill>
                  <a:srgbClr val="EAF0F7"/>
                </a:solidFill>
                <a:latin typeface="Segoe UI"/>
              </a:rPr>
              <a:t>Logesh S.   ·   B.Sc. Data Science</a:t>
            </a:r>
          </a:p>
          <a:p>
            <a:pPr algn="l">
              <a:lnSpc>
                <a:spcPct val="112000"/>
              </a:lnSpc>
              <a:spcAft>
                <a:spcPts val="0"/>
              </a:spcAft>
            </a:pPr>
            <a:r>
              <a:rPr sz="1050" b="0">
                <a:solidFill>
                  <a:srgbClr val="8CA0BE"/>
                </a:solidFill>
                <a:latin typeface="Consolas"/>
              </a:rPr>
              <a:t>Live application: retainiq-predictive-customer-retention-zq6x.onrender.com     ·     Source: github.com/Logesh0247/RetainIQ_Signal_Ops_Console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THE DEVELOPMENT CYCLE</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Fourteen phases, three acts</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This is the map for the whole talk — every slide that follows is one of these boxes</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rt_cycle.png"/>
          <p:cNvPicPr>
            <a:picLocks noChangeAspect="1"/>
          </p:cNvPicPr>
          <p:nvPr/>
        </p:nvPicPr>
        <p:blipFill>
          <a:blip r:embed="rId2"/>
          <a:stretch>
            <a:fillRect/>
          </a:stretch>
        </p:blipFill>
        <p:spPr>
          <a:xfrm>
            <a:off x="566928" y="1517904"/>
            <a:ext cx="11057839" cy="3436210"/>
          </a:xfrm>
          <a:prstGeom prst="rect">
            <a:avLst/>
          </a:prstGeom>
        </p:spPr>
      </p:pic>
      <p:sp>
        <p:nvSpPr>
          <p:cNvPr id="8" name="Rounded Rectangle 7"/>
          <p:cNvSpPr/>
          <p:nvPr/>
        </p:nvSpPr>
        <p:spPr>
          <a:xfrm>
            <a:off x="566928" y="5596128"/>
            <a:ext cx="11057839" cy="621792"/>
          </a:xfrm>
          <a:prstGeom prst="roundRect">
            <a:avLst>
              <a:gd name="adj" fmla="val 8000"/>
            </a:avLst>
          </a:prstGeom>
          <a:solidFill>
            <a:srgbClr val="162136"/>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724144"/>
            <a:ext cx="10692079" cy="384048"/>
          </a:xfrm>
          <a:prstGeom prst="rect">
            <a:avLst/>
          </a:prstGeom>
          <a:noFill/>
        </p:spPr>
        <p:txBody>
          <a:bodyPr wrap="square" lIns="0" rIns="0" tIns="0" bIns="0" anchor="t">
            <a:spAutoFit/>
          </a:bodyPr>
          <a:lstStyle/>
          <a:p>
            <a:pPr algn="l">
              <a:lnSpc>
                <a:spcPct val="112000"/>
              </a:lnSpc>
              <a:spcAft>
                <a:spcPts val="300"/>
              </a:spcAft>
            </a:pPr>
            <a:r>
              <a:rPr sz="1150" b="1">
                <a:solidFill>
                  <a:srgbClr val="2FD8B4"/>
                </a:solidFill>
                <a:latin typeface="Segoe UI"/>
              </a:rPr>
              <a:t>HOW TO READ THE DECK</a:t>
            </a:r>
          </a:p>
          <a:p>
            <a:pPr algn="l">
              <a:lnSpc>
                <a:spcPct val="116000"/>
              </a:lnSpc>
              <a:spcAft>
                <a:spcPts val="0"/>
              </a:spcAft>
            </a:pPr>
            <a:r>
              <a:rPr sz="1080" b="0">
                <a:solidFill>
                  <a:srgbClr val="EAF0F7"/>
                </a:solidFill>
                <a:latin typeface="Segoe UI"/>
              </a:rPr>
              <a:t>Three acts — the signal fades (I), reading the signal (II), the signal recovered (III). Every slide names its phase in the footer.</a:t>
            </a:r>
          </a:p>
        </p:txBody>
      </p:sp>
      <p:sp>
        <p:nvSpPr>
          <p:cNvPr id="10" name="Rectangle 9"/>
          <p:cNvSpPr/>
          <p:nvPr/>
        </p:nvSpPr>
        <p:spPr>
          <a:xfrm>
            <a:off x="566928"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36036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5380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4724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74067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3411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32755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099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91443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0786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50130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29474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008818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088162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a:t>
            </a:r>
          </a:p>
        </p:txBody>
      </p:sp>
      <p:sp>
        <p:nvSpPr>
          <p:cNvPr id="26" name="TextBox 25"/>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PHASE 01  ·  BUSINESS UNDERSTANDING</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The problem: retention is still reactive</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Reports explain what happened. They do not say who leaves next.</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517904"/>
            <a:ext cx="5989320" cy="2194560"/>
          </a:xfrm>
          <a:prstGeom prst="rect">
            <a:avLst/>
          </a:prstGeom>
          <a:noFill/>
        </p:spPr>
        <p:txBody>
          <a:bodyPr wrap="square" lIns="0" rIns="0" tIns="0" bIns="0" anchor="t">
            <a:spAutoFit/>
          </a:bodyPr>
          <a:lstStyle/>
          <a:p>
            <a:pPr algn="l">
              <a:lnSpc>
                <a:spcPct val="112000"/>
              </a:lnSpc>
              <a:spcAft>
                <a:spcPts val="100"/>
              </a:spcAft>
            </a:pPr>
            <a:r>
              <a:rPr sz="1150" b="1">
                <a:solidFill>
                  <a:srgbClr val="2FD8B4"/>
                </a:solidFill>
                <a:latin typeface="Segoe UI"/>
              </a:rPr>
              <a:t>▸  Churn compounds.</a:t>
            </a:r>
          </a:p>
          <a:p>
            <a:pPr algn="l">
              <a:lnSpc>
                <a:spcPct val="118000"/>
              </a:lnSpc>
              <a:spcAft>
                <a:spcPts val="0"/>
              </a:spcAft>
            </a:pPr>
            <a:r>
              <a:rPr sz="1100" b="0">
                <a:solidFill>
                  <a:srgbClr val="EAF0F7"/>
                </a:solidFill>
                <a:latin typeface="Segoe UI"/>
              </a:rPr>
              <a:t>     26.54% of this customer base churned — 1,869 of 7,043 customers.</a:t>
            </a:r>
          </a:p>
          <a:p>
            <a:pPr algn="l">
              <a:lnSpc>
                <a:spcPct val="112000"/>
              </a:lnSpc>
              <a:spcBef>
                <a:spcPts val="800"/>
              </a:spcBef>
              <a:spcAft>
                <a:spcPts val="100"/>
              </a:spcAft>
            </a:pPr>
            <a:r>
              <a:rPr sz="1150" b="1">
                <a:solidFill>
                  <a:srgbClr val="2FD8B4"/>
                </a:solidFill>
                <a:latin typeface="Segoe UI"/>
              </a:rPr>
              <a:t>▸  Dashboards describe, they do not prioritise.</a:t>
            </a:r>
          </a:p>
          <a:p>
            <a:pPr algn="l">
              <a:lnSpc>
                <a:spcPct val="118000"/>
              </a:lnSpc>
              <a:spcAft>
                <a:spcPts val="0"/>
              </a:spcAft>
            </a:pPr>
            <a:r>
              <a:rPr sz="1100" b="0">
                <a:solidFill>
                  <a:srgbClr val="EAF0F7"/>
                </a:solidFill>
                <a:latin typeface="Segoe UI"/>
              </a:rPr>
              <a:t>     Knowing last quarter's churn rate does not tell a retention team whom to call today.</a:t>
            </a:r>
          </a:p>
          <a:p>
            <a:pPr algn="l">
              <a:lnSpc>
                <a:spcPct val="112000"/>
              </a:lnSpc>
              <a:spcBef>
                <a:spcPts val="800"/>
              </a:spcBef>
              <a:spcAft>
                <a:spcPts val="100"/>
              </a:spcAft>
            </a:pPr>
            <a:r>
              <a:rPr sz="1150" b="1">
                <a:solidFill>
                  <a:srgbClr val="2FD8B4"/>
                </a:solidFill>
                <a:latin typeface="Segoe UI"/>
              </a:rPr>
              <a:t>▸  Generic campaigns waste budget.</a:t>
            </a:r>
          </a:p>
          <a:p>
            <a:pPr algn="l">
              <a:lnSpc>
                <a:spcPct val="118000"/>
              </a:lnSpc>
              <a:spcAft>
                <a:spcPts val="0"/>
              </a:spcAft>
            </a:pPr>
            <a:r>
              <a:rPr sz="1100" b="0">
                <a:solidFill>
                  <a:srgbClr val="EAF0F7"/>
                </a:solidFill>
                <a:latin typeface="Segoe UI"/>
              </a:rPr>
              <a:t>     Blanket offers discount loyal customers and still miss the ones about to leave.</a:t>
            </a:r>
          </a:p>
        </p:txBody>
      </p:sp>
      <p:sp>
        <p:nvSpPr>
          <p:cNvPr id="8" name="Rounded Rectangle 7"/>
          <p:cNvSpPr/>
          <p:nvPr/>
        </p:nvSpPr>
        <p:spPr>
          <a:xfrm>
            <a:off x="566928" y="3895344"/>
            <a:ext cx="2889504" cy="1097280"/>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4041648"/>
            <a:ext cx="32004" cy="804671"/>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4059935"/>
            <a:ext cx="2578608" cy="786383"/>
          </a:xfrm>
          <a:prstGeom prst="rect">
            <a:avLst/>
          </a:prstGeom>
          <a:noFill/>
        </p:spPr>
        <p:txBody>
          <a:bodyPr wrap="square" lIns="0" rIns="0" tIns="0" bIns="0" anchor="t">
            <a:spAutoFit/>
          </a:bodyPr>
          <a:lstStyle/>
          <a:p>
            <a:pPr algn="l">
              <a:lnSpc>
                <a:spcPct val="112000"/>
              </a:lnSpc>
              <a:spcAft>
                <a:spcPts val="300"/>
              </a:spcAft>
            </a:pPr>
            <a:r>
              <a:rPr sz="1200" b="1">
                <a:solidFill>
                  <a:srgbClr val="EAF0F7"/>
                </a:solidFill>
                <a:latin typeface="Segoe UI"/>
              </a:rPr>
              <a:t>Who is likely to churn?</a:t>
            </a:r>
          </a:p>
          <a:p>
            <a:pPr algn="l">
              <a:lnSpc>
                <a:spcPct val="114000"/>
              </a:lnSpc>
              <a:spcAft>
                <a:spcPts val="0"/>
              </a:spcAft>
            </a:pPr>
            <a:r>
              <a:rPr sz="980" b="0">
                <a:solidFill>
                  <a:srgbClr val="8CA0BE"/>
                </a:solidFill>
                <a:latin typeface="Segoe UI"/>
              </a:rPr>
              <a:t>Predicted churn probability per customer</a:t>
            </a:r>
          </a:p>
        </p:txBody>
      </p:sp>
      <p:sp>
        <p:nvSpPr>
          <p:cNvPr id="11" name="Rounded Rectangle 10"/>
          <p:cNvSpPr/>
          <p:nvPr/>
        </p:nvSpPr>
        <p:spPr>
          <a:xfrm>
            <a:off x="3621024" y="3895344"/>
            <a:ext cx="2889504" cy="1097280"/>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21024" y="4041648"/>
            <a:ext cx="32004" cy="804671"/>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22191" y="4059935"/>
            <a:ext cx="2578608" cy="786383"/>
          </a:xfrm>
          <a:prstGeom prst="rect">
            <a:avLst/>
          </a:prstGeom>
          <a:noFill/>
        </p:spPr>
        <p:txBody>
          <a:bodyPr wrap="square" lIns="0" rIns="0" tIns="0" bIns="0" anchor="t">
            <a:spAutoFit/>
          </a:bodyPr>
          <a:lstStyle/>
          <a:p>
            <a:pPr algn="l">
              <a:lnSpc>
                <a:spcPct val="112000"/>
              </a:lnSpc>
              <a:spcAft>
                <a:spcPts val="300"/>
              </a:spcAft>
            </a:pPr>
            <a:r>
              <a:rPr sz="1200" b="1">
                <a:solidFill>
                  <a:srgbClr val="EAF0F7"/>
                </a:solidFill>
                <a:latin typeface="Segoe UI"/>
              </a:rPr>
              <a:t>Why are they at risk?</a:t>
            </a:r>
          </a:p>
          <a:p>
            <a:pPr algn="l">
              <a:lnSpc>
                <a:spcPct val="114000"/>
              </a:lnSpc>
              <a:spcAft>
                <a:spcPts val="0"/>
              </a:spcAft>
            </a:pPr>
            <a:r>
              <a:rPr sz="980" b="0">
                <a:solidFill>
                  <a:srgbClr val="8CA0BE"/>
                </a:solidFill>
                <a:latin typeface="Segoe UI"/>
              </a:rPr>
              <a:t>Feature contributions behind each prediction</a:t>
            </a:r>
          </a:p>
        </p:txBody>
      </p:sp>
      <p:sp>
        <p:nvSpPr>
          <p:cNvPr id="14" name="Rounded Rectangle 13"/>
          <p:cNvSpPr/>
          <p:nvPr/>
        </p:nvSpPr>
        <p:spPr>
          <a:xfrm>
            <a:off x="566928" y="5120640"/>
            <a:ext cx="2889504" cy="1097280"/>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5266944"/>
            <a:ext cx="32004" cy="80467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5285231"/>
            <a:ext cx="2578608" cy="786383"/>
          </a:xfrm>
          <a:prstGeom prst="rect">
            <a:avLst/>
          </a:prstGeom>
          <a:noFill/>
        </p:spPr>
        <p:txBody>
          <a:bodyPr wrap="square" lIns="0" rIns="0" tIns="0" bIns="0" anchor="t">
            <a:spAutoFit/>
          </a:bodyPr>
          <a:lstStyle/>
          <a:p>
            <a:pPr algn="l">
              <a:lnSpc>
                <a:spcPct val="112000"/>
              </a:lnSpc>
              <a:spcAft>
                <a:spcPts val="300"/>
              </a:spcAft>
            </a:pPr>
            <a:r>
              <a:rPr sz="1200" b="1">
                <a:solidFill>
                  <a:srgbClr val="EAF0F7"/>
                </a:solidFill>
                <a:latin typeface="Segoe UI"/>
              </a:rPr>
              <a:t>What should we do?</a:t>
            </a:r>
          </a:p>
          <a:p>
            <a:pPr algn="l">
              <a:lnSpc>
                <a:spcPct val="114000"/>
              </a:lnSpc>
              <a:spcAft>
                <a:spcPts val="0"/>
              </a:spcAft>
            </a:pPr>
            <a:r>
              <a:rPr sz="980" b="0">
                <a:solidFill>
                  <a:srgbClr val="8CA0BE"/>
                </a:solidFill>
                <a:latin typeface="Segoe UI"/>
              </a:rPr>
              <a:t>A retention action matched to the risk drivers</a:t>
            </a:r>
          </a:p>
        </p:txBody>
      </p:sp>
      <p:sp>
        <p:nvSpPr>
          <p:cNvPr id="17" name="Rounded Rectangle 16"/>
          <p:cNvSpPr/>
          <p:nvPr/>
        </p:nvSpPr>
        <p:spPr>
          <a:xfrm>
            <a:off x="3621024" y="5120640"/>
            <a:ext cx="2889504" cy="1097280"/>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21024" y="5266944"/>
            <a:ext cx="32004" cy="804671"/>
          </a:xfrm>
          <a:prstGeom prst="rect">
            <a:avLst/>
          </a:prstGeom>
          <a:solidFill>
            <a:srgbClr val="FF5C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22191" y="5285231"/>
            <a:ext cx="2578608" cy="786383"/>
          </a:xfrm>
          <a:prstGeom prst="rect">
            <a:avLst/>
          </a:prstGeom>
          <a:noFill/>
        </p:spPr>
        <p:txBody>
          <a:bodyPr wrap="square" lIns="0" rIns="0" tIns="0" bIns="0" anchor="t">
            <a:spAutoFit/>
          </a:bodyPr>
          <a:lstStyle/>
          <a:p>
            <a:pPr algn="l">
              <a:lnSpc>
                <a:spcPct val="112000"/>
              </a:lnSpc>
              <a:spcAft>
                <a:spcPts val="300"/>
              </a:spcAft>
            </a:pPr>
            <a:r>
              <a:rPr sz="1200" b="1">
                <a:solidFill>
                  <a:srgbClr val="EAF0F7"/>
                </a:solidFill>
                <a:latin typeface="Segoe UI"/>
              </a:rPr>
              <a:t>What is at stake?</a:t>
            </a:r>
          </a:p>
          <a:p>
            <a:pPr algn="l">
              <a:lnSpc>
                <a:spcPct val="114000"/>
              </a:lnSpc>
              <a:spcAft>
                <a:spcPts val="0"/>
              </a:spcAft>
            </a:pPr>
            <a:r>
              <a:rPr sz="980" b="0">
                <a:solidFill>
                  <a:srgbClr val="8CA0BE"/>
                </a:solidFill>
                <a:latin typeface="Segoe UI"/>
              </a:rPr>
              <a:t>Monthly recurring revenue exposed in each risk band</a:t>
            </a:r>
          </a:p>
        </p:txBody>
      </p:sp>
      <p:sp>
        <p:nvSpPr>
          <p:cNvPr id="20" name="TextBox 19"/>
          <p:cNvSpPr txBox="1"/>
          <p:nvPr/>
        </p:nvSpPr>
        <p:spPr>
          <a:xfrm>
            <a:off x="7187184" y="1700784"/>
            <a:ext cx="4206240" cy="274320"/>
          </a:xfrm>
          <a:prstGeom prst="rect">
            <a:avLst/>
          </a:prstGeom>
          <a:noFill/>
        </p:spPr>
        <p:txBody>
          <a:bodyPr wrap="square" lIns="0" rIns="0" tIns="0" bIns="0" anchor="t">
            <a:spAutoFit/>
          </a:bodyPr>
          <a:lstStyle/>
          <a:p>
            <a:pPr algn="l">
              <a:lnSpc>
                <a:spcPct val="112000"/>
              </a:lnSpc>
              <a:spcAft>
                <a:spcPts val="0"/>
              </a:spcAft>
            </a:pPr>
            <a:r>
              <a:rPr sz="1050" b="1">
                <a:solidFill>
                  <a:srgbClr val="8CA0BE"/>
                </a:solidFill>
                <a:latin typeface="Consolas"/>
              </a:rPr>
              <a:t>THE BASE RATE</a:t>
            </a:r>
          </a:p>
        </p:txBody>
      </p:sp>
      <p:pic>
        <p:nvPicPr>
          <p:cNvPr id="21" name="Picture 20" descr="chart_churn_split.png"/>
          <p:cNvPicPr>
            <a:picLocks noChangeAspect="1"/>
          </p:cNvPicPr>
          <p:nvPr/>
        </p:nvPicPr>
        <p:blipFill>
          <a:blip r:embed="rId2"/>
          <a:stretch>
            <a:fillRect/>
          </a:stretch>
        </p:blipFill>
        <p:spPr>
          <a:xfrm>
            <a:off x="7511796" y="1956815"/>
            <a:ext cx="3566159" cy="3566159"/>
          </a:xfrm>
          <a:prstGeom prst="rect">
            <a:avLst/>
          </a:prstGeom>
        </p:spPr>
      </p:pic>
      <p:sp>
        <p:nvSpPr>
          <p:cNvPr id="22" name="TextBox 21"/>
          <p:cNvSpPr txBox="1"/>
          <p:nvPr/>
        </p:nvSpPr>
        <p:spPr>
          <a:xfrm>
            <a:off x="7187184" y="5614416"/>
            <a:ext cx="4206240" cy="603504"/>
          </a:xfrm>
          <a:prstGeom prst="rect">
            <a:avLst/>
          </a:prstGeom>
          <a:noFill/>
        </p:spPr>
        <p:txBody>
          <a:bodyPr wrap="square" lIns="0" rIns="0" tIns="0" bIns="0" anchor="t">
            <a:spAutoFit/>
          </a:bodyPr>
          <a:lstStyle/>
          <a:p>
            <a:pPr algn="l">
              <a:lnSpc>
                <a:spcPct val="116000"/>
              </a:lnSpc>
              <a:spcAft>
                <a:spcPts val="0"/>
              </a:spcAft>
            </a:pPr>
            <a:r>
              <a:rPr sz="1050" b="0">
                <a:solidFill>
                  <a:srgbClr val="8CA0BE"/>
                </a:solidFill>
                <a:latin typeface="Segoe UI"/>
              </a:rPr>
              <a:t>1,869 churned · 5,174 retained of 7,043. Predicting "nobody churns" is already 73.46% accurate — which is why accuracy alone decides nothing here.</a:t>
            </a:r>
          </a:p>
        </p:txBody>
      </p:sp>
      <p:sp>
        <p:nvSpPr>
          <p:cNvPr id="23" name="Rectangle 22"/>
          <p:cNvSpPr/>
          <p:nvPr/>
        </p:nvSpPr>
        <p:spPr>
          <a:xfrm>
            <a:off x="566928" y="6296558"/>
            <a:ext cx="743145" cy="68580"/>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36036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15380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94724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74067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3411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32755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099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91443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0786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50130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29474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08818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088162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   ·   PHASE 01 · BUSINESS UNDERSTANDING</a:t>
            </a:r>
          </a:p>
        </p:txBody>
      </p:sp>
      <p:sp>
        <p:nvSpPr>
          <p:cNvPr id="39" name="TextBox 38"/>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PHASE 02  ·  DATA COLLECTION</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The data that records the signal</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IBM Telco Customer Churn — 7,043 customers, 34 raw fields, one binary target</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517904"/>
            <a:ext cx="2094524" cy="1078992"/>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645919"/>
            <a:ext cx="1838492" cy="877824"/>
          </a:xfrm>
          <a:prstGeom prst="rect">
            <a:avLst/>
          </a:prstGeom>
          <a:noFill/>
        </p:spPr>
        <p:txBody>
          <a:bodyPr wrap="square" lIns="0" rIns="0" tIns="0" bIns="0" anchor="t">
            <a:spAutoFit/>
          </a:bodyPr>
          <a:lstStyle/>
          <a:p>
            <a:pPr algn="l">
              <a:lnSpc>
                <a:spcPct val="112000"/>
              </a:lnSpc>
              <a:spcAft>
                <a:spcPts val="200"/>
              </a:spcAft>
            </a:pPr>
            <a:r>
              <a:rPr sz="2100" b="1">
                <a:solidFill>
                  <a:srgbClr val="EAF0F7"/>
                </a:solidFill>
                <a:latin typeface="Segoe UI"/>
              </a:rPr>
              <a:t>7,043</a:t>
            </a:r>
          </a:p>
          <a:p>
            <a:pPr algn="l">
              <a:lnSpc>
                <a:spcPct val="112000"/>
              </a:lnSpc>
              <a:spcAft>
                <a:spcPts val="0"/>
              </a:spcAft>
            </a:pPr>
            <a:r>
              <a:rPr sz="900" b="0">
                <a:solidFill>
                  <a:srgbClr val="8CA0BE"/>
                </a:solidFill>
                <a:latin typeface="Segoe UI"/>
              </a:rPr>
              <a:t>CUSTOMERS</a:t>
            </a:r>
          </a:p>
        </p:txBody>
      </p:sp>
      <p:sp>
        <p:nvSpPr>
          <p:cNvPr id="9" name="Rounded Rectangle 8"/>
          <p:cNvSpPr/>
          <p:nvPr/>
        </p:nvSpPr>
        <p:spPr>
          <a:xfrm>
            <a:off x="2807756" y="1517904"/>
            <a:ext cx="2094524" cy="1078992"/>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54060" y="1645919"/>
            <a:ext cx="1838492" cy="877824"/>
          </a:xfrm>
          <a:prstGeom prst="rect">
            <a:avLst/>
          </a:prstGeom>
          <a:noFill/>
        </p:spPr>
        <p:txBody>
          <a:bodyPr wrap="square" lIns="0" rIns="0" tIns="0" bIns="0" anchor="t">
            <a:spAutoFit/>
          </a:bodyPr>
          <a:lstStyle/>
          <a:p>
            <a:pPr algn="l">
              <a:lnSpc>
                <a:spcPct val="112000"/>
              </a:lnSpc>
              <a:spcAft>
                <a:spcPts val="200"/>
              </a:spcAft>
            </a:pPr>
            <a:r>
              <a:rPr sz="2100" b="1">
                <a:solidFill>
                  <a:srgbClr val="EAF0F7"/>
                </a:solidFill>
                <a:latin typeface="Segoe UI"/>
              </a:rPr>
              <a:t>34</a:t>
            </a:r>
          </a:p>
          <a:p>
            <a:pPr algn="l">
              <a:lnSpc>
                <a:spcPct val="112000"/>
              </a:lnSpc>
              <a:spcAft>
                <a:spcPts val="0"/>
              </a:spcAft>
            </a:pPr>
            <a:r>
              <a:rPr sz="900" b="0">
                <a:solidFill>
                  <a:srgbClr val="8CA0BE"/>
                </a:solidFill>
                <a:latin typeface="Segoe UI"/>
              </a:rPr>
              <a:t>RAW FEATURES</a:t>
            </a:r>
          </a:p>
        </p:txBody>
      </p:sp>
      <p:sp>
        <p:nvSpPr>
          <p:cNvPr id="11" name="Rounded Rectangle 10"/>
          <p:cNvSpPr/>
          <p:nvPr/>
        </p:nvSpPr>
        <p:spPr>
          <a:xfrm>
            <a:off x="5048585" y="1517904"/>
            <a:ext cx="2094524" cy="1078992"/>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94889" y="1645919"/>
            <a:ext cx="1838492" cy="877824"/>
          </a:xfrm>
          <a:prstGeom prst="rect">
            <a:avLst/>
          </a:prstGeom>
          <a:noFill/>
        </p:spPr>
        <p:txBody>
          <a:bodyPr wrap="square" lIns="0" rIns="0" tIns="0" bIns="0" anchor="t">
            <a:spAutoFit/>
          </a:bodyPr>
          <a:lstStyle/>
          <a:p>
            <a:pPr algn="l">
              <a:lnSpc>
                <a:spcPct val="112000"/>
              </a:lnSpc>
              <a:spcAft>
                <a:spcPts val="200"/>
              </a:spcAft>
            </a:pPr>
            <a:r>
              <a:rPr sz="2100" b="1">
                <a:solidFill>
                  <a:srgbClr val="EAF0F7"/>
                </a:solidFill>
                <a:latin typeface="Segoe UI"/>
              </a:rPr>
              <a:t>30</a:t>
            </a:r>
          </a:p>
          <a:p>
            <a:pPr algn="l">
              <a:lnSpc>
                <a:spcPct val="112000"/>
              </a:lnSpc>
              <a:spcAft>
                <a:spcPts val="0"/>
              </a:spcAft>
            </a:pPr>
            <a:r>
              <a:rPr sz="900" b="0">
                <a:solidFill>
                  <a:srgbClr val="8CA0BE"/>
                </a:solidFill>
                <a:latin typeface="Segoe UI"/>
              </a:rPr>
              <a:t>ML FEATURES</a:t>
            </a:r>
          </a:p>
        </p:txBody>
      </p:sp>
      <p:sp>
        <p:nvSpPr>
          <p:cNvPr id="13" name="Rounded Rectangle 12"/>
          <p:cNvSpPr/>
          <p:nvPr/>
        </p:nvSpPr>
        <p:spPr>
          <a:xfrm>
            <a:off x="7289413" y="1517904"/>
            <a:ext cx="2094524" cy="1078992"/>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35717" y="1645919"/>
            <a:ext cx="1838492" cy="877824"/>
          </a:xfrm>
          <a:prstGeom prst="rect">
            <a:avLst/>
          </a:prstGeom>
          <a:noFill/>
        </p:spPr>
        <p:txBody>
          <a:bodyPr wrap="square" lIns="0" rIns="0" tIns="0" bIns="0" anchor="t">
            <a:spAutoFit/>
          </a:bodyPr>
          <a:lstStyle/>
          <a:p>
            <a:pPr algn="l">
              <a:lnSpc>
                <a:spcPct val="112000"/>
              </a:lnSpc>
              <a:spcAft>
                <a:spcPts val="200"/>
              </a:spcAft>
            </a:pPr>
            <a:r>
              <a:rPr sz="2100" b="1">
                <a:solidFill>
                  <a:srgbClr val="FF5C6C"/>
                </a:solidFill>
                <a:latin typeface="Segoe UI"/>
              </a:rPr>
              <a:t>26.54%</a:t>
            </a:r>
          </a:p>
          <a:p>
            <a:pPr algn="l">
              <a:lnSpc>
                <a:spcPct val="112000"/>
              </a:lnSpc>
              <a:spcAft>
                <a:spcPts val="0"/>
              </a:spcAft>
            </a:pPr>
            <a:r>
              <a:rPr sz="900" b="0">
                <a:solidFill>
                  <a:srgbClr val="8CA0BE"/>
                </a:solidFill>
                <a:latin typeface="Segoe UI"/>
              </a:rPr>
              <a:t>CHURN RATE</a:t>
            </a:r>
          </a:p>
        </p:txBody>
      </p:sp>
      <p:sp>
        <p:nvSpPr>
          <p:cNvPr id="15" name="Rounded Rectangle 14"/>
          <p:cNvSpPr/>
          <p:nvPr/>
        </p:nvSpPr>
        <p:spPr>
          <a:xfrm>
            <a:off x="9530242" y="1517904"/>
            <a:ext cx="2094524" cy="1078992"/>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546" y="1645919"/>
            <a:ext cx="1838492" cy="877824"/>
          </a:xfrm>
          <a:prstGeom prst="rect">
            <a:avLst/>
          </a:prstGeom>
          <a:noFill/>
        </p:spPr>
        <p:txBody>
          <a:bodyPr wrap="square" lIns="0" rIns="0" tIns="0" bIns="0" anchor="t">
            <a:spAutoFit/>
          </a:bodyPr>
          <a:lstStyle/>
          <a:p>
            <a:pPr algn="l">
              <a:lnSpc>
                <a:spcPct val="112000"/>
              </a:lnSpc>
              <a:spcAft>
                <a:spcPts val="200"/>
              </a:spcAft>
            </a:pPr>
            <a:r>
              <a:rPr sz="2100" b="1">
                <a:solidFill>
                  <a:srgbClr val="4C8DFF"/>
                </a:solidFill>
                <a:latin typeface="Segoe UI"/>
              </a:rPr>
              <a:t>80 / 20</a:t>
            </a:r>
          </a:p>
          <a:p>
            <a:pPr algn="l">
              <a:lnSpc>
                <a:spcPct val="112000"/>
              </a:lnSpc>
              <a:spcAft>
                <a:spcPts val="0"/>
              </a:spcAft>
            </a:pPr>
            <a:r>
              <a:rPr sz="900" b="0">
                <a:solidFill>
                  <a:srgbClr val="8CA0BE"/>
                </a:solidFill>
                <a:latin typeface="Segoe UI"/>
              </a:rPr>
              <a:t>STRATIFIED SPLIT</a:t>
            </a:r>
          </a:p>
        </p:txBody>
      </p:sp>
      <p:sp>
        <p:nvSpPr>
          <p:cNvPr id="17" name="TextBox 16"/>
          <p:cNvSpPr txBox="1"/>
          <p:nvPr/>
        </p:nvSpPr>
        <p:spPr>
          <a:xfrm>
            <a:off x="566928" y="2779776"/>
            <a:ext cx="5394960" cy="3438144"/>
          </a:xfrm>
          <a:prstGeom prst="rect">
            <a:avLst/>
          </a:prstGeom>
          <a:noFill/>
        </p:spPr>
        <p:txBody>
          <a:bodyPr wrap="square" lIns="0" rIns="0" tIns="0" bIns="0" anchor="t">
            <a:spAutoFit/>
          </a:bodyPr>
          <a:lstStyle/>
          <a:p>
            <a:pPr algn="l">
              <a:lnSpc>
                <a:spcPct val="112000"/>
              </a:lnSpc>
              <a:spcAft>
                <a:spcPts val="600"/>
              </a:spcAft>
            </a:pPr>
            <a:r>
              <a:rPr sz="1300" b="1">
                <a:solidFill>
                  <a:srgbClr val="2FD8B4"/>
                </a:solidFill>
                <a:latin typeface="Segoe UI"/>
              </a:rPr>
              <a:t>What a row contains</a:t>
            </a:r>
          </a:p>
          <a:p>
            <a:pPr algn="l">
              <a:lnSpc>
                <a:spcPct val="112000"/>
              </a:lnSpc>
              <a:spcAft>
                <a:spcPts val="400"/>
              </a:spcAft>
            </a:pPr>
            <a:r>
              <a:rPr sz="1130" b="0">
                <a:solidFill>
                  <a:srgbClr val="EAF0F7"/>
                </a:solidFill>
                <a:latin typeface="Segoe UI"/>
              </a:rPr>
              <a:t>  ▸  Customer profile — gender, senior citizen, partner, dependents</a:t>
            </a:r>
          </a:p>
          <a:p>
            <a:pPr algn="l">
              <a:lnSpc>
                <a:spcPct val="116000"/>
              </a:lnSpc>
              <a:spcAft>
                <a:spcPts val="400"/>
              </a:spcAft>
            </a:pPr>
            <a:r>
              <a:rPr sz="1130" b="0">
                <a:solidFill>
                  <a:srgbClr val="EAF0F7"/>
                </a:solidFill>
                <a:latin typeface="Segoe UI"/>
              </a:rPr>
              <a:t>  ▸  Services — phone, internet, security, backup, protection, support, streaming</a:t>
            </a:r>
          </a:p>
          <a:p>
            <a:pPr algn="l">
              <a:lnSpc>
                <a:spcPct val="112000"/>
              </a:lnSpc>
              <a:spcAft>
                <a:spcPts val="400"/>
              </a:spcAft>
            </a:pPr>
            <a:r>
              <a:rPr sz="1130" b="0">
                <a:solidFill>
                  <a:srgbClr val="EAF0F7"/>
                </a:solidFill>
                <a:latin typeface="Segoe UI"/>
              </a:rPr>
              <a:t>  ▸  Contract &amp; billing — contract type, payment method, paperless, charges</a:t>
            </a:r>
          </a:p>
          <a:p>
            <a:pPr algn="l">
              <a:lnSpc>
                <a:spcPct val="112000"/>
              </a:lnSpc>
              <a:spcAft>
                <a:spcPts val="400"/>
              </a:spcAft>
            </a:pPr>
            <a:r>
              <a:rPr sz="1130" b="0">
                <a:solidFill>
                  <a:srgbClr val="EAF0F7"/>
                </a:solidFill>
                <a:latin typeface="Segoe UI"/>
              </a:rPr>
              <a:t>  ▸  Value — tenure, monthly charges, total charges, CLTV</a:t>
            </a:r>
          </a:p>
          <a:p>
            <a:pPr algn="l">
              <a:lnSpc>
                <a:spcPct val="112000"/>
              </a:lnSpc>
              <a:spcBef>
                <a:spcPts val="800"/>
              </a:spcBef>
              <a:spcAft>
                <a:spcPts val="0"/>
              </a:spcAft>
            </a:pPr>
            <a:r>
              <a:rPr sz="1130" b="0">
                <a:solidFill>
                  <a:srgbClr val="8CA0BE"/>
                </a:solidFill>
                <a:latin typeface="Segoe UI"/>
              </a:rPr>
              <a:t>Target: Churn Label (Yes / No), converted to 1 / 0.</a:t>
            </a:r>
          </a:p>
        </p:txBody>
      </p:sp>
      <p:sp>
        <p:nvSpPr>
          <p:cNvPr id="18" name="Rounded Rectangle 17"/>
          <p:cNvSpPr/>
          <p:nvPr/>
        </p:nvSpPr>
        <p:spPr>
          <a:xfrm>
            <a:off x="6263640" y="2779776"/>
            <a:ext cx="5358384" cy="1645919"/>
          </a:xfrm>
          <a:prstGeom prst="roundRect">
            <a:avLst>
              <a:gd name="adj" fmla="val 8000"/>
            </a:avLst>
          </a:prstGeom>
          <a:solidFill>
            <a:srgbClr val="162136"/>
          </a:solidFill>
          <a:ln w="15240">
            <a:solidFill>
              <a:srgbClr val="4C8D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6520" y="2907792"/>
            <a:ext cx="4992624" cy="1408175"/>
          </a:xfrm>
          <a:prstGeom prst="rect">
            <a:avLst/>
          </a:prstGeom>
          <a:noFill/>
        </p:spPr>
        <p:txBody>
          <a:bodyPr wrap="square" lIns="0" rIns="0" tIns="0" bIns="0" anchor="t">
            <a:spAutoFit/>
          </a:bodyPr>
          <a:lstStyle/>
          <a:p>
            <a:pPr algn="l">
              <a:lnSpc>
                <a:spcPct val="112000"/>
              </a:lnSpc>
              <a:spcAft>
                <a:spcPts val="300"/>
              </a:spcAft>
            </a:pPr>
            <a:r>
              <a:rPr sz="1150" b="1">
                <a:solidFill>
                  <a:srgbClr val="4C8DFF"/>
                </a:solidFill>
                <a:latin typeface="Segoe UI"/>
              </a:rPr>
              <a:t>CLASS BALANCE AND THE SPLIT</a:t>
            </a:r>
          </a:p>
          <a:p>
            <a:pPr algn="l">
              <a:lnSpc>
                <a:spcPct val="116000"/>
              </a:lnSpc>
              <a:spcAft>
                <a:spcPts val="0"/>
              </a:spcAft>
            </a:pPr>
            <a:r>
              <a:rPr sz="1080" b="0">
                <a:solidFill>
                  <a:srgbClr val="EAF0F7"/>
                </a:solidFill>
                <a:latin typeface="Segoe UI"/>
              </a:rPr>
              <a:t>1,869 churned against 5,174 retained. The split is stratified, so both halves carry the identical 26.54% churn rate: 5,634 rows train, 1,409 rows are held back and touched only once.</a:t>
            </a:r>
          </a:p>
        </p:txBody>
      </p:sp>
      <p:sp>
        <p:nvSpPr>
          <p:cNvPr id="20" name="Rounded Rectangle 19"/>
          <p:cNvSpPr/>
          <p:nvPr/>
        </p:nvSpPr>
        <p:spPr>
          <a:xfrm>
            <a:off x="6263640" y="4572000"/>
            <a:ext cx="5358384" cy="1645919"/>
          </a:xfrm>
          <a:prstGeom prst="roundRect">
            <a:avLst>
              <a:gd name="adj" fmla="val 8000"/>
            </a:avLst>
          </a:prstGeom>
          <a:solidFill>
            <a:srgbClr val="162136"/>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6520" y="4700016"/>
            <a:ext cx="4992624" cy="1408175"/>
          </a:xfrm>
          <a:prstGeom prst="rect">
            <a:avLst/>
          </a:prstGeom>
          <a:noFill/>
        </p:spPr>
        <p:txBody>
          <a:bodyPr wrap="square" lIns="0" rIns="0" tIns="0" bIns="0" anchor="t">
            <a:spAutoFit/>
          </a:bodyPr>
          <a:lstStyle/>
          <a:p>
            <a:pPr algn="l">
              <a:lnSpc>
                <a:spcPct val="112000"/>
              </a:lnSpc>
              <a:spcAft>
                <a:spcPts val="300"/>
              </a:spcAft>
            </a:pPr>
            <a:r>
              <a:rPr sz="1150" b="1">
                <a:solidFill>
                  <a:srgbClr val="2FD8B4"/>
                </a:solidFill>
                <a:latin typeface="Segoe UI"/>
              </a:rPr>
              <a:t>TRAIN / SERVE PARITY</a:t>
            </a:r>
          </a:p>
          <a:p>
            <a:pPr algn="l">
              <a:lnSpc>
                <a:spcPct val="116000"/>
              </a:lnSpc>
              <a:spcAft>
                <a:spcPts val="0"/>
              </a:spcAft>
            </a:pPr>
            <a:r>
              <a:rPr sz="1080" b="0">
                <a:solidFill>
                  <a:srgbClr val="EAF0F7"/>
                </a:solidFill>
                <a:latin typeface="Segoe UI"/>
              </a:rPr>
              <a:t>The 30 encoded columns are frozen in feature_columns.pkl and rebuilt by the same preprocessing code for every upload — training and live scoring cannot drift apart. There is a unit test for exactly this.</a:t>
            </a:r>
          </a:p>
        </p:txBody>
      </p:sp>
      <p:sp>
        <p:nvSpPr>
          <p:cNvPr id="22" name="Rectangle 21"/>
          <p:cNvSpPr/>
          <p:nvPr/>
        </p:nvSpPr>
        <p:spPr>
          <a:xfrm>
            <a:off x="566928"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360365" y="6296558"/>
            <a:ext cx="743145" cy="68580"/>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15380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94724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74067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53411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32755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2099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91443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0786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0130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29474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008818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88162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   ·   PHASE 02 · DATA COLLECTION</a:t>
            </a:r>
          </a:p>
        </p:txBody>
      </p:sp>
      <p:sp>
        <p:nvSpPr>
          <p:cNvPr id="38" name="TextBox 37"/>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PHASE 03  ·  DATA CLEANING &amp; PREPROCESSING</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From raw records to 30 model-ready features</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One reproducible pipeline, used identically in training and in the live app</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517904"/>
            <a:ext cx="2558719" cy="1188720"/>
          </a:xfrm>
          <a:prstGeom prst="roundRect">
            <a:avLst>
              <a:gd name="adj" fmla="val 8000"/>
            </a:avLst>
          </a:prstGeom>
          <a:solidFill>
            <a:srgbClr val="162136"/>
          </a:solidFill>
          <a:ln w="15240">
            <a:solidFill>
              <a:srgbClr val="4C8D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19072"/>
            <a:ext cx="2192959" cy="822960"/>
          </a:xfrm>
          <a:prstGeom prst="rect">
            <a:avLst/>
          </a:prstGeom>
          <a:noFill/>
        </p:spPr>
        <p:txBody>
          <a:bodyPr wrap="square" lIns="0" rIns="0" tIns="0" bIns="0" anchor="t">
            <a:spAutoFit/>
          </a:bodyPr>
          <a:lstStyle/>
          <a:p>
            <a:pPr algn="l">
              <a:lnSpc>
                <a:spcPct val="112000"/>
              </a:lnSpc>
              <a:spcAft>
                <a:spcPts val="400"/>
              </a:spcAft>
            </a:pPr>
            <a:r>
              <a:rPr sz="1350" b="1">
                <a:solidFill>
                  <a:srgbClr val="EAF0F7"/>
                </a:solidFill>
                <a:latin typeface="Segoe UI"/>
              </a:rPr>
              <a:t>Raw upload</a:t>
            </a:r>
          </a:p>
          <a:p>
            <a:pPr algn="l">
              <a:lnSpc>
                <a:spcPct val="114000"/>
              </a:lnSpc>
              <a:spcAft>
                <a:spcPts val="0"/>
              </a:spcAft>
            </a:pPr>
            <a:r>
              <a:rPr sz="1000" b="0">
                <a:solidFill>
                  <a:srgbClr val="8CA0BE"/>
                </a:solidFill>
                <a:latin typeface="Segoe UI"/>
              </a:rPr>
              <a:t>7,043 records · 34 columns</a:t>
            </a:r>
          </a:p>
        </p:txBody>
      </p:sp>
      <p:sp>
        <p:nvSpPr>
          <p:cNvPr id="9" name="TextBox 8"/>
          <p:cNvSpPr txBox="1"/>
          <p:nvPr/>
        </p:nvSpPr>
        <p:spPr>
          <a:xfrm>
            <a:off x="3143935" y="1929384"/>
            <a:ext cx="256032" cy="365760"/>
          </a:xfrm>
          <a:prstGeom prst="rect">
            <a:avLst/>
          </a:prstGeom>
          <a:noFill/>
        </p:spPr>
        <p:txBody>
          <a:bodyPr wrap="square" lIns="0" rIns="0" tIns="0" bIns="0" anchor="t">
            <a:spAutoFit/>
          </a:bodyPr>
          <a:lstStyle/>
          <a:p>
            <a:pPr algn="ctr">
              <a:lnSpc>
                <a:spcPct val="112000"/>
              </a:lnSpc>
              <a:spcAft>
                <a:spcPts val="0"/>
              </a:spcAft>
            </a:pPr>
            <a:r>
              <a:rPr sz="1700" b="1">
                <a:solidFill>
                  <a:srgbClr val="2FD8B4"/>
                </a:solidFill>
                <a:latin typeface="Segoe UI"/>
              </a:rPr>
              <a:t>→</a:t>
            </a:r>
          </a:p>
        </p:txBody>
      </p:sp>
      <p:sp>
        <p:nvSpPr>
          <p:cNvPr id="10" name="Rounded Rectangle 9"/>
          <p:cNvSpPr/>
          <p:nvPr/>
        </p:nvSpPr>
        <p:spPr>
          <a:xfrm>
            <a:off x="3399967" y="1517904"/>
            <a:ext cx="2558719" cy="1188720"/>
          </a:xfrm>
          <a:prstGeom prst="roundRect">
            <a:avLst>
              <a:gd name="adj" fmla="val 8000"/>
            </a:avLst>
          </a:prstGeom>
          <a:solidFill>
            <a:srgbClr val="162136"/>
          </a:solidFill>
          <a:ln w="15240">
            <a:solidFill>
              <a:srgbClr val="4C8D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82847" y="1719072"/>
            <a:ext cx="2192959" cy="822960"/>
          </a:xfrm>
          <a:prstGeom prst="rect">
            <a:avLst/>
          </a:prstGeom>
          <a:noFill/>
        </p:spPr>
        <p:txBody>
          <a:bodyPr wrap="square" lIns="0" rIns="0" tIns="0" bIns="0" anchor="t">
            <a:spAutoFit/>
          </a:bodyPr>
          <a:lstStyle/>
          <a:p>
            <a:pPr algn="l">
              <a:lnSpc>
                <a:spcPct val="112000"/>
              </a:lnSpc>
              <a:spcAft>
                <a:spcPts val="400"/>
              </a:spcAft>
            </a:pPr>
            <a:r>
              <a:rPr sz="1350" b="1">
                <a:solidFill>
                  <a:srgbClr val="EAF0F7"/>
                </a:solidFill>
                <a:latin typeface="Segoe UI"/>
              </a:rPr>
              <a:t>Clean</a:t>
            </a:r>
          </a:p>
          <a:p>
            <a:pPr algn="l">
              <a:lnSpc>
                <a:spcPct val="114000"/>
              </a:lnSpc>
              <a:spcAft>
                <a:spcPts val="0"/>
              </a:spcAft>
            </a:pPr>
            <a:r>
              <a:rPr sz="1000" b="0">
                <a:solidFill>
                  <a:srgbClr val="8CA0BE"/>
                </a:solidFill>
                <a:latin typeface="Segoe UI"/>
              </a:rPr>
              <a:t>types, blanks, duplicates, category names</a:t>
            </a:r>
          </a:p>
        </p:txBody>
      </p:sp>
      <p:sp>
        <p:nvSpPr>
          <p:cNvPr id="12" name="TextBox 11"/>
          <p:cNvSpPr txBox="1"/>
          <p:nvPr/>
        </p:nvSpPr>
        <p:spPr>
          <a:xfrm>
            <a:off x="5976975" y="1929384"/>
            <a:ext cx="256032" cy="365760"/>
          </a:xfrm>
          <a:prstGeom prst="rect">
            <a:avLst/>
          </a:prstGeom>
          <a:noFill/>
        </p:spPr>
        <p:txBody>
          <a:bodyPr wrap="square" lIns="0" rIns="0" tIns="0" bIns="0" anchor="t">
            <a:spAutoFit/>
          </a:bodyPr>
          <a:lstStyle/>
          <a:p>
            <a:pPr algn="ctr">
              <a:lnSpc>
                <a:spcPct val="112000"/>
              </a:lnSpc>
              <a:spcAft>
                <a:spcPts val="0"/>
              </a:spcAft>
            </a:pPr>
            <a:r>
              <a:rPr sz="1700" b="1">
                <a:solidFill>
                  <a:srgbClr val="2FD8B4"/>
                </a:solidFill>
                <a:latin typeface="Segoe UI"/>
              </a:rPr>
              <a:t>→</a:t>
            </a:r>
          </a:p>
        </p:txBody>
      </p:sp>
      <p:sp>
        <p:nvSpPr>
          <p:cNvPr id="13" name="Rounded Rectangle 12"/>
          <p:cNvSpPr/>
          <p:nvPr/>
        </p:nvSpPr>
        <p:spPr>
          <a:xfrm>
            <a:off x="6233007" y="1517904"/>
            <a:ext cx="2558719" cy="1188720"/>
          </a:xfrm>
          <a:prstGeom prst="roundRect">
            <a:avLst>
              <a:gd name="adj" fmla="val 8000"/>
            </a:avLst>
          </a:prstGeom>
          <a:solidFill>
            <a:srgbClr val="162136"/>
          </a:solidFill>
          <a:ln w="1524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15887" y="1719072"/>
            <a:ext cx="2192959" cy="822960"/>
          </a:xfrm>
          <a:prstGeom prst="rect">
            <a:avLst/>
          </a:prstGeom>
          <a:noFill/>
        </p:spPr>
        <p:txBody>
          <a:bodyPr wrap="square" lIns="0" rIns="0" tIns="0" bIns="0" anchor="t">
            <a:spAutoFit/>
          </a:bodyPr>
          <a:lstStyle/>
          <a:p>
            <a:pPr algn="l">
              <a:lnSpc>
                <a:spcPct val="112000"/>
              </a:lnSpc>
              <a:spcAft>
                <a:spcPts val="400"/>
              </a:spcAft>
            </a:pPr>
            <a:r>
              <a:rPr sz="1350" b="1">
                <a:solidFill>
                  <a:srgbClr val="EAF0F7"/>
                </a:solidFill>
                <a:latin typeface="Segoe UI"/>
              </a:rPr>
              <a:t>Encode</a:t>
            </a:r>
          </a:p>
          <a:p>
            <a:pPr algn="l">
              <a:lnSpc>
                <a:spcPct val="114000"/>
              </a:lnSpc>
              <a:spcAft>
                <a:spcPts val="0"/>
              </a:spcAft>
            </a:pPr>
            <a:r>
              <a:rPr sz="1000" b="0">
                <a:solidFill>
                  <a:srgbClr val="8CA0BE"/>
                </a:solidFill>
                <a:latin typeface="Segoe UI"/>
              </a:rPr>
              <a:t>16 categoricals → 27 flags</a:t>
            </a:r>
          </a:p>
        </p:txBody>
      </p:sp>
      <p:sp>
        <p:nvSpPr>
          <p:cNvPr id="15" name="TextBox 14"/>
          <p:cNvSpPr txBox="1"/>
          <p:nvPr/>
        </p:nvSpPr>
        <p:spPr>
          <a:xfrm>
            <a:off x="8810015" y="1929384"/>
            <a:ext cx="256032" cy="365760"/>
          </a:xfrm>
          <a:prstGeom prst="rect">
            <a:avLst/>
          </a:prstGeom>
          <a:noFill/>
        </p:spPr>
        <p:txBody>
          <a:bodyPr wrap="square" lIns="0" rIns="0" tIns="0" bIns="0" anchor="t">
            <a:spAutoFit/>
          </a:bodyPr>
          <a:lstStyle/>
          <a:p>
            <a:pPr algn="ctr">
              <a:lnSpc>
                <a:spcPct val="112000"/>
              </a:lnSpc>
              <a:spcAft>
                <a:spcPts val="0"/>
              </a:spcAft>
            </a:pPr>
            <a:r>
              <a:rPr sz="1700" b="1">
                <a:solidFill>
                  <a:srgbClr val="2FD8B4"/>
                </a:solidFill>
                <a:latin typeface="Segoe UI"/>
              </a:rPr>
              <a:t>→</a:t>
            </a:r>
          </a:p>
        </p:txBody>
      </p:sp>
      <p:sp>
        <p:nvSpPr>
          <p:cNvPr id="16" name="Rounded Rectangle 15"/>
          <p:cNvSpPr/>
          <p:nvPr/>
        </p:nvSpPr>
        <p:spPr>
          <a:xfrm>
            <a:off x="9066047" y="1517904"/>
            <a:ext cx="2558719" cy="1188720"/>
          </a:xfrm>
          <a:prstGeom prst="roundRect">
            <a:avLst>
              <a:gd name="adj" fmla="val 8000"/>
            </a:avLst>
          </a:prstGeom>
          <a:solidFill>
            <a:srgbClr val="162136"/>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48927" y="1719072"/>
            <a:ext cx="2192959" cy="822960"/>
          </a:xfrm>
          <a:prstGeom prst="rect">
            <a:avLst/>
          </a:prstGeom>
          <a:noFill/>
        </p:spPr>
        <p:txBody>
          <a:bodyPr wrap="square" lIns="0" rIns="0" tIns="0" bIns="0" anchor="t">
            <a:spAutoFit/>
          </a:bodyPr>
          <a:lstStyle/>
          <a:p>
            <a:pPr algn="l">
              <a:lnSpc>
                <a:spcPct val="112000"/>
              </a:lnSpc>
              <a:spcAft>
                <a:spcPts val="400"/>
              </a:spcAft>
            </a:pPr>
            <a:r>
              <a:rPr sz="1350" b="1">
                <a:solidFill>
                  <a:srgbClr val="EAF0F7"/>
                </a:solidFill>
                <a:latin typeface="Segoe UI"/>
              </a:rPr>
              <a:t>30 features</a:t>
            </a:r>
          </a:p>
          <a:p>
            <a:pPr algn="l">
              <a:lnSpc>
                <a:spcPct val="114000"/>
              </a:lnSpc>
              <a:spcAft>
                <a:spcPts val="0"/>
              </a:spcAft>
            </a:pPr>
            <a:r>
              <a:rPr sz="1000" b="0">
                <a:solidFill>
                  <a:srgbClr val="8CA0BE"/>
                </a:solidFill>
                <a:latin typeface="Segoe UI"/>
              </a:rPr>
              <a:t>frozen column contract</a:t>
            </a:r>
          </a:p>
        </p:txBody>
      </p:sp>
      <p:sp>
        <p:nvSpPr>
          <p:cNvPr id="18" name="Rounded Rectangle 17"/>
          <p:cNvSpPr/>
          <p:nvPr/>
        </p:nvSpPr>
        <p:spPr>
          <a:xfrm>
            <a:off x="566928" y="2889504"/>
            <a:ext cx="11057839" cy="1371600"/>
          </a:xfrm>
          <a:prstGeom prst="roundRect">
            <a:avLst>
              <a:gd name="adj" fmla="val 8000"/>
            </a:avLst>
          </a:prstGeom>
          <a:solidFill>
            <a:srgbClr val="162136"/>
          </a:solidFill>
          <a:ln w="1524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3017520"/>
            <a:ext cx="10692079" cy="1133856"/>
          </a:xfrm>
          <a:prstGeom prst="rect">
            <a:avLst/>
          </a:prstGeom>
          <a:noFill/>
        </p:spPr>
        <p:txBody>
          <a:bodyPr wrap="square" lIns="0" rIns="0" tIns="0" bIns="0" anchor="t">
            <a:spAutoFit/>
          </a:bodyPr>
          <a:lstStyle/>
          <a:p>
            <a:pPr algn="l">
              <a:lnSpc>
                <a:spcPct val="112000"/>
              </a:lnSpc>
              <a:spcAft>
                <a:spcPts val="300"/>
              </a:spcAft>
            </a:pPr>
            <a:r>
              <a:rPr sz="1150" b="1">
                <a:solidFill>
                  <a:srgbClr val="F5A623"/>
                </a:solidFill>
                <a:latin typeface="Segoe UI"/>
              </a:rPr>
              <a:t>LEAKAGE PREVENTION — the detail that makes the results believable</a:t>
            </a:r>
          </a:p>
          <a:p>
            <a:pPr algn="l">
              <a:lnSpc>
                <a:spcPct val="116000"/>
              </a:lnSpc>
              <a:spcAft>
                <a:spcPts val="0"/>
              </a:spcAft>
            </a:pPr>
            <a:r>
              <a:rPr sz="1080" b="0">
                <a:solidFill>
                  <a:srgbClr val="EAF0F7"/>
                </a:solidFill>
                <a:latin typeface="Segoe UI"/>
              </a:rPr>
              <a:t>Churn Score, Churn Reason, Churn Category and Customer Status were removed before training. All four are only known after a customer has already churned, so keeping them would inflate the metrics and break the model in production. This is the difference between a demo and a deployable model.</a:t>
            </a:r>
          </a:p>
        </p:txBody>
      </p:sp>
      <p:sp>
        <p:nvSpPr>
          <p:cNvPr id="20" name="TextBox 19"/>
          <p:cNvSpPr txBox="1"/>
          <p:nvPr/>
        </p:nvSpPr>
        <p:spPr>
          <a:xfrm>
            <a:off x="566928" y="4407408"/>
            <a:ext cx="11055096" cy="1810511"/>
          </a:xfrm>
          <a:prstGeom prst="rect">
            <a:avLst/>
          </a:prstGeom>
          <a:noFill/>
        </p:spPr>
        <p:txBody>
          <a:bodyPr wrap="square" lIns="0" rIns="0" tIns="0" bIns="0" anchor="t">
            <a:spAutoFit/>
          </a:bodyPr>
          <a:lstStyle/>
          <a:p>
            <a:pPr algn="l">
              <a:lnSpc>
                <a:spcPct val="112000"/>
              </a:lnSpc>
              <a:spcAft>
                <a:spcPts val="100"/>
              </a:spcAft>
            </a:pPr>
            <a:r>
              <a:rPr sz="1100" b="1">
                <a:solidFill>
                  <a:srgbClr val="2FD8B4"/>
                </a:solidFill>
                <a:latin typeface="Segoe UI"/>
              </a:rPr>
              <a:t>▸  Cleaning</a:t>
            </a:r>
          </a:p>
          <a:p>
            <a:pPr algn="l">
              <a:lnSpc>
                <a:spcPct val="118000"/>
              </a:lnSpc>
              <a:spcAft>
                <a:spcPts val="0"/>
              </a:spcAft>
            </a:pPr>
            <a:r>
              <a:rPr sz="1050" b="0">
                <a:solidFill>
                  <a:srgbClr val="EAF0F7"/>
                </a:solidFill>
                <a:latin typeface="Segoe UI"/>
              </a:rPr>
              <a:t>     Data-type correction, 11 blank TotalCharges values (all zero-tenure new customers), duplicate checks, categorical normalisation, removal of ID and geographic columns that carry no predictive value.</a:t>
            </a:r>
          </a:p>
          <a:p>
            <a:pPr algn="l">
              <a:lnSpc>
                <a:spcPct val="112000"/>
              </a:lnSpc>
              <a:spcBef>
                <a:spcPts val="900"/>
              </a:spcBef>
              <a:spcAft>
                <a:spcPts val="100"/>
              </a:spcAft>
            </a:pPr>
            <a:r>
              <a:rPr sz="1100" b="1">
                <a:solidFill>
                  <a:srgbClr val="2FD8B4"/>
                </a:solidFill>
                <a:latin typeface="Segoe UI"/>
              </a:rPr>
              <a:t>▸  Encoding</a:t>
            </a:r>
          </a:p>
          <a:p>
            <a:pPr algn="l">
              <a:lnSpc>
                <a:spcPct val="118000"/>
              </a:lnSpc>
              <a:spcAft>
                <a:spcPts val="0"/>
              </a:spcAft>
            </a:pPr>
            <a:r>
              <a:rPr sz="1050" b="0">
                <a:solidFill>
                  <a:srgbClr val="EAF0F7"/>
                </a:solidFill>
                <a:latin typeface="Segoe UI"/>
              </a:rPr>
              <a:t>     Every service column becomes an explicit flag — Contract_Two year, Tech Support_Yes, Internet Service_Fiber optic — so no ordering is invented where none exists: 3 numeric features + 27 flags = 30.</a:t>
            </a:r>
          </a:p>
        </p:txBody>
      </p:sp>
      <p:sp>
        <p:nvSpPr>
          <p:cNvPr id="21" name="Rectangle 20"/>
          <p:cNvSpPr/>
          <p:nvPr/>
        </p:nvSpPr>
        <p:spPr>
          <a:xfrm>
            <a:off x="566928"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36036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153803" y="6296558"/>
            <a:ext cx="743145" cy="68580"/>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94724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74067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3411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32755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2099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91443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0786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50130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29474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08818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088162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   ·   PHASE 03 · DATA CLEANING &amp; PREPROCESSING</a:t>
            </a:r>
          </a:p>
        </p:txBody>
      </p:sp>
      <p:sp>
        <p:nvSpPr>
          <p:cNvPr id="37" name="TextBox 36"/>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PHASE 04  ·  EXPLORATORY DATA ANALYSIS</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What the data said</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Three patterns that shaped the model — and the retention strategy</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rt_contract.png"/>
          <p:cNvPicPr>
            <a:picLocks noChangeAspect="1"/>
          </p:cNvPicPr>
          <p:nvPr/>
        </p:nvPicPr>
        <p:blipFill>
          <a:blip r:embed="rId2"/>
          <a:stretch>
            <a:fillRect/>
          </a:stretch>
        </p:blipFill>
        <p:spPr>
          <a:xfrm>
            <a:off x="566928" y="1609855"/>
            <a:ext cx="5440680" cy="2925057"/>
          </a:xfrm>
          <a:prstGeom prst="rect">
            <a:avLst/>
          </a:prstGeom>
        </p:spPr>
      </p:pic>
      <p:pic>
        <p:nvPicPr>
          <p:cNvPr id="8" name="Picture 7" descr="chart_tenure.png"/>
          <p:cNvPicPr>
            <a:picLocks noChangeAspect="1"/>
          </p:cNvPicPr>
          <p:nvPr/>
        </p:nvPicPr>
        <p:blipFill>
          <a:blip r:embed="rId3"/>
          <a:stretch>
            <a:fillRect/>
          </a:stretch>
        </p:blipFill>
        <p:spPr>
          <a:xfrm>
            <a:off x="6190488" y="1517904"/>
            <a:ext cx="4772086" cy="3108959"/>
          </a:xfrm>
          <a:prstGeom prst="rect">
            <a:avLst/>
          </a:prstGeom>
        </p:spPr>
      </p:pic>
      <p:sp>
        <p:nvSpPr>
          <p:cNvPr id="9" name="Rounded Rectangle 8"/>
          <p:cNvSpPr/>
          <p:nvPr/>
        </p:nvSpPr>
        <p:spPr>
          <a:xfrm>
            <a:off x="566928" y="4773168"/>
            <a:ext cx="3576218" cy="1444751"/>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4919472"/>
            <a:ext cx="32004" cy="1152143"/>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4937759"/>
            <a:ext cx="3210458" cy="1133855"/>
          </a:xfrm>
          <a:prstGeom prst="rect">
            <a:avLst/>
          </a:prstGeom>
          <a:noFill/>
        </p:spPr>
        <p:txBody>
          <a:bodyPr wrap="square" lIns="0" rIns="0" tIns="0" bIns="0" anchor="t">
            <a:spAutoFit/>
          </a:bodyPr>
          <a:lstStyle/>
          <a:p>
            <a:pPr algn="l">
              <a:lnSpc>
                <a:spcPct val="112000"/>
              </a:lnSpc>
              <a:spcAft>
                <a:spcPts val="400"/>
              </a:spcAft>
            </a:pPr>
            <a:r>
              <a:rPr sz="1150" b="1">
                <a:solidFill>
                  <a:srgbClr val="2FD8B4"/>
                </a:solidFill>
                <a:latin typeface="Segoe UI"/>
              </a:rPr>
              <a:t>Contract is the strongest signal</a:t>
            </a:r>
          </a:p>
          <a:p>
            <a:pPr algn="l">
              <a:lnSpc>
                <a:spcPct val="118000"/>
              </a:lnSpc>
              <a:spcAft>
                <a:spcPts val="0"/>
              </a:spcAft>
            </a:pPr>
            <a:r>
              <a:rPr sz="1019" b="0">
                <a:solidFill>
                  <a:srgbClr val="EAF0F7"/>
                </a:solidFill>
                <a:latin typeface="Segoe UI"/>
              </a:rPr>
              <a:t>42.7% churn on month-to-month vs 2.8% on two-year contracts — a 15× gap.</a:t>
            </a:r>
          </a:p>
        </p:txBody>
      </p:sp>
      <p:sp>
        <p:nvSpPr>
          <p:cNvPr id="12" name="Rounded Rectangle 11"/>
          <p:cNvSpPr/>
          <p:nvPr/>
        </p:nvSpPr>
        <p:spPr>
          <a:xfrm>
            <a:off x="4307738" y="4773168"/>
            <a:ext cx="3576218" cy="1444751"/>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4919472"/>
            <a:ext cx="32004" cy="1152143"/>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0618" y="4937759"/>
            <a:ext cx="3210458" cy="1133855"/>
          </a:xfrm>
          <a:prstGeom prst="rect">
            <a:avLst/>
          </a:prstGeom>
          <a:noFill/>
        </p:spPr>
        <p:txBody>
          <a:bodyPr wrap="square" lIns="0" rIns="0" tIns="0" bIns="0" anchor="t">
            <a:spAutoFit/>
          </a:bodyPr>
          <a:lstStyle/>
          <a:p>
            <a:pPr algn="l">
              <a:lnSpc>
                <a:spcPct val="112000"/>
              </a:lnSpc>
              <a:spcAft>
                <a:spcPts val="400"/>
              </a:spcAft>
            </a:pPr>
            <a:r>
              <a:rPr sz="1150" b="1">
                <a:solidFill>
                  <a:srgbClr val="F5A623"/>
                </a:solidFill>
                <a:latin typeface="Segoe UI"/>
              </a:rPr>
              <a:t>Churn is front-loaded</a:t>
            </a:r>
          </a:p>
          <a:p>
            <a:pPr algn="l">
              <a:lnSpc>
                <a:spcPct val="118000"/>
              </a:lnSpc>
              <a:spcAft>
                <a:spcPts val="0"/>
              </a:spcAft>
            </a:pPr>
            <a:r>
              <a:rPr sz="1019" b="0">
                <a:solidFill>
                  <a:srgbClr val="EAF0F7"/>
                </a:solidFill>
                <a:latin typeface="Segoe UI"/>
              </a:rPr>
              <a:t>47.4% of first-year customers churn; 55.5% of all churners are in year one. Churned customers average 18.0 months vs 37.6.</a:t>
            </a:r>
          </a:p>
        </p:txBody>
      </p:sp>
      <p:sp>
        <p:nvSpPr>
          <p:cNvPr id="15" name="Rounded Rectangle 14"/>
          <p:cNvSpPr/>
          <p:nvPr/>
        </p:nvSpPr>
        <p:spPr>
          <a:xfrm>
            <a:off x="8048548" y="4773168"/>
            <a:ext cx="3576218" cy="1444751"/>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48548" y="4919472"/>
            <a:ext cx="32004" cy="1152143"/>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31428" y="4937759"/>
            <a:ext cx="3210458" cy="1133855"/>
          </a:xfrm>
          <a:prstGeom prst="rect">
            <a:avLst/>
          </a:prstGeom>
          <a:noFill/>
        </p:spPr>
        <p:txBody>
          <a:bodyPr wrap="square" lIns="0" rIns="0" tIns="0" bIns="0" anchor="t">
            <a:spAutoFit/>
          </a:bodyPr>
          <a:lstStyle/>
          <a:p>
            <a:pPr algn="l">
              <a:lnSpc>
                <a:spcPct val="112000"/>
              </a:lnSpc>
              <a:spcAft>
                <a:spcPts val="400"/>
              </a:spcAft>
            </a:pPr>
            <a:r>
              <a:rPr sz="1150" b="1">
                <a:solidFill>
                  <a:srgbClr val="4C8DFF"/>
                </a:solidFill>
                <a:latin typeface="Segoe UI"/>
              </a:rPr>
              <a:t>It is a service-experience story</a:t>
            </a:r>
          </a:p>
          <a:p>
            <a:pPr algn="l">
              <a:lnSpc>
                <a:spcPct val="118000"/>
              </a:lnSpc>
              <a:spcAft>
                <a:spcPts val="0"/>
              </a:spcAft>
            </a:pPr>
            <a:r>
              <a:rPr sz="1019" b="0">
                <a:solidFill>
                  <a:srgbClr val="EAF0F7"/>
                </a:solidFill>
                <a:latin typeface="Segoe UI"/>
              </a:rPr>
              <a:t>Fiber optic 41.9% vs 7.4% with no internet; customers without tech support or online security churn at 41.6% and 41.8%.</a:t>
            </a:r>
          </a:p>
        </p:txBody>
      </p:sp>
      <p:sp>
        <p:nvSpPr>
          <p:cNvPr id="18" name="Rectangle 17"/>
          <p:cNvSpPr/>
          <p:nvPr/>
        </p:nvSpPr>
        <p:spPr>
          <a:xfrm>
            <a:off x="566928"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36036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15380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947241" y="6296558"/>
            <a:ext cx="743145" cy="68580"/>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74067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3411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32755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099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91443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0786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50130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29474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008818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88162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   ·   PHASE 04 · EXPLORATORY DATA ANALYSIS</a:t>
            </a:r>
          </a:p>
        </p:txBody>
      </p:sp>
      <p:sp>
        <p:nvSpPr>
          <p:cNvPr id="34" name="TextBox 33"/>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PHASE 05  ·  FEATURE ENGINEERING</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Thirty features, one frozen contract</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Three numeric measures, twenty-seven explicit flags — and a test that guards them</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517904"/>
            <a:ext cx="3584448" cy="1133855"/>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645919"/>
            <a:ext cx="3328415" cy="932687"/>
          </a:xfrm>
          <a:prstGeom prst="rect">
            <a:avLst/>
          </a:prstGeom>
          <a:noFill/>
        </p:spPr>
        <p:txBody>
          <a:bodyPr wrap="square" lIns="0" rIns="0" tIns="0" bIns="0" anchor="t">
            <a:spAutoFit/>
          </a:bodyPr>
          <a:lstStyle/>
          <a:p>
            <a:pPr algn="l">
              <a:lnSpc>
                <a:spcPct val="112000"/>
              </a:lnSpc>
              <a:spcAft>
                <a:spcPts val="200"/>
              </a:spcAft>
            </a:pPr>
            <a:r>
              <a:rPr sz="2800" b="1">
                <a:solidFill>
                  <a:srgbClr val="4C8DFF"/>
                </a:solidFill>
                <a:latin typeface="Segoe UI"/>
              </a:rPr>
              <a:t>3</a:t>
            </a:r>
          </a:p>
          <a:p>
            <a:pPr algn="l">
              <a:lnSpc>
                <a:spcPct val="112000"/>
              </a:lnSpc>
              <a:spcAft>
                <a:spcPts val="0"/>
              </a:spcAft>
            </a:pPr>
            <a:r>
              <a:rPr sz="950" b="0">
                <a:solidFill>
                  <a:srgbClr val="8CA0BE"/>
                </a:solidFill>
                <a:latin typeface="Segoe UI"/>
              </a:rPr>
              <a:t>NUMERIC FEATURES</a:t>
            </a:r>
          </a:p>
        </p:txBody>
      </p:sp>
      <p:sp>
        <p:nvSpPr>
          <p:cNvPr id="9" name="Rounded Rectangle 8"/>
          <p:cNvSpPr/>
          <p:nvPr/>
        </p:nvSpPr>
        <p:spPr>
          <a:xfrm>
            <a:off x="4315968" y="1517904"/>
            <a:ext cx="3584448" cy="1133855"/>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62272" y="1645919"/>
            <a:ext cx="3328415" cy="932687"/>
          </a:xfrm>
          <a:prstGeom prst="rect">
            <a:avLst/>
          </a:prstGeom>
          <a:noFill/>
        </p:spPr>
        <p:txBody>
          <a:bodyPr wrap="square" lIns="0" rIns="0" tIns="0" bIns="0" anchor="t">
            <a:spAutoFit/>
          </a:bodyPr>
          <a:lstStyle/>
          <a:p>
            <a:pPr algn="l">
              <a:lnSpc>
                <a:spcPct val="112000"/>
              </a:lnSpc>
              <a:spcAft>
                <a:spcPts val="200"/>
              </a:spcAft>
            </a:pPr>
            <a:r>
              <a:rPr sz="2800" b="1">
                <a:solidFill>
                  <a:srgbClr val="F5A623"/>
                </a:solidFill>
                <a:latin typeface="Segoe UI"/>
              </a:rPr>
              <a:t>27</a:t>
            </a:r>
          </a:p>
          <a:p>
            <a:pPr algn="l">
              <a:lnSpc>
                <a:spcPct val="112000"/>
              </a:lnSpc>
              <a:spcAft>
                <a:spcPts val="0"/>
              </a:spcAft>
            </a:pPr>
            <a:r>
              <a:rPr sz="950" b="0">
                <a:solidFill>
                  <a:srgbClr val="8CA0BE"/>
                </a:solidFill>
                <a:latin typeface="Segoe UI"/>
              </a:rPr>
              <a:t>BINARY FLAGS</a:t>
            </a:r>
          </a:p>
        </p:txBody>
      </p:sp>
      <p:sp>
        <p:nvSpPr>
          <p:cNvPr id="11" name="Rounded Rectangle 10"/>
          <p:cNvSpPr/>
          <p:nvPr/>
        </p:nvSpPr>
        <p:spPr>
          <a:xfrm>
            <a:off x="8065007" y="1517904"/>
            <a:ext cx="3557016" cy="1133855"/>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11311" y="1645919"/>
            <a:ext cx="3300984" cy="932687"/>
          </a:xfrm>
          <a:prstGeom prst="rect">
            <a:avLst/>
          </a:prstGeom>
          <a:noFill/>
        </p:spPr>
        <p:txBody>
          <a:bodyPr wrap="square" lIns="0" rIns="0" tIns="0" bIns="0" anchor="t">
            <a:spAutoFit/>
          </a:bodyPr>
          <a:lstStyle/>
          <a:p>
            <a:pPr algn="l">
              <a:lnSpc>
                <a:spcPct val="112000"/>
              </a:lnSpc>
              <a:spcAft>
                <a:spcPts val="200"/>
              </a:spcAft>
            </a:pPr>
            <a:r>
              <a:rPr sz="2800" b="1">
                <a:solidFill>
                  <a:srgbClr val="2FD8B4"/>
                </a:solidFill>
                <a:latin typeface="Segoe UI"/>
              </a:rPr>
              <a:t>30</a:t>
            </a:r>
          </a:p>
          <a:p>
            <a:pPr algn="l">
              <a:lnSpc>
                <a:spcPct val="112000"/>
              </a:lnSpc>
              <a:spcAft>
                <a:spcPts val="0"/>
              </a:spcAft>
            </a:pPr>
            <a:r>
              <a:rPr sz="950" b="0">
                <a:solidFill>
                  <a:srgbClr val="8CA0BE"/>
                </a:solidFill>
                <a:latin typeface="Segoe UI"/>
              </a:rPr>
              <a:t>TOTAL MODEL INPUTS</a:t>
            </a:r>
          </a:p>
        </p:txBody>
      </p:sp>
      <p:sp>
        <p:nvSpPr>
          <p:cNvPr id="13" name="Rounded Rectangle 12"/>
          <p:cNvSpPr/>
          <p:nvPr/>
        </p:nvSpPr>
        <p:spPr>
          <a:xfrm>
            <a:off x="566928" y="2834639"/>
            <a:ext cx="5440680" cy="3383279"/>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999232"/>
            <a:ext cx="5038344" cy="3054095"/>
          </a:xfrm>
          <a:prstGeom prst="rect">
            <a:avLst/>
          </a:prstGeom>
          <a:noFill/>
        </p:spPr>
        <p:txBody>
          <a:bodyPr wrap="square" lIns="0" rIns="0" tIns="0" bIns="0" anchor="t">
            <a:spAutoFit/>
          </a:bodyPr>
          <a:lstStyle/>
          <a:p>
            <a:pPr algn="l">
              <a:lnSpc>
                <a:spcPct val="112000"/>
              </a:lnSpc>
              <a:spcAft>
                <a:spcPts val="600"/>
              </a:spcAft>
            </a:pPr>
            <a:r>
              <a:rPr sz="1050" b="1">
                <a:solidFill>
                  <a:srgbClr val="4C8DFF"/>
                </a:solidFill>
                <a:latin typeface="Consolas"/>
              </a:rPr>
              <a:t>THE THREE NUMERIC MEASURES</a:t>
            </a:r>
          </a:p>
          <a:p>
            <a:pPr algn="l">
              <a:lnSpc>
                <a:spcPct val="118000"/>
              </a:lnSpc>
              <a:spcAft>
                <a:spcPts val="1200"/>
              </a:spcAft>
            </a:pPr>
            <a:r>
              <a:rPr sz="1080" b="0">
                <a:solidFill>
                  <a:srgbClr val="EAF0F7"/>
                </a:solidFill>
                <a:latin typeface="Segoe UI"/>
              </a:rPr>
              <a:t>Tenure Months, Monthly Charges, Total Charges — the only continuous quantities the model sees.</a:t>
            </a:r>
          </a:p>
          <a:p>
            <a:pPr algn="l">
              <a:lnSpc>
                <a:spcPct val="112000"/>
              </a:lnSpc>
              <a:spcAft>
                <a:spcPts val="600"/>
              </a:spcAft>
            </a:pPr>
            <a:r>
              <a:rPr sz="1050" b="1">
                <a:solidFill>
                  <a:srgbClr val="F5A623"/>
                </a:solidFill>
                <a:latin typeface="Consolas"/>
              </a:rPr>
              <a:t>WHY FLAGS, NOT NUMBERS</a:t>
            </a:r>
          </a:p>
          <a:p>
            <a:pPr algn="l">
              <a:lnSpc>
                <a:spcPct val="118000"/>
              </a:lnSpc>
              <a:spcAft>
                <a:spcPts val="1200"/>
              </a:spcAft>
            </a:pPr>
            <a:r>
              <a:rPr sz="1080" b="0">
                <a:solidFill>
                  <a:srgbClr val="EAF0F7"/>
                </a:solidFill>
                <a:latin typeface="Segoe UI"/>
              </a:rPr>
              <a:t>Assigning 1, 2, 3 to DSL / Fiber / None would invent an ordering that does not exist. Flags keep the model honest about what these categories actually are.</a:t>
            </a:r>
          </a:p>
          <a:p>
            <a:pPr algn="l">
              <a:lnSpc>
                <a:spcPct val="118000"/>
              </a:lnSpc>
              <a:spcAft>
                <a:spcPts val="0"/>
              </a:spcAft>
            </a:pPr>
            <a:r>
              <a:rPr sz="1080" b="0">
                <a:solidFill>
                  <a:srgbClr val="8CA0BE"/>
                </a:solidFill>
                <a:latin typeface="Segoe UI"/>
              </a:rPr>
              <a:t>Eleven Total Charges values are blank — every one of them belongs to a zero-tenure customer, so the missing rows never hide a churn signal.</a:t>
            </a:r>
          </a:p>
        </p:txBody>
      </p:sp>
      <p:sp>
        <p:nvSpPr>
          <p:cNvPr id="15" name="Rounded Rectangle 14"/>
          <p:cNvSpPr/>
          <p:nvPr/>
        </p:nvSpPr>
        <p:spPr>
          <a:xfrm>
            <a:off x="6172200" y="2834639"/>
            <a:ext cx="5449824" cy="3383279"/>
          </a:xfrm>
          <a:prstGeom prst="roundRect">
            <a:avLst>
              <a:gd name="adj" fmla="val 8000"/>
            </a:avLst>
          </a:prstGeom>
          <a:solidFill>
            <a:srgbClr val="162136"/>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80" y="2999232"/>
            <a:ext cx="5084064" cy="3054095"/>
          </a:xfrm>
          <a:prstGeom prst="rect">
            <a:avLst/>
          </a:prstGeom>
          <a:noFill/>
        </p:spPr>
        <p:txBody>
          <a:bodyPr wrap="square" lIns="0" rIns="0" tIns="0" bIns="0" anchor="t">
            <a:spAutoFit/>
          </a:bodyPr>
          <a:lstStyle/>
          <a:p>
            <a:pPr algn="l">
              <a:lnSpc>
                <a:spcPct val="112000"/>
              </a:lnSpc>
              <a:spcAft>
                <a:spcPts val="600"/>
              </a:spcAft>
            </a:pPr>
            <a:r>
              <a:rPr sz="1050" b="1">
                <a:solidFill>
                  <a:srgbClr val="2FD8B4"/>
                </a:solidFill>
                <a:latin typeface="Consolas"/>
              </a:rPr>
              <a:t>THE COLUMN CONTRACT</a:t>
            </a:r>
          </a:p>
          <a:p>
            <a:pPr algn="l">
              <a:lnSpc>
                <a:spcPct val="118000"/>
              </a:lnSpc>
              <a:spcAft>
                <a:spcPts val="1200"/>
              </a:spcAft>
            </a:pPr>
            <a:r>
              <a:rPr sz="1080" b="0">
                <a:solidFill>
                  <a:srgbClr val="EAF0F7"/>
                </a:solidFill>
                <a:latin typeface="Segoe UI"/>
              </a:rPr>
              <a:t>The exact 30 column names are saved to feature_columns.pkl alongside the model. The app rebuilds a feature frame and checks it against that list before scoring.</a:t>
            </a:r>
          </a:p>
          <a:p>
            <a:pPr algn="l">
              <a:lnSpc>
                <a:spcPct val="118000"/>
              </a:lnSpc>
              <a:spcAft>
                <a:spcPts val="1000"/>
              </a:spcAft>
            </a:pPr>
            <a:r>
              <a:rPr sz="1080" b="0">
                <a:solidFill>
                  <a:srgbClr val="8CA0BE"/>
                </a:solidFill>
                <a:latin typeface="Segoe UI"/>
              </a:rPr>
              <a:t>If the two ever disagree, the request fails loudly rather than silently scoring on a misaligned frame — the most common way a student project works in the notebook and quietly breaks in the app.</a:t>
            </a:r>
          </a:p>
          <a:p>
            <a:pPr algn="l">
              <a:lnSpc>
                <a:spcPct val="118000"/>
              </a:lnSpc>
              <a:spcAft>
                <a:spcPts val="0"/>
              </a:spcAft>
            </a:pPr>
            <a:r>
              <a:rPr sz="1080" b="0">
                <a:solidFill>
                  <a:srgbClr val="2FD8B4"/>
                </a:solidFill>
                <a:latin typeface="Segoe UI"/>
              </a:rPr>
              <a:t>Uploads are validated against that same list, so a mismatched CSV is rejected before a single row is scored.</a:t>
            </a:r>
          </a:p>
        </p:txBody>
      </p:sp>
      <p:sp>
        <p:nvSpPr>
          <p:cNvPr id="17" name="Rectangle 16"/>
          <p:cNvSpPr/>
          <p:nvPr/>
        </p:nvSpPr>
        <p:spPr>
          <a:xfrm>
            <a:off x="566928"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36036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15380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94724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740679" y="6296558"/>
            <a:ext cx="743145" cy="68580"/>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3411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2755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099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91443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0786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50130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29474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08818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088162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   ·   PHASE 05 · FEATURE ENGINEERING</a:t>
            </a:r>
          </a:p>
        </p:txBody>
      </p:sp>
      <p:sp>
        <p:nvSpPr>
          <p:cNvPr id="33" name="TextBox 32"/>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PHASE 06  ·  MODEL DEVELOPMENT</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Four algorithms, one pipeline</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Same features, same split, same scoring code — only the algorithm changes</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rt_models.png"/>
          <p:cNvPicPr>
            <a:picLocks noChangeAspect="1"/>
          </p:cNvPicPr>
          <p:nvPr/>
        </p:nvPicPr>
        <p:blipFill>
          <a:blip r:embed="rId2"/>
          <a:stretch>
            <a:fillRect/>
          </a:stretch>
        </p:blipFill>
        <p:spPr>
          <a:xfrm>
            <a:off x="566928" y="1559627"/>
            <a:ext cx="6501384" cy="3592441"/>
          </a:xfrm>
          <a:prstGeom prst="rect">
            <a:avLst/>
          </a:prstGeom>
        </p:spPr>
      </p:pic>
      <p:sp>
        <p:nvSpPr>
          <p:cNvPr id="8" name="TextBox 7"/>
          <p:cNvSpPr txBox="1"/>
          <p:nvPr/>
        </p:nvSpPr>
        <p:spPr>
          <a:xfrm>
            <a:off x="7324344" y="1572768"/>
            <a:ext cx="4300423" cy="3566159"/>
          </a:xfrm>
          <a:prstGeom prst="rect">
            <a:avLst/>
          </a:prstGeom>
          <a:noFill/>
        </p:spPr>
        <p:txBody>
          <a:bodyPr wrap="square" lIns="0" rIns="0" tIns="0" bIns="0" anchor="t">
            <a:spAutoFit/>
          </a:bodyPr>
          <a:lstStyle/>
          <a:p>
            <a:pPr algn="l">
              <a:lnSpc>
                <a:spcPct val="112000"/>
              </a:lnSpc>
              <a:spcAft>
                <a:spcPts val="100"/>
              </a:spcAft>
            </a:pPr>
            <a:r>
              <a:rPr sz="1080" b="1">
                <a:solidFill>
                  <a:srgbClr val="2FD8B4"/>
                </a:solidFill>
                <a:latin typeface="Segoe UI"/>
              </a:rPr>
              <a:t>▸  Logistic Regression</a:t>
            </a:r>
          </a:p>
          <a:p>
            <a:pPr algn="l">
              <a:lnSpc>
                <a:spcPct val="118000"/>
              </a:lnSpc>
              <a:spcAft>
                <a:spcPts val="0"/>
              </a:spcAft>
            </a:pPr>
            <a:r>
              <a:rPr sz="1030" b="0">
                <a:solidFill>
                  <a:srgbClr val="EAF0F7"/>
                </a:solidFill>
                <a:latin typeface="Segoe UI"/>
              </a:rPr>
              <a:t>     linear baseline; interpretable coefficients</a:t>
            </a:r>
          </a:p>
          <a:p>
            <a:pPr algn="l">
              <a:lnSpc>
                <a:spcPct val="112000"/>
              </a:lnSpc>
              <a:spcBef>
                <a:spcPts val="800"/>
              </a:spcBef>
              <a:spcAft>
                <a:spcPts val="100"/>
              </a:spcAft>
            </a:pPr>
            <a:r>
              <a:rPr sz="1080" b="1">
                <a:solidFill>
                  <a:srgbClr val="2FD8B4"/>
                </a:solidFill>
                <a:latin typeface="Segoe UI"/>
              </a:rPr>
              <a:t>▸  Random Forest</a:t>
            </a:r>
          </a:p>
          <a:p>
            <a:pPr algn="l">
              <a:lnSpc>
                <a:spcPct val="118000"/>
              </a:lnSpc>
              <a:spcAft>
                <a:spcPts val="0"/>
              </a:spcAft>
            </a:pPr>
            <a:r>
              <a:rPr sz="1030" b="0">
                <a:solidFill>
                  <a:srgbClr val="EAF0F7"/>
                </a:solidFill>
                <a:latin typeface="Segoe UI"/>
              </a:rPr>
              <a:t>     bagged trees; captures non-linearity</a:t>
            </a:r>
          </a:p>
          <a:p>
            <a:pPr algn="l">
              <a:lnSpc>
                <a:spcPct val="112000"/>
              </a:lnSpc>
              <a:spcBef>
                <a:spcPts val="800"/>
              </a:spcBef>
              <a:spcAft>
                <a:spcPts val="100"/>
              </a:spcAft>
            </a:pPr>
            <a:r>
              <a:rPr sz="1080" b="1">
                <a:solidFill>
                  <a:srgbClr val="2FD8B4"/>
                </a:solidFill>
                <a:latin typeface="Segoe UI"/>
              </a:rPr>
              <a:t>▸  XGBoost &amp; LightGBM</a:t>
            </a:r>
          </a:p>
          <a:p>
            <a:pPr algn="l">
              <a:lnSpc>
                <a:spcPct val="118000"/>
              </a:lnSpc>
              <a:spcAft>
                <a:spcPts val="0"/>
              </a:spcAft>
            </a:pPr>
            <a:r>
              <a:rPr sz="1030" b="0">
                <a:solidFill>
                  <a:srgbClr val="EAF0F7"/>
                </a:solidFill>
                <a:latin typeface="Segoe UI"/>
              </a:rPr>
              <a:t>     gradient boosting; strong on tabular data</a:t>
            </a:r>
          </a:p>
        </p:txBody>
      </p:sp>
      <p:sp>
        <p:nvSpPr>
          <p:cNvPr id="9" name="Rounded Rectangle 8"/>
          <p:cNvSpPr/>
          <p:nvPr/>
        </p:nvSpPr>
        <p:spPr>
          <a:xfrm>
            <a:off x="7324344" y="4151376"/>
            <a:ext cx="4300423" cy="1042415"/>
          </a:xfrm>
          <a:prstGeom prst="roundRect">
            <a:avLst>
              <a:gd name="adj" fmla="val 8000"/>
            </a:avLst>
          </a:prstGeom>
          <a:solidFill>
            <a:srgbClr val="162136"/>
          </a:solidFill>
          <a:ln w="1524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88936" y="4261104"/>
            <a:ext cx="3971239" cy="877824"/>
          </a:xfrm>
          <a:prstGeom prst="rect">
            <a:avLst/>
          </a:prstGeom>
          <a:noFill/>
        </p:spPr>
        <p:txBody>
          <a:bodyPr wrap="square" lIns="0" rIns="0" tIns="0" bIns="0" anchor="t">
            <a:spAutoFit/>
          </a:bodyPr>
          <a:lstStyle/>
          <a:p>
            <a:pPr algn="l">
              <a:lnSpc>
                <a:spcPct val="112000"/>
              </a:lnSpc>
              <a:spcAft>
                <a:spcPts val="300"/>
              </a:spcAft>
            </a:pPr>
            <a:r>
              <a:rPr sz="1019" b="1">
                <a:solidFill>
                  <a:srgbClr val="F5A623"/>
                </a:solidFill>
                <a:latin typeface="Segoe UI"/>
              </a:rPr>
              <a:t>Benchmark ladder (F1)</a:t>
            </a:r>
          </a:p>
          <a:p>
            <a:pPr algn="l">
              <a:lnSpc>
                <a:spcPct val="112000"/>
              </a:lnSpc>
              <a:spcAft>
                <a:spcPts val="0"/>
              </a:spcAft>
            </a:pPr>
            <a:r>
              <a:rPr sz="1019" b="0">
                <a:solidFill>
                  <a:srgbClr val="EAF0F7"/>
                </a:solidFill>
                <a:latin typeface="Consolas"/>
              </a:rPr>
              <a:t>LR 60.6 · LightGBM 59.6 · XGBoost 58.5 · RF 57.1</a:t>
            </a:r>
          </a:p>
        </p:txBody>
      </p:sp>
      <p:sp>
        <p:nvSpPr>
          <p:cNvPr id="11" name="Rounded Rectangle 10"/>
          <p:cNvSpPr/>
          <p:nvPr/>
        </p:nvSpPr>
        <p:spPr>
          <a:xfrm>
            <a:off x="566928" y="5340096"/>
            <a:ext cx="11057839" cy="877824"/>
          </a:xfrm>
          <a:prstGeom prst="roundRect">
            <a:avLst>
              <a:gd name="adj" fmla="val 8000"/>
            </a:avLst>
          </a:prstGeom>
          <a:solidFill>
            <a:srgbClr val="162136"/>
          </a:solidFill>
          <a:ln w="1524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5468112"/>
            <a:ext cx="10692079" cy="640080"/>
          </a:xfrm>
          <a:prstGeom prst="rect">
            <a:avLst/>
          </a:prstGeom>
          <a:noFill/>
        </p:spPr>
        <p:txBody>
          <a:bodyPr wrap="square" lIns="0" rIns="0" tIns="0" bIns="0" anchor="t">
            <a:spAutoFit/>
          </a:bodyPr>
          <a:lstStyle/>
          <a:p>
            <a:pPr algn="l">
              <a:lnSpc>
                <a:spcPct val="112000"/>
              </a:lnSpc>
              <a:spcAft>
                <a:spcPts val="300"/>
              </a:spcAft>
            </a:pPr>
            <a:r>
              <a:rPr sz="1150" b="1">
                <a:solidFill>
                  <a:srgbClr val="F5A623"/>
                </a:solidFill>
                <a:latin typeface="Segoe UI"/>
              </a:rPr>
              <a:t>WHY FOUR MODELS AND NOT ONE</a:t>
            </a:r>
          </a:p>
          <a:p>
            <a:pPr algn="l">
              <a:lnSpc>
                <a:spcPct val="116000"/>
              </a:lnSpc>
              <a:spcAft>
                <a:spcPts val="0"/>
              </a:spcAft>
            </a:pPr>
            <a:r>
              <a:rPr sz="1080" b="0">
                <a:solidFill>
                  <a:srgbClr val="EAF0F7"/>
                </a:solidFill>
                <a:latin typeface="Segoe UI"/>
              </a:rPr>
              <a:t>A single model proves nothing. Four algorithms on the same pipeline show the result is a property of the features and the problem — not of one lucky configuration. Accuracy, precision, recall, F1 and ROC-AUC were all recorded, and the winner was chosen on F1 and ROC-AUC, never accuracy.</a:t>
            </a:r>
          </a:p>
        </p:txBody>
      </p:sp>
      <p:sp>
        <p:nvSpPr>
          <p:cNvPr id="13" name="Rectangle 12"/>
          <p:cNvSpPr/>
          <p:nvPr/>
        </p:nvSpPr>
        <p:spPr>
          <a:xfrm>
            <a:off x="566928"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36036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15380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94724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4067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34117" y="6296558"/>
            <a:ext cx="743145" cy="68580"/>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32755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099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1443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0786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50130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9474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08818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88162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   ·   PHASE 06 · MODEL DEVELOPMENT</a:t>
            </a:r>
          </a:p>
        </p:txBody>
      </p:sp>
      <p:sp>
        <p:nvSpPr>
          <p:cNvPr id="29" name="TextBox 28"/>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PHASE 07  ·  MODEL EVALUATION</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Measuring the model — and its stability</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Held-out test set of 1,409 customers, plus five-fold cross-validation</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rt_confusion.png"/>
          <p:cNvPicPr>
            <a:picLocks noChangeAspect="1"/>
          </p:cNvPicPr>
          <p:nvPr/>
        </p:nvPicPr>
        <p:blipFill>
          <a:blip r:embed="rId2"/>
          <a:stretch>
            <a:fillRect/>
          </a:stretch>
        </p:blipFill>
        <p:spPr>
          <a:xfrm>
            <a:off x="566928" y="1517904"/>
            <a:ext cx="3408697" cy="2523861"/>
          </a:xfrm>
          <a:prstGeom prst="rect">
            <a:avLst/>
          </a:prstGeom>
        </p:spPr>
      </p:pic>
      <p:pic>
        <p:nvPicPr>
          <p:cNvPr id="8" name="Picture 7" descr="chart_cv.png"/>
          <p:cNvPicPr>
            <a:picLocks noChangeAspect="1"/>
          </p:cNvPicPr>
          <p:nvPr/>
        </p:nvPicPr>
        <p:blipFill>
          <a:blip r:embed="rId3"/>
          <a:stretch>
            <a:fillRect/>
          </a:stretch>
        </p:blipFill>
        <p:spPr>
          <a:xfrm>
            <a:off x="4158505" y="1517904"/>
            <a:ext cx="7466261" cy="2523861"/>
          </a:xfrm>
          <a:prstGeom prst="rect">
            <a:avLst/>
          </a:prstGeom>
        </p:spPr>
      </p:pic>
      <p:sp>
        <p:nvSpPr>
          <p:cNvPr id="9" name="Rounded Rectangle 8"/>
          <p:cNvSpPr/>
          <p:nvPr/>
        </p:nvSpPr>
        <p:spPr>
          <a:xfrm>
            <a:off x="566928" y="4279392"/>
            <a:ext cx="2094524" cy="106070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4407407"/>
            <a:ext cx="1838492" cy="859535"/>
          </a:xfrm>
          <a:prstGeom prst="rect">
            <a:avLst/>
          </a:prstGeom>
          <a:noFill/>
        </p:spPr>
        <p:txBody>
          <a:bodyPr wrap="square" lIns="0" rIns="0" tIns="0" bIns="0" anchor="t">
            <a:spAutoFit/>
          </a:bodyPr>
          <a:lstStyle/>
          <a:p>
            <a:pPr algn="l">
              <a:lnSpc>
                <a:spcPct val="112000"/>
              </a:lnSpc>
              <a:spcAft>
                <a:spcPts val="200"/>
              </a:spcAft>
            </a:pPr>
            <a:r>
              <a:rPr sz="2000" b="1">
                <a:solidFill>
                  <a:srgbClr val="EAF0F7"/>
                </a:solidFill>
                <a:latin typeface="Segoe UI"/>
              </a:rPr>
              <a:t>80.34%</a:t>
            </a:r>
          </a:p>
          <a:p>
            <a:pPr algn="l">
              <a:lnSpc>
                <a:spcPct val="112000"/>
              </a:lnSpc>
              <a:spcAft>
                <a:spcPts val="0"/>
              </a:spcAft>
            </a:pPr>
            <a:r>
              <a:rPr sz="900" b="0">
                <a:solidFill>
                  <a:srgbClr val="8CA0BE"/>
                </a:solidFill>
                <a:latin typeface="Segoe UI"/>
              </a:rPr>
              <a:t>ACCURACY</a:t>
            </a:r>
          </a:p>
        </p:txBody>
      </p:sp>
      <p:sp>
        <p:nvSpPr>
          <p:cNvPr id="11" name="Rounded Rectangle 10"/>
          <p:cNvSpPr/>
          <p:nvPr/>
        </p:nvSpPr>
        <p:spPr>
          <a:xfrm>
            <a:off x="2807756" y="4279392"/>
            <a:ext cx="2094524" cy="106070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54060" y="4407407"/>
            <a:ext cx="1838492" cy="859535"/>
          </a:xfrm>
          <a:prstGeom prst="rect">
            <a:avLst/>
          </a:prstGeom>
          <a:noFill/>
        </p:spPr>
        <p:txBody>
          <a:bodyPr wrap="square" lIns="0" rIns="0" tIns="0" bIns="0" anchor="t">
            <a:spAutoFit/>
          </a:bodyPr>
          <a:lstStyle/>
          <a:p>
            <a:pPr algn="l">
              <a:lnSpc>
                <a:spcPct val="112000"/>
              </a:lnSpc>
              <a:spcAft>
                <a:spcPts val="200"/>
              </a:spcAft>
            </a:pPr>
            <a:r>
              <a:rPr sz="2000" b="1">
                <a:solidFill>
                  <a:srgbClr val="EAF0F7"/>
                </a:solidFill>
                <a:latin typeface="Segoe UI"/>
              </a:rPr>
              <a:t>64.74%</a:t>
            </a:r>
          </a:p>
          <a:p>
            <a:pPr algn="l">
              <a:lnSpc>
                <a:spcPct val="112000"/>
              </a:lnSpc>
              <a:spcAft>
                <a:spcPts val="0"/>
              </a:spcAft>
            </a:pPr>
            <a:r>
              <a:rPr sz="900" b="0">
                <a:solidFill>
                  <a:srgbClr val="8CA0BE"/>
                </a:solidFill>
                <a:latin typeface="Segoe UI"/>
              </a:rPr>
              <a:t>PRECISION</a:t>
            </a:r>
          </a:p>
        </p:txBody>
      </p:sp>
      <p:sp>
        <p:nvSpPr>
          <p:cNvPr id="13" name="Rounded Rectangle 12"/>
          <p:cNvSpPr/>
          <p:nvPr/>
        </p:nvSpPr>
        <p:spPr>
          <a:xfrm>
            <a:off x="5048585" y="4279392"/>
            <a:ext cx="2094524" cy="106070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94889" y="4407407"/>
            <a:ext cx="1838492" cy="859535"/>
          </a:xfrm>
          <a:prstGeom prst="rect">
            <a:avLst/>
          </a:prstGeom>
          <a:noFill/>
        </p:spPr>
        <p:txBody>
          <a:bodyPr wrap="square" lIns="0" rIns="0" tIns="0" bIns="0" anchor="t">
            <a:spAutoFit/>
          </a:bodyPr>
          <a:lstStyle/>
          <a:p>
            <a:pPr algn="l">
              <a:lnSpc>
                <a:spcPct val="112000"/>
              </a:lnSpc>
              <a:spcAft>
                <a:spcPts val="200"/>
              </a:spcAft>
            </a:pPr>
            <a:r>
              <a:rPr sz="2000" b="1">
                <a:solidFill>
                  <a:srgbClr val="F5A623"/>
                </a:solidFill>
                <a:latin typeface="Segoe UI"/>
              </a:rPr>
              <a:t>56.95%</a:t>
            </a:r>
          </a:p>
          <a:p>
            <a:pPr algn="l">
              <a:lnSpc>
                <a:spcPct val="112000"/>
              </a:lnSpc>
              <a:spcAft>
                <a:spcPts val="0"/>
              </a:spcAft>
            </a:pPr>
            <a:r>
              <a:rPr sz="900" b="0">
                <a:solidFill>
                  <a:srgbClr val="8CA0BE"/>
                </a:solidFill>
                <a:latin typeface="Segoe UI"/>
              </a:rPr>
              <a:t>RECALL</a:t>
            </a:r>
          </a:p>
        </p:txBody>
      </p:sp>
      <p:sp>
        <p:nvSpPr>
          <p:cNvPr id="15" name="Rounded Rectangle 14"/>
          <p:cNvSpPr/>
          <p:nvPr/>
        </p:nvSpPr>
        <p:spPr>
          <a:xfrm>
            <a:off x="7289413" y="4279392"/>
            <a:ext cx="2094524" cy="106070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35717" y="4407407"/>
            <a:ext cx="1838492" cy="859535"/>
          </a:xfrm>
          <a:prstGeom prst="rect">
            <a:avLst/>
          </a:prstGeom>
          <a:noFill/>
        </p:spPr>
        <p:txBody>
          <a:bodyPr wrap="square" lIns="0" rIns="0" tIns="0" bIns="0" anchor="t">
            <a:spAutoFit/>
          </a:bodyPr>
          <a:lstStyle/>
          <a:p>
            <a:pPr algn="l">
              <a:lnSpc>
                <a:spcPct val="112000"/>
              </a:lnSpc>
              <a:spcAft>
                <a:spcPts val="200"/>
              </a:spcAft>
            </a:pPr>
            <a:r>
              <a:rPr sz="2000" b="1">
                <a:solidFill>
                  <a:srgbClr val="2FD8B4"/>
                </a:solidFill>
                <a:latin typeface="Segoe UI"/>
              </a:rPr>
              <a:t>60.60%</a:t>
            </a:r>
          </a:p>
          <a:p>
            <a:pPr algn="l">
              <a:lnSpc>
                <a:spcPct val="112000"/>
              </a:lnSpc>
              <a:spcAft>
                <a:spcPts val="0"/>
              </a:spcAft>
            </a:pPr>
            <a:r>
              <a:rPr sz="900" b="0">
                <a:solidFill>
                  <a:srgbClr val="8CA0BE"/>
                </a:solidFill>
                <a:latin typeface="Segoe UI"/>
              </a:rPr>
              <a:t>F1</a:t>
            </a:r>
          </a:p>
        </p:txBody>
      </p:sp>
      <p:sp>
        <p:nvSpPr>
          <p:cNvPr id="17" name="Rounded Rectangle 16"/>
          <p:cNvSpPr/>
          <p:nvPr/>
        </p:nvSpPr>
        <p:spPr>
          <a:xfrm>
            <a:off x="9530242" y="4279392"/>
            <a:ext cx="2094524" cy="106070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76546" y="4407407"/>
            <a:ext cx="1838492" cy="859535"/>
          </a:xfrm>
          <a:prstGeom prst="rect">
            <a:avLst/>
          </a:prstGeom>
          <a:noFill/>
        </p:spPr>
        <p:txBody>
          <a:bodyPr wrap="square" lIns="0" rIns="0" tIns="0" bIns="0" anchor="t">
            <a:spAutoFit/>
          </a:bodyPr>
          <a:lstStyle/>
          <a:p>
            <a:pPr algn="l">
              <a:lnSpc>
                <a:spcPct val="112000"/>
              </a:lnSpc>
              <a:spcAft>
                <a:spcPts val="200"/>
              </a:spcAft>
            </a:pPr>
            <a:r>
              <a:rPr sz="2000" b="1">
                <a:solidFill>
                  <a:srgbClr val="2FD8B4"/>
                </a:solidFill>
                <a:latin typeface="Segoe UI"/>
              </a:rPr>
              <a:t>84.91%</a:t>
            </a:r>
          </a:p>
          <a:p>
            <a:pPr algn="l">
              <a:lnSpc>
                <a:spcPct val="112000"/>
              </a:lnSpc>
              <a:spcAft>
                <a:spcPts val="0"/>
              </a:spcAft>
            </a:pPr>
            <a:r>
              <a:rPr sz="900" b="0">
                <a:solidFill>
                  <a:srgbClr val="8CA0BE"/>
                </a:solidFill>
                <a:latin typeface="Segoe UI"/>
              </a:rPr>
              <a:t>ROC-AUC</a:t>
            </a:r>
          </a:p>
        </p:txBody>
      </p:sp>
      <p:sp>
        <p:nvSpPr>
          <p:cNvPr id="19" name="TextBox 18"/>
          <p:cNvSpPr txBox="1"/>
          <p:nvPr/>
        </p:nvSpPr>
        <p:spPr>
          <a:xfrm>
            <a:off x="566928" y="5431536"/>
            <a:ext cx="11057839" cy="786383"/>
          </a:xfrm>
          <a:prstGeom prst="rect">
            <a:avLst/>
          </a:prstGeom>
          <a:noFill/>
        </p:spPr>
        <p:txBody>
          <a:bodyPr wrap="square" lIns="0" rIns="0" tIns="0" bIns="0" anchor="t">
            <a:spAutoFit/>
          </a:bodyPr>
          <a:lstStyle/>
          <a:p>
            <a:pPr algn="l">
              <a:lnSpc>
                <a:spcPct val="116000"/>
              </a:lnSpc>
              <a:spcAft>
                <a:spcPts val="0"/>
              </a:spcAft>
            </a:pPr>
            <a:r>
              <a:rPr sz="1080" b="0">
                <a:solidFill>
                  <a:srgbClr val="8CA0BE"/>
                </a:solidFill>
                <a:latin typeface="Segoe UI"/>
              </a:rPr>
              <a:t>Honest reading: of 374 churners in the test set the model catches 213. The deployed 60.60% F1 sits inside a cross-validated range of 62.11% ± 2.96% (accuracy 81.19% ± 1.18%), so the single split is not carrying the result — and recall is the number this project works on next.</a:t>
            </a:r>
          </a:p>
        </p:txBody>
      </p:sp>
      <p:sp>
        <p:nvSpPr>
          <p:cNvPr id="20" name="Rectangle 19"/>
          <p:cNvSpPr/>
          <p:nvPr/>
        </p:nvSpPr>
        <p:spPr>
          <a:xfrm>
            <a:off x="566928"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36036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15380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94724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74067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3411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327555" y="6296558"/>
            <a:ext cx="743145" cy="68580"/>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2099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1443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0786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50130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29474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008818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88162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   ·   PHASE 07 · MODEL EVALUATION</a:t>
            </a:r>
          </a:p>
        </p:txBody>
      </p:sp>
      <p:sp>
        <p:nvSpPr>
          <p:cNvPr id="36" name="TextBox 35"/>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PHASE 08  ·  MODEL SELECTION</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Why Logistic Regression ships</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Four models, five metrics, one decision — made on F1 and ROC-AUC</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517904"/>
            <a:ext cx="3977639" cy="665683"/>
          </a:xfrm>
          <a:prstGeom prst="roundRect">
            <a:avLst>
              <a:gd name="adj" fmla="val 8000"/>
            </a:avLst>
          </a:prstGeom>
          <a:solidFill>
            <a:srgbClr val="162136"/>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704441"/>
            <a:ext cx="3758183" cy="292608"/>
          </a:xfrm>
          <a:prstGeom prst="rect">
            <a:avLst/>
          </a:prstGeom>
          <a:noFill/>
        </p:spPr>
        <p:txBody>
          <a:bodyPr wrap="square" lIns="0" rIns="0" tIns="0" bIns="0" anchor="t">
            <a:spAutoFit/>
          </a:bodyPr>
          <a:lstStyle/>
          <a:p>
            <a:pPr algn="l">
              <a:lnSpc>
                <a:spcPct val="112000"/>
              </a:lnSpc>
              <a:spcAft>
                <a:spcPts val="0"/>
              </a:spcAft>
            </a:pPr>
            <a:r>
              <a:rPr sz="1050" b="1">
                <a:solidFill>
                  <a:srgbClr val="8CA0BE"/>
                </a:solidFill>
                <a:latin typeface="Consolas"/>
              </a:rPr>
              <a:t>Model</a:t>
            </a:r>
          </a:p>
        </p:txBody>
      </p:sp>
      <p:sp>
        <p:nvSpPr>
          <p:cNvPr id="9" name="Rounded Rectangle 8"/>
          <p:cNvSpPr/>
          <p:nvPr/>
        </p:nvSpPr>
        <p:spPr>
          <a:xfrm>
            <a:off x="4544568" y="1517904"/>
            <a:ext cx="1426464" cy="665683"/>
          </a:xfrm>
          <a:prstGeom prst="roundRect">
            <a:avLst>
              <a:gd name="adj" fmla="val 8000"/>
            </a:avLst>
          </a:prstGeom>
          <a:solidFill>
            <a:srgbClr val="162136"/>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1704441"/>
            <a:ext cx="1207008" cy="292608"/>
          </a:xfrm>
          <a:prstGeom prst="rect">
            <a:avLst/>
          </a:prstGeom>
          <a:noFill/>
        </p:spPr>
        <p:txBody>
          <a:bodyPr wrap="square" lIns="0" rIns="0" tIns="0" bIns="0" anchor="t">
            <a:spAutoFit/>
          </a:bodyPr>
          <a:lstStyle/>
          <a:p>
            <a:pPr algn="l">
              <a:lnSpc>
                <a:spcPct val="112000"/>
              </a:lnSpc>
              <a:spcAft>
                <a:spcPts val="0"/>
              </a:spcAft>
            </a:pPr>
            <a:r>
              <a:rPr sz="1050" b="1">
                <a:solidFill>
                  <a:srgbClr val="8CA0BE"/>
                </a:solidFill>
                <a:latin typeface="Consolas"/>
              </a:rPr>
              <a:t>Accuracy</a:t>
            </a:r>
          </a:p>
        </p:txBody>
      </p:sp>
      <p:sp>
        <p:nvSpPr>
          <p:cNvPr id="11" name="Rounded Rectangle 10"/>
          <p:cNvSpPr/>
          <p:nvPr/>
        </p:nvSpPr>
        <p:spPr>
          <a:xfrm>
            <a:off x="5971031" y="1517904"/>
            <a:ext cx="1426464" cy="665683"/>
          </a:xfrm>
          <a:prstGeom prst="roundRect">
            <a:avLst>
              <a:gd name="adj" fmla="val 8000"/>
            </a:avLst>
          </a:prstGeom>
          <a:solidFill>
            <a:srgbClr val="162136"/>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99047" y="1704441"/>
            <a:ext cx="1207008" cy="292608"/>
          </a:xfrm>
          <a:prstGeom prst="rect">
            <a:avLst/>
          </a:prstGeom>
          <a:noFill/>
        </p:spPr>
        <p:txBody>
          <a:bodyPr wrap="square" lIns="0" rIns="0" tIns="0" bIns="0" anchor="t">
            <a:spAutoFit/>
          </a:bodyPr>
          <a:lstStyle/>
          <a:p>
            <a:pPr algn="l">
              <a:lnSpc>
                <a:spcPct val="112000"/>
              </a:lnSpc>
              <a:spcAft>
                <a:spcPts val="0"/>
              </a:spcAft>
            </a:pPr>
            <a:r>
              <a:rPr sz="1050" b="1">
                <a:solidFill>
                  <a:srgbClr val="8CA0BE"/>
                </a:solidFill>
                <a:latin typeface="Consolas"/>
              </a:rPr>
              <a:t>Precision</a:t>
            </a:r>
          </a:p>
        </p:txBody>
      </p:sp>
      <p:sp>
        <p:nvSpPr>
          <p:cNvPr id="13" name="Rounded Rectangle 12"/>
          <p:cNvSpPr/>
          <p:nvPr/>
        </p:nvSpPr>
        <p:spPr>
          <a:xfrm>
            <a:off x="7397496" y="1517904"/>
            <a:ext cx="1298448" cy="665683"/>
          </a:xfrm>
          <a:prstGeom prst="roundRect">
            <a:avLst>
              <a:gd name="adj" fmla="val 8000"/>
            </a:avLst>
          </a:prstGeom>
          <a:solidFill>
            <a:srgbClr val="162136"/>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25512" y="1704441"/>
            <a:ext cx="1078992" cy="292608"/>
          </a:xfrm>
          <a:prstGeom prst="rect">
            <a:avLst/>
          </a:prstGeom>
          <a:noFill/>
        </p:spPr>
        <p:txBody>
          <a:bodyPr wrap="square" lIns="0" rIns="0" tIns="0" bIns="0" anchor="t">
            <a:spAutoFit/>
          </a:bodyPr>
          <a:lstStyle/>
          <a:p>
            <a:pPr algn="l">
              <a:lnSpc>
                <a:spcPct val="112000"/>
              </a:lnSpc>
              <a:spcAft>
                <a:spcPts val="0"/>
              </a:spcAft>
            </a:pPr>
            <a:r>
              <a:rPr sz="1050" b="1">
                <a:solidFill>
                  <a:srgbClr val="8CA0BE"/>
                </a:solidFill>
                <a:latin typeface="Consolas"/>
              </a:rPr>
              <a:t>Recall</a:t>
            </a:r>
          </a:p>
        </p:txBody>
      </p:sp>
      <p:sp>
        <p:nvSpPr>
          <p:cNvPr id="15" name="Rounded Rectangle 14"/>
          <p:cNvSpPr/>
          <p:nvPr/>
        </p:nvSpPr>
        <p:spPr>
          <a:xfrm>
            <a:off x="8695944" y="1517904"/>
            <a:ext cx="1298448" cy="665683"/>
          </a:xfrm>
          <a:prstGeom prst="roundRect">
            <a:avLst>
              <a:gd name="adj" fmla="val 8000"/>
            </a:avLst>
          </a:prstGeom>
          <a:solidFill>
            <a:srgbClr val="162136"/>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23960" y="1704441"/>
            <a:ext cx="1078992" cy="292608"/>
          </a:xfrm>
          <a:prstGeom prst="rect">
            <a:avLst/>
          </a:prstGeom>
          <a:noFill/>
        </p:spPr>
        <p:txBody>
          <a:bodyPr wrap="square" lIns="0" rIns="0" tIns="0" bIns="0" anchor="t">
            <a:spAutoFit/>
          </a:bodyPr>
          <a:lstStyle/>
          <a:p>
            <a:pPr algn="l">
              <a:lnSpc>
                <a:spcPct val="112000"/>
              </a:lnSpc>
              <a:spcAft>
                <a:spcPts val="0"/>
              </a:spcAft>
            </a:pPr>
            <a:r>
              <a:rPr sz="1050" b="1">
                <a:solidFill>
                  <a:srgbClr val="8CA0BE"/>
                </a:solidFill>
                <a:latin typeface="Consolas"/>
              </a:rPr>
              <a:t>F1</a:t>
            </a:r>
          </a:p>
        </p:txBody>
      </p:sp>
      <p:sp>
        <p:nvSpPr>
          <p:cNvPr id="17" name="Rounded Rectangle 16"/>
          <p:cNvSpPr/>
          <p:nvPr/>
        </p:nvSpPr>
        <p:spPr>
          <a:xfrm>
            <a:off x="9994392" y="1517904"/>
            <a:ext cx="1636776" cy="665683"/>
          </a:xfrm>
          <a:prstGeom prst="roundRect">
            <a:avLst>
              <a:gd name="adj" fmla="val 8000"/>
            </a:avLst>
          </a:prstGeom>
          <a:solidFill>
            <a:srgbClr val="162136"/>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22408" y="1704441"/>
            <a:ext cx="1417320" cy="292608"/>
          </a:xfrm>
          <a:prstGeom prst="rect">
            <a:avLst/>
          </a:prstGeom>
          <a:noFill/>
        </p:spPr>
        <p:txBody>
          <a:bodyPr wrap="square" lIns="0" rIns="0" tIns="0" bIns="0" anchor="t">
            <a:spAutoFit/>
          </a:bodyPr>
          <a:lstStyle/>
          <a:p>
            <a:pPr algn="l">
              <a:lnSpc>
                <a:spcPct val="112000"/>
              </a:lnSpc>
              <a:spcAft>
                <a:spcPts val="0"/>
              </a:spcAft>
            </a:pPr>
            <a:r>
              <a:rPr sz="1050" b="1">
                <a:solidFill>
                  <a:srgbClr val="8CA0BE"/>
                </a:solidFill>
                <a:latin typeface="Consolas"/>
              </a:rPr>
              <a:t>ROC-AUC</a:t>
            </a:r>
          </a:p>
        </p:txBody>
      </p:sp>
      <p:sp>
        <p:nvSpPr>
          <p:cNvPr id="19" name="Rounded Rectangle 18"/>
          <p:cNvSpPr/>
          <p:nvPr/>
        </p:nvSpPr>
        <p:spPr>
          <a:xfrm>
            <a:off x="566928" y="2197303"/>
            <a:ext cx="3977639" cy="665683"/>
          </a:xfrm>
          <a:prstGeom prst="roundRect">
            <a:avLst>
              <a:gd name="adj" fmla="val 8000"/>
            </a:avLst>
          </a:prstGeom>
          <a:solidFill>
            <a:srgbClr val="111A2C"/>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4944" y="2383840"/>
            <a:ext cx="3758183" cy="292608"/>
          </a:xfrm>
          <a:prstGeom prst="rect">
            <a:avLst/>
          </a:prstGeom>
          <a:noFill/>
        </p:spPr>
        <p:txBody>
          <a:bodyPr wrap="square" lIns="0" rIns="0" tIns="0" bIns="0" anchor="t">
            <a:spAutoFit/>
          </a:bodyPr>
          <a:lstStyle/>
          <a:p>
            <a:pPr algn="l">
              <a:lnSpc>
                <a:spcPct val="112000"/>
              </a:lnSpc>
              <a:spcAft>
                <a:spcPts val="0"/>
              </a:spcAft>
            </a:pPr>
            <a:r>
              <a:rPr sz="1150" b="1">
                <a:solidFill>
                  <a:srgbClr val="EAF0F7"/>
                </a:solidFill>
                <a:latin typeface="Segoe UI"/>
              </a:rPr>
              <a:t>Logistic Regression  ← selected</a:t>
            </a:r>
          </a:p>
        </p:txBody>
      </p:sp>
      <p:sp>
        <p:nvSpPr>
          <p:cNvPr id="21" name="Rounded Rectangle 20"/>
          <p:cNvSpPr/>
          <p:nvPr/>
        </p:nvSpPr>
        <p:spPr>
          <a:xfrm>
            <a:off x="4544568" y="2197303"/>
            <a:ext cx="1426464" cy="665683"/>
          </a:xfrm>
          <a:prstGeom prst="roundRect">
            <a:avLst>
              <a:gd name="adj" fmla="val 8000"/>
            </a:avLst>
          </a:prstGeom>
          <a:solidFill>
            <a:srgbClr val="111A2C"/>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72583" y="2383840"/>
            <a:ext cx="1207008" cy="292608"/>
          </a:xfrm>
          <a:prstGeom prst="rect">
            <a:avLst/>
          </a:prstGeom>
          <a:noFill/>
        </p:spPr>
        <p:txBody>
          <a:bodyPr wrap="square" lIns="0" rIns="0" tIns="0" bIns="0" anchor="t">
            <a:spAutoFit/>
          </a:bodyPr>
          <a:lstStyle/>
          <a:p>
            <a:pPr algn="l">
              <a:lnSpc>
                <a:spcPct val="112000"/>
              </a:lnSpc>
              <a:spcAft>
                <a:spcPts val="0"/>
              </a:spcAft>
            </a:pPr>
            <a:r>
              <a:rPr sz="1150" b="0">
                <a:solidFill>
                  <a:srgbClr val="2FD8B4"/>
                </a:solidFill>
                <a:latin typeface="Consolas"/>
              </a:rPr>
              <a:t>80.34%</a:t>
            </a:r>
          </a:p>
        </p:txBody>
      </p:sp>
      <p:sp>
        <p:nvSpPr>
          <p:cNvPr id="23" name="Rounded Rectangle 22"/>
          <p:cNvSpPr/>
          <p:nvPr/>
        </p:nvSpPr>
        <p:spPr>
          <a:xfrm>
            <a:off x="5971031" y="2197303"/>
            <a:ext cx="1426464" cy="665683"/>
          </a:xfrm>
          <a:prstGeom prst="roundRect">
            <a:avLst>
              <a:gd name="adj" fmla="val 8000"/>
            </a:avLst>
          </a:prstGeom>
          <a:solidFill>
            <a:srgbClr val="111A2C"/>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99047" y="2383840"/>
            <a:ext cx="1207008" cy="292608"/>
          </a:xfrm>
          <a:prstGeom prst="rect">
            <a:avLst/>
          </a:prstGeom>
          <a:noFill/>
        </p:spPr>
        <p:txBody>
          <a:bodyPr wrap="square" lIns="0" rIns="0" tIns="0" bIns="0" anchor="t">
            <a:spAutoFit/>
          </a:bodyPr>
          <a:lstStyle/>
          <a:p>
            <a:pPr algn="l">
              <a:lnSpc>
                <a:spcPct val="112000"/>
              </a:lnSpc>
              <a:spcAft>
                <a:spcPts val="0"/>
              </a:spcAft>
            </a:pPr>
            <a:r>
              <a:rPr sz="1150" b="0">
                <a:solidFill>
                  <a:srgbClr val="2FD8B4"/>
                </a:solidFill>
                <a:latin typeface="Consolas"/>
              </a:rPr>
              <a:t>64.74%</a:t>
            </a:r>
          </a:p>
        </p:txBody>
      </p:sp>
      <p:sp>
        <p:nvSpPr>
          <p:cNvPr id="25" name="Rounded Rectangle 24"/>
          <p:cNvSpPr/>
          <p:nvPr/>
        </p:nvSpPr>
        <p:spPr>
          <a:xfrm>
            <a:off x="7397496" y="2197303"/>
            <a:ext cx="1298448" cy="665683"/>
          </a:xfrm>
          <a:prstGeom prst="roundRect">
            <a:avLst>
              <a:gd name="adj" fmla="val 8000"/>
            </a:avLst>
          </a:prstGeom>
          <a:solidFill>
            <a:srgbClr val="111A2C"/>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25512" y="2383840"/>
            <a:ext cx="1078992" cy="292608"/>
          </a:xfrm>
          <a:prstGeom prst="rect">
            <a:avLst/>
          </a:prstGeom>
          <a:noFill/>
        </p:spPr>
        <p:txBody>
          <a:bodyPr wrap="square" lIns="0" rIns="0" tIns="0" bIns="0" anchor="t">
            <a:spAutoFit/>
          </a:bodyPr>
          <a:lstStyle/>
          <a:p>
            <a:pPr algn="l">
              <a:lnSpc>
                <a:spcPct val="112000"/>
              </a:lnSpc>
              <a:spcAft>
                <a:spcPts val="0"/>
              </a:spcAft>
            </a:pPr>
            <a:r>
              <a:rPr sz="1150" b="0">
                <a:solidFill>
                  <a:srgbClr val="2FD8B4"/>
                </a:solidFill>
                <a:latin typeface="Consolas"/>
              </a:rPr>
              <a:t>56.95%</a:t>
            </a:r>
          </a:p>
        </p:txBody>
      </p:sp>
      <p:sp>
        <p:nvSpPr>
          <p:cNvPr id="27" name="Rounded Rectangle 26"/>
          <p:cNvSpPr/>
          <p:nvPr/>
        </p:nvSpPr>
        <p:spPr>
          <a:xfrm>
            <a:off x="8695944" y="2197303"/>
            <a:ext cx="1298448" cy="665683"/>
          </a:xfrm>
          <a:prstGeom prst="roundRect">
            <a:avLst>
              <a:gd name="adj" fmla="val 8000"/>
            </a:avLst>
          </a:prstGeom>
          <a:solidFill>
            <a:srgbClr val="111A2C"/>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823960" y="2383840"/>
            <a:ext cx="1078992" cy="292608"/>
          </a:xfrm>
          <a:prstGeom prst="rect">
            <a:avLst/>
          </a:prstGeom>
          <a:noFill/>
        </p:spPr>
        <p:txBody>
          <a:bodyPr wrap="square" lIns="0" rIns="0" tIns="0" bIns="0" anchor="t">
            <a:spAutoFit/>
          </a:bodyPr>
          <a:lstStyle/>
          <a:p>
            <a:pPr algn="l">
              <a:lnSpc>
                <a:spcPct val="112000"/>
              </a:lnSpc>
              <a:spcAft>
                <a:spcPts val="0"/>
              </a:spcAft>
            </a:pPr>
            <a:r>
              <a:rPr sz="1150" b="0">
                <a:solidFill>
                  <a:srgbClr val="2FD8B4"/>
                </a:solidFill>
                <a:latin typeface="Consolas"/>
              </a:rPr>
              <a:t>60.60%</a:t>
            </a:r>
          </a:p>
        </p:txBody>
      </p:sp>
      <p:sp>
        <p:nvSpPr>
          <p:cNvPr id="29" name="Rounded Rectangle 28"/>
          <p:cNvSpPr/>
          <p:nvPr/>
        </p:nvSpPr>
        <p:spPr>
          <a:xfrm>
            <a:off x="9994392" y="2197303"/>
            <a:ext cx="1636776" cy="665683"/>
          </a:xfrm>
          <a:prstGeom prst="roundRect">
            <a:avLst>
              <a:gd name="adj" fmla="val 8000"/>
            </a:avLst>
          </a:prstGeom>
          <a:solidFill>
            <a:srgbClr val="111A2C"/>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22408" y="2383840"/>
            <a:ext cx="1417320" cy="292608"/>
          </a:xfrm>
          <a:prstGeom prst="rect">
            <a:avLst/>
          </a:prstGeom>
          <a:noFill/>
        </p:spPr>
        <p:txBody>
          <a:bodyPr wrap="square" lIns="0" rIns="0" tIns="0" bIns="0" anchor="t">
            <a:spAutoFit/>
          </a:bodyPr>
          <a:lstStyle/>
          <a:p>
            <a:pPr algn="l">
              <a:lnSpc>
                <a:spcPct val="112000"/>
              </a:lnSpc>
              <a:spcAft>
                <a:spcPts val="0"/>
              </a:spcAft>
            </a:pPr>
            <a:r>
              <a:rPr sz="1150" b="0">
                <a:solidFill>
                  <a:srgbClr val="2FD8B4"/>
                </a:solidFill>
                <a:latin typeface="Consolas"/>
              </a:rPr>
              <a:t>84.91%</a:t>
            </a:r>
          </a:p>
        </p:txBody>
      </p:sp>
      <p:sp>
        <p:nvSpPr>
          <p:cNvPr id="31" name="Rounded Rectangle 30"/>
          <p:cNvSpPr/>
          <p:nvPr/>
        </p:nvSpPr>
        <p:spPr>
          <a:xfrm>
            <a:off x="566928" y="2876702"/>
            <a:ext cx="3977639" cy="66568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4944" y="3063240"/>
            <a:ext cx="3758183" cy="292608"/>
          </a:xfrm>
          <a:prstGeom prst="rect">
            <a:avLst/>
          </a:prstGeom>
          <a:noFill/>
        </p:spPr>
        <p:txBody>
          <a:bodyPr wrap="square" lIns="0" rIns="0" tIns="0" bIns="0" anchor="t">
            <a:spAutoFit/>
          </a:bodyPr>
          <a:lstStyle/>
          <a:p>
            <a:pPr algn="l">
              <a:lnSpc>
                <a:spcPct val="112000"/>
              </a:lnSpc>
              <a:spcAft>
                <a:spcPts val="0"/>
              </a:spcAft>
            </a:pPr>
            <a:r>
              <a:rPr sz="1150" b="0">
                <a:solidFill>
                  <a:srgbClr val="EAF0F7"/>
                </a:solidFill>
                <a:latin typeface="Segoe UI"/>
              </a:rPr>
              <a:t>LightGBM</a:t>
            </a:r>
          </a:p>
        </p:txBody>
      </p:sp>
      <p:sp>
        <p:nvSpPr>
          <p:cNvPr id="33" name="Rounded Rectangle 32"/>
          <p:cNvSpPr/>
          <p:nvPr/>
        </p:nvSpPr>
        <p:spPr>
          <a:xfrm>
            <a:off x="4544568" y="2876702"/>
            <a:ext cx="1426464" cy="66568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72583" y="3063240"/>
            <a:ext cx="1207008" cy="292608"/>
          </a:xfrm>
          <a:prstGeom prst="rect">
            <a:avLst/>
          </a:prstGeom>
          <a:noFill/>
        </p:spPr>
        <p:txBody>
          <a:bodyPr wrap="square" lIns="0" rIns="0" tIns="0" bIns="0" anchor="t">
            <a:spAutoFit/>
          </a:bodyPr>
          <a:lstStyle/>
          <a:p>
            <a:pPr algn="l">
              <a:lnSpc>
                <a:spcPct val="112000"/>
              </a:lnSpc>
              <a:spcAft>
                <a:spcPts val="0"/>
              </a:spcAft>
            </a:pPr>
            <a:r>
              <a:rPr sz="1150" b="0">
                <a:solidFill>
                  <a:srgbClr val="EAF0F7"/>
                </a:solidFill>
                <a:latin typeface="Consolas"/>
              </a:rPr>
              <a:t>80.06%</a:t>
            </a:r>
          </a:p>
        </p:txBody>
      </p:sp>
      <p:sp>
        <p:nvSpPr>
          <p:cNvPr id="35" name="Rounded Rectangle 34"/>
          <p:cNvSpPr/>
          <p:nvPr/>
        </p:nvSpPr>
        <p:spPr>
          <a:xfrm>
            <a:off x="5971031" y="2876702"/>
            <a:ext cx="1426464" cy="66568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099047" y="3063240"/>
            <a:ext cx="1207008" cy="292608"/>
          </a:xfrm>
          <a:prstGeom prst="rect">
            <a:avLst/>
          </a:prstGeom>
          <a:noFill/>
        </p:spPr>
        <p:txBody>
          <a:bodyPr wrap="square" lIns="0" rIns="0" tIns="0" bIns="0" anchor="t">
            <a:spAutoFit/>
          </a:bodyPr>
          <a:lstStyle/>
          <a:p>
            <a:pPr algn="l">
              <a:lnSpc>
                <a:spcPct val="112000"/>
              </a:lnSpc>
              <a:spcAft>
                <a:spcPts val="0"/>
              </a:spcAft>
            </a:pPr>
            <a:r>
              <a:rPr sz="1150" b="0">
                <a:solidFill>
                  <a:srgbClr val="EAF0F7"/>
                </a:solidFill>
                <a:latin typeface="Consolas"/>
              </a:rPr>
              <a:t>64.49%</a:t>
            </a:r>
          </a:p>
        </p:txBody>
      </p:sp>
      <p:sp>
        <p:nvSpPr>
          <p:cNvPr id="37" name="Rounded Rectangle 36"/>
          <p:cNvSpPr/>
          <p:nvPr/>
        </p:nvSpPr>
        <p:spPr>
          <a:xfrm>
            <a:off x="7397496" y="2876702"/>
            <a:ext cx="1298448" cy="66568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525512" y="3063240"/>
            <a:ext cx="1078992" cy="292608"/>
          </a:xfrm>
          <a:prstGeom prst="rect">
            <a:avLst/>
          </a:prstGeom>
          <a:noFill/>
        </p:spPr>
        <p:txBody>
          <a:bodyPr wrap="square" lIns="0" rIns="0" tIns="0" bIns="0" anchor="t">
            <a:spAutoFit/>
          </a:bodyPr>
          <a:lstStyle/>
          <a:p>
            <a:pPr algn="l">
              <a:lnSpc>
                <a:spcPct val="112000"/>
              </a:lnSpc>
              <a:spcAft>
                <a:spcPts val="0"/>
              </a:spcAft>
            </a:pPr>
            <a:r>
              <a:rPr sz="1150" b="0">
                <a:solidFill>
                  <a:srgbClr val="EAF0F7"/>
                </a:solidFill>
                <a:latin typeface="Consolas"/>
              </a:rPr>
              <a:t>55.35%</a:t>
            </a:r>
          </a:p>
        </p:txBody>
      </p:sp>
      <p:sp>
        <p:nvSpPr>
          <p:cNvPr id="39" name="Rounded Rectangle 38"/>
          <p:cNvSpPr/>
          <p:nvPr/>
        </p:nvSpPr>
        <p:spPr>
          <a:xfrm>
            <a:off x="8695944" y="2876702"/>
            <a:ext cx="1298448" cy="66568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23960" y="3063240"/>
            <a:ext cx="1078992" cy="292608"/>
          </a:xfrm>
          <a:prstGeom prst="rect">
            <a:avLst/>
          </a:prstGeom>
          <a:noFill/>
        </p:spPr>
        <p:txBody>
          <a:bodyPr wrap="square" lIns="0" rIns="0" tIns="0" bIns="0" anchor="t">
            <a:spAutoFit/>
          </a:bodyPr>
          <a:lstStyle/>
          <a:p>
            <a:pPr algn="l">
              <a:lnSpc>
                <a:spcPct val="112000"/>
              </a:lnSpc>
              <a:spcAft>
                <a:spcPts val="0"/>
              </a:spcAft>
            </a:pPr>
            <a:r>
              <a:rPr sz="1150" b="0">
                <a:solidFill>
                  <a:srgbClr val="EAF0F7"/>
                </a:solidFill>
                <a:latin typeface="Consolas"/>
              </a:rPr>
              <a:t>59.57%</a:t>
            </a:r>
          </a:p>
        </p:txBody>
      </p:sp>
      <p:sp>
        <p:nvSpPr>
          <p:cNvPr id="41" name="Rounded Rectangle 40"/>
          <p:cNvSpPr/>
          <p:nvPr/>
        </p:nvSpPr>
        <p:spPr>
          <a:xfrm>
            <a:off x="9994392" y="2876702"/>
            <a:ext cx="1636776" cy="66568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122408" y="3063240"/>
            <a:ext cx="1417320" cy="292608"/>
          </a:xfrm>
          <a:prstGeom prst="rect">
            <a:avLst/>
          </a:prstGeom>
          <a:noFill/>
        </p:spPr>
        <p:txBody>
          <a:bodyPr wrap="square" lIns="0" rIns="0" tIns="0" bIns="0" anchor="t">
            <a:spAutoFit/>
          </a:bodyPr>
          <a:lstStyle/>
          <a:p>
            <a:pPr algn="l">
              <a:lnSpc>
                <a:spcPct val="112000"/>
              </a:lnSpc>
              <a:spcAft>
                <a:spcPts val="0"/>
              </a:spcAft>
            </a:pPr>
            <a:r>
              <a:rPr sz="1150" b="0">
                <a:solidFill>
                  <a:srgbClr val="EAF0F7"/>
                </a:solidFill>
                <a:latin typeface="Consolas"/>
              </a:rPr>
              <a:t>84.71%</a:t>
            </a:r>
          </a:p>
        </p:txBody>
      </p:sp>
      <p:sp>
        <p:nvSpPr>
          <p:cNvPr id="43" name="Rounded Rectangle 42"/>
          <p:cNvSpPr/>
          <p:nvPr/>
        </p:nvSpPr>
        <p:spPr>
          <a:xfrm>
            <a:off x="566928" y="3556101"/>
            <a:ext cx="3977639" cy="66568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94944" y="3742639"/>
            <a:ext cx="3758183" cy="292608"/>
          </a:xfrm>
          <a:prstGeom prst="rect">
            <a:avLst/>
          </a:prstGeom>
          <a:noFill/>
        </p:spPr>
        <p:txBody>
          <a:bodyPr wrap="square" lIns="0" rIns="0" tIns="0" bIns="0" anchor="t">
            <a:spAutoFit/>
          </a:bodyPr>
          <a:lstStyle/>
          <a:p>
            <a:pPr algn="l">
              <a:lnSpc>
                <a:spcPct val="112000"/>
              </a:lnSpc>
              <a:spcAft>
                <a:spcPts val="0"/>
              </a:spcAft>
            </a:pPr>
            <a:r>
              <a:rPr sz="1150" b="0">
                <a:solidFill>
                  <a:srgbClr val="EAF0F7"/>
                </a:solidFill>
                <a:latin typeface="Segoe UI"/>
              </a:rPr>
              <a:t>XGBoost</a:t>
            </a:r>
          </a:p>
        </p:txBody>
      </p:sp>
      <p:sp>
        <p:nvSpPr>
          <p:cNvPr id="45" name="Rounded Rectangle 44"/>
          <p:cNvSpPr/>
          <p:nvPr/>
        </p:nvSpPr>
        <p:spPr>
          <a:xfrm>
            <a:off x="4544568" y="3556101"/>
            <a:ext cx="1426464" cy="66568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72583" y="3742639"/>
            <a:ext cx="1207008" cy="292608"/>
          </a:xfrm>
          <a:prstGeom prst="rect">
            <a:avLst/>
          </a:prstGeom>
          <a:noFill/>
        </p:spPr>
        <p:txBody>
          <a:bodyPr wrap="square" lIns="0" rIns="0" tIns="0" bIns="0" anchor="t">
            <a:spAutoFit/>
          </a:bodyPr>
          <a:lstStyle/>
          <a:p>
            <a:pPr algn="l">
              <a:lnSpc>
                <a:spcPct val="112000"/>
              </a:lnSpc>
              <a:spcAft>
                <a:spcPts val="0"/>
              </a:spcAft>
            </a:pPr>
            <a:r>
              <a:rPr sz="1150" b="0">
                <a:solidFill>
                  <a:srgbClr val="EAF0F7"/>
                </a:solidFill>
                <a:latin typeface="Consolas"/>
              </a:rPr>
              <a:t>79.06%</a:t>
            </a:r>
          </a:p>
        </p:txBody>
      </p:sp>
      <p:sp>
        <p:nvSpPr>
          <p:cNvPr id="47" name="Rounded Rectangle 46"/>
          <p:cNvSpPr/>
          <p:nvPr/>
        </p:nvSpPr>
        <p:spPr>
          <a:xfrm>
            <a:off x="5971031" y="3556101"/>
            <a:ext cx="1426464" cy="66568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099047" y="3742639"/>
            <a:ext cx="1207008" cy="292608"/>
          </a:xfrm>
          <a:prstGeom prst="rect">
            <a:avLst/>
          </a:prstGeom>
          <a:noFill/>
        </p:spPr>
        <p:txBody>
          <a:bodyPr wrap="square" lIns="0" rIns="0" tIns="0" bIns="0" anchor="t">
            <a:spAutoFit/>
          </a:bodyPr>
          <a:lstStyle/>
          <a:p>
            <a:pPr algn="l">
              <a:lnSpc>
                <a:spcPct val="112000"/>
              </a:lnSpc>
              <a:spcAft>
                <a:spcPts val="0"/>
              </a:spcAft>
            </a:pPr>
            <a:r>
              <a:rPr sz="1150" b="0">
                <a:solidFill>
                  <a:srgbClr val="EAF0F7"/>
                </a:solidFill>
                <a:latin typeface="Consolas"/>
              </a:rPr>
              <a:t>61.72%</a:t>
            </a:r>
          </a:p>
        </p:txBody>
      </p:sp>
      <p:sp>
        <p:nvSpPr>
          <p:cNvPr id="49" name="Rounded Rectangle 48"/>
          <p:cNvSpPr/>
          <p:nvPr/>
        </p:nvSpPr>
        <p:spPr>
          <a:xfrm>
            <a:off x="7397496" y="3556101"/>
            <a:ext cx="1298448" cy="66568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525512" y="3742639"/>
            <a:ext cx="1078992" cy="292608"/>
          </a:xfrm>
          <a:prstGeom prst="rect">
            <a:avLst/>
          </a:prstGeom>
          <a:noFill/>
        </p:spPr>
        <p:txBody>
          <a:bodyPr wrap="square" lIns="0" rIns="0" tIns="0" bIns="0" anchor="t">
            <a:spAutoFit/>
          </a:bodyPr>
          <a:lstStyle/>
          <a:p>
            <a:pPr algn="l">
              <a:lnSpc>
                <a:spcPct val="112000"/>
              </a:lnSpc>
              <a:spcAft>
                <a:spcPts val="0"/>
              </a:spcAft>
            </a:pPr>
            <a:r>
              <a:rPr sz="1150" b="0">
                <a:solidFill>
                  <a:srgbClr val="EAF0F7"/>
                </a:solidFill>
                <a:latin typeface="Consolas"/>
              </a:rPr>
              <a:t>55.61%</a:t>
            </a:r>
          </a:p>
        </p:txBody>
      </p:sp>
      <p:sp>
        <p:nvSpPr>
          <p:cNvPr id="51" name="Rounded Rectangle 50"/>
          <p:cNvSpPr/>
          <p:nvPr/>
        </p:nvSpPr>
        <p:spPr>
          <a:xfrm>
            <a:off x="8695944" y="3556101"/>
            <a:ext cx="1298448" cy="66568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823960" y="3742639"/>
            <a:ext cx="1078992" cy="292608"/>
          </a:xfrm>
          <a:prstGeom prst="rect">
            <a:avLst/>
          </a:prstGeom>
          <a:noFill/>
        </p:spPr>
        <p:txBody>
          <a:bodyPr wrap="square" lIns="0" rIns="0" tIns="0" bIns="0" anchor="t">
            <a:spAutoFit/>
          </a:bodyPr>
          <a:lstStyle/>
          <a:p>
            <a:pPr algn="l">
              <a:lnSpc>
                <a:spcPct val="112000"/>
              </a:lnSpc>
              <a:spcAft>
                <a:spcPts val="0"/>
              </a:spcAft>
            </a:pPr>
            <a:r>
              <a:rPr sz="1150" b="0">
                <a:solidFill>
                  <a:srgbClr val="EAF0F7"/>
                </a:solidFill>
                <a:latin typeface="Consolas"/>
              </a:rPr>
              <a:t>58.51%</a:t>
            </a:r>
          </a:p>
        </p:txBody>
      </p:sp>
      <p:sp>
        <p:nvSpPr>
          <p:cNvPr id="53" name="Rounded Rectangle 52"/>
          <p:cNvSpPr/>
          <p:nvPr/>
        </p:nvSpPr>
        <p:spPr>
          <a:xfrm>
            <a:off x="9994392" y="3556101"/>
            <a:ext cx="1636776" cy="66568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122408" y="3742639"/>
            <a:ext cx="1417320" cy="292608"/>
          </a:xfrm>
          <a:prstGeom prst="rect">
            <a:avLst/>
          </a:prstGeom>
          <a:noFill/>
        </p:spPr>
        <p:txBody>
          <a:bodyPr wrap="square" lIns="0" rIns="0" tIns="0" bIns="0" anchor="t">
            <a:spAutoFit/>
          </a:bodyPr>
          <a:lstStyle/>
          <a:p>
            <a:pPr algn="l">
              <a:lnSpc>
                <a:spcPct val="112000"/>
              </a:lnSpc>
              <a:spcAft>
                <a:spcPts val="0"/>
              </a:spcAft>
            </a:pPr>
            <a:r>
              <a:rPr sz="1150" b="0">
                <a:solidFill>
                  <a:srgbClr val="EAF0F7"/>
                </a:solidFill>
                <a:latin typeface="Consolas"/>
              </a:rPr>
              <a:t>83.34%</a:t>
            </a:r>
          </a:p>
        </p:txBody>
      </p:sp>
      <p:sp>
        <p:nvSpPr>
          <p:cNvPr id="55" name="Rounded Rectangle 54"/>
          <p:cNvSpPr/>
          <p:nvPr/>
        </p:nvSpPr>
        <p:spPr>
          <a:xfrm>
            <a:off x="566928" y="4235500"/>
            <a:ext cx="3977639" cy="66568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94944" y="4422038"/>
            <a:ext cx="3758183" cy="292608"/>
          </a:xfrm>
          <a:prstGeom prst="rect">
            <a:avLst/>
          </a:prstGeom>
          <a:noFill/>
        </p:spPr>
        <p:txBody>
          <a:bodyPr wrap="square" lIns="0" rIns="0" tIns="0" bIns="0" anchor="t">
            <a:spAutoFit/>
          </a:bodyPr>
          <a:lstStyle/>
          <a:p>
            <a:pPr algn="l">
              <a:lnSpc>
                <a:spcPct val="112000"/>
              </a:lnSpc>
              <a:spcAft>
                <a:spcPts val="0"/>
              </a:spcAft>
            </a:pPr>
            <a:r>
              <a:rPr sz="1150" b="0">
                <a:solidFill>
                  <a:srgbClr val="EAF0F7"/>
                </a:solidFill>
                <a:latin typeface="Segoe UI"/>
              </a:rPr>
              <a:t>Random Forest</a:t>
            </a:r>
          </a:p>
        </p:txBody>
      </p:sp>
      <p:sp>
        <p:nvSpPr>
          <p:cNvPr id="57" name="Rounded Rectangle 56"/>
          <p:cNvSpPr/>
          <p:nvPr/>
        </p:nvSpPr>
        <p:spPr>
          <a:xfrm>
            <a:off x="4544568" y="4235500"/>
            <a:ext cx="1426464" cy="66568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672583" y="4422038"/>
            <a:ext cx="1207008" cy="292608"/>
          </a:xfrm>
          <a:prstGeom prst="rect">
            <a:avLst/>
          </a:prstGeom>
          <a:noFill/>
        </p:spPr>
        <p:txBody>
          <a:bodyPr wrap="square" lIns="0" rIns="0" tIns="0" bIns="0" anchor="t">
            <a:spAutoFit/>
          </a:bodyPr>
          <a:lstStyle/>
          <a:p>
            <a:pPr algn="l">
              <a:lnSpc>
                <a:spcPct val="112000"/>
              </a:lnSpc>
              <a:spcAft>
                <a:spcPts val="0"/>
              </a:spcAft>
            </a:pPr>
            <a:r>
              <a:rPr sz="1150" b="0">
                <a:solidFill>
                  <a:srgbClr val="EAF0F7"/>
                </a:solidFill>
                <a:latin typeface="Consolas"/>
              </a:rPr>
              <a:t>78.99%</a:t>
            </a:r>
          </a:p>
        </p:txBody>
      </p:sp>
      <p:sp>
        <p:nvSpPr>
          <p:cNvPr id="59" name="Rounded Rectangle 58"/>
          <p:cNvSpPr/>
          <p:nvPr/>
        </p:nvSpPr>
        <p:spPr>
          <a:xfrm>
            <a:off x="5971031" y="4235500"/>
            <a:ext cx="1426464" cy="66568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099047" y="4422038"/>
            <a:ext cx="1207008" cy="292608"/>
          </a:xfrm>
          <a:prstGeom prst="rect">
            <a:avLst/>
          </a:prstGeom>
          <a:noFill/>
        </p:spPr>
        <p:txBody>
          <a:bodyPr wrap="square" lIns="0" rIns="0" tIns="0" bIns="0" anchor="t">
            <a:spAutoFit/>
          </a:bodyPr>
          <a:lstStyle/>
          <a:p>
            <a:pPr algn="l">
              <a:lnSpc>
                <a:spcPct val="112000"/>
              </a:lnSpc>
              <a:spcAft>
                <a:spcPts val="0"/>
              </a:spcAft>
            </a:pPr>
            <a:r>
              <a:rPr sz="1150" b="0">
                <a:solidFill>
                  <a:srgbClr val="EAF0F7"/>
                </a:solidFill>
                <a:latin typeface="Consolas"/>
              </a:rPr>
              <a:t>62.34%</a:t>
            </a:r>
          </a:p>
        </p:txBody>
      </p:sp>
      <p:sp>
        <p:nvSpPr>
          <p:cNvPr id="61" name="Rounded Rectangle 60"/>
          <p:cNvSpPr/>
          <p:nvPr/>
        </p:nvSpPr>
        <p:spPr>
          <a:xfrm>
            <a:off x="7397496" y="4235500"/>
            <a:ext cx="1298448" cy="66568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525512" y="4422038"/>
            <a:ext cx="1078992" cy="292608"/>
          </a:xfrm>
          <a:prstGeom prst="rect">
            <a:avLst/>
          </a:prstGeom>
          <a:noFill/>
        </p:spPr>
        <p:txBody>
          <a:bodyPr wrap="square" lIns="0" rIns="0" tIns="0" bIns="0" anchor="t">
            <a:spAutoFit/>
          </a:bodyPr>
          <a:lstStyle/>
          <a:p>
            <a:pPr algn="l">
              <a:lnSpc>
                <a:spcPct val="112000"/>
              </a:lnSpc>
              <a:spcAft>
                <a:spcPts val="0"/>
              </a:spcAft>
            </a:pPr>
            <a:r>
              <a:rPr sz="1150" b="0">
                <a:solidFill>
                  <a:srgbClr val="EAF0F7"/>
                </a:solidFill>
                <a:latin typeface="Consolas"/>
              </a:rPr>
              <a:t>52.67%</a:t>
            </a:r>
          </a:p>
        </p:txBody>
      </p:sp>
      <p:sp>
        <p:nvSpPr>
          <p:cNvPr id="63" name="Rounded Rectangle 62"/>
          <p:cNvSpPr/>
          <p:nvPr/>
        </p:nvSpPr>
        <p:spPr>
          <a:xfrm>
            <a:off x="8695944" y="4235500"/>
            <a:ext cx="1298448" cy="66568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823960" y="4422038"/>
            <a:ext cx="1078992" cy="292608"/>
          </a:xfrm>
          <a:prstGeom prst="rect">
            <a:avLst/>
          </a:prstGeom>
          <a:noFill/>
        </p:spPr>
        <p:txBody>
          <a:bodyPr wrap="square" lIns="0" rIns="0" tIns="0" bIns="0" anchor="t">
            <a:spAutoFit/>
          </a:bodyPr>
          <a:lstStyle/>
          <a:p>
            <a:pPr algn="l">
              <a:lnSpc>
                <a:spcPct val="112000"/>
              </a:lnSpc>
              <a:spcAft>
                <a:spcPts val="0"/>
              </a:spcAft>
            </a:pPr>
            <a:r>
              <a:rPr sz="1150" b="0">
                <a:solidFill>
                  <a:srgbClr val="EAF0F7"/>
                </a:solidFill>
                <a:latin typeface="Consolas"/>
              </a:rPr>
              <a:t>57.10%</a:t>
            </a:r>
          </a:p>
        </p:txBody>
      </p:sp>
      <p:sp>
        <p:nvSpPr>
          <p:cNvPr id="65" name="Rounded Rectangle 64"/>
          <p:cNvSpPr/>
          <p:nvPr/>
        </p:nvSpPr>
        <p:spPr>
          <a:xfrm>
            <a:off x="9994392" y="4235500"/>
            <a:ext cx="1636776" cy="66568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0122408" y="4422038"/>
            <a:ext cx="1417320" cy="292608"/>
          </a:xfrm>
          <a:prstGeom prst="rect">
            <a:avLst/>
          </a:prstGeom>
          <a:noFill/>
        </p:spPr>
        <p:txBody>
          <a:bodyPr wrap="square" lIns="0" rIns="0" tIns="0" bIns="0" anchor="t">
            <a:spAutoFit/>
          </a:bodyPr>
          <a:lstStyle/>
          <a:p>
            <a:pPr algn="l">
              <a:lnSpc>
                <a:spcPct val="112000"/>
              </a:lnSpc>
              <a:spcAft>
                <a:spcPts val="0"/>
              </a:spcAft>
            </a:pPr>
            <a:r>
              <a:rPr sz="1150" b="0">
                <a:solidFill>
                  <a:srgbClr val="EAF0F7"/>
                </a:solidFill>
                <a:latin typeface="Consolas"/>
              </a:rPr>
              <a:t>83.48%</a:t>
            </a:r>
          </a:p>
        </p:txBody>
      </p:sp>
      <p:sp>
        <p:nvSpPr>
          <p:cNvPr id="67" name="Rounded Rectangle 66"/>
          <p:cNvSpPr/>
          <p:nvPr/>
        </p:nvSpPr>
        <p:spPr>
          <a:xfrm>
            <a:off x="566928" y="5047488"/>
            <a:ext cx="11057839" cy="1170431"/>
          </a:xfrm>
          <a:prstGeom prst="roundRect">
            <a:avLst>
              <a:gd name="adj" fmla="val 8000"/>
            </a:avLst>
          </a:prstGeom>
          <a:solidFill>
            <a:srgbClr val="162136"/>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49808" y="5175503"/>
            <a:ext cx="10692079" cy="932687"/>
          </a:xfrm>
          <a:prstGeom prst="rect">
            <a:avLst/>
          </a:prstGeom>
          <a:noFill/>
        </p:spPr>
        <p:txBody>
          <a:bodyPr wrap="square" lIns="0" rIns="0" tIns="0" bIns="0" anchor="t">
            <a:spAutoFit/>
          </a:bodyPr>
          <a:lstStyle/>
          <a:p>
            <a:pPr algn="l">
              <a:lnSpc>
                <a:spcPct val="112000"/>
              </a:lnSpc>
              <a:spcAft>
                <a:spcPts val="300"/>
              </a:spcAft>
            </a:pPr>
            <a:r>
              <a:rPr sz="1150" b="1">
                <a:solidFill>
                  <a:srgbClr val="2FD8B4"/>
                </a:solidFill>
                <a:latin typeface="Segoe UI"/>
              </a:rPr>
              <a:t>THE DECISION RULE</a:t>
            </a:r>
          </a:p>
          <a:p>
            <a:pPr algn="l">
              <a:lnSpc>
                <a:spcPct val="116000"/>
              </a:lnSpc>
              <a:spcAft>
                <a:spcPts val="0"/>
              </a:spcAft>
            </a:pPr>
            <a:r>
              <a:rPr sz="1080" b="0">
                <a:solidFill>
                  <a:srgbClr val="EAF0F7"/>
                </a:solidFill>
                <a:latin typeface="Segoe UI"/>
              </a:rPr>
              <a:t>Accuracy alone would have picked LightGBM by one hundredth of a point. The choice was made on F1 and ROC-AUC, because a retention team cares about ranking risk correctly and catching churners — not about the share of all customers classified correctly. Logistic Regression also wins on being explainable, which the next phase depends on.</a:t>
            </a:r>
          </a:p>
        </p:txBody>
      </p:sp>
      <p:sp>
        <p:nvSpPr>
          <p:cNvPr id="69" name="Rectangle 68"/>
          <p:cNvSpPr/>
          <p:nvPr/>
        </p:nvSpPr>
        <p:spPr>
          <a:xfrm>
            <a:off x="566928"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136036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215380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294724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374067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453411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532755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120993" y="6296558"/>
            <a:ext cx="743145" cy="68580"/>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691443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770786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850130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929474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1008818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088162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   ·   PHASE 08 · MODEL SELECTION</a:t>
            </a:r>
          </a:p>
        </p:txBody>
      </p:sp>
      <p:sp>
        <p:nvSpPr>
          <p:cNvPr id="85" name="TextBox 84"/>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PHASE 08  ·  MODEL SELECTION  ·  THE OPERATING POINT</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The cut-off was a default — not a decision</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0.5 is arbitrary. Measuring it turns the model's weakest number into a choice</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rt_threshold.png"/>
          <p:cNvPicPr>
            <a:picLocks noChangeAspect="1"/>
          </p:cNvPicPr>
          <p:nvPr/>
        </p:nvPicPr>
        <p:blipFill>
          <a:blip r:embed="rId2"/>
          <a:stretch>
            <a:fillRect/>
          </a:stretch>
        </p:blipFill>
        <p:spPr>
          <a:xfrm>
            <a:off x="566928" y="1517904"/>
            <a:ext cx="7680959" cy="4465979"/>
          </a:xfrm>
          <a:prstGeom prst="rect">
            <a:avLst/>
          </a:prstGeom>
        </p:spPr>
      </p:pic>
      <p:sp>
        <p:nvSpPr>
          <p:cNvPr id="8" name="Rounded Rectangle 7"/>
          <p:cNvSpPr/>
          <p:nvPr/>
        </p:nvSpPr>
        <p:spPr>
          <a:xfrm>
            <a:off x="8449056" y="1517904"/>
            <a:ext cx="3175711" cy="227685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31936" y="1664207"/>
            <a:ext cx="2809951" cy="1984248"/>
          </a:xfrm>
          <a:prstGeom prst="rect">
            <a:avLst/>
          </a:prstGeom>
          <a:noFill/>
        </p:spPr>
        <p:txBody>
          <a:bodyPr wrap="square" lIns="0" rIns="0" tIns="0" bIns="0" anchor="t">
            <a:spAutoFit/>
          </a:bodyPr>
          <a:lstStyle/>
          <a:p>
            <a:pPr algn="l">
              <a:lnSpc>
                <a:spcPct val="112000"/>
              </a:lnSpc>
              <a:spcAft>
                <a:spcPts val="600"/>
              </a:spcAft>
            </a:pPr>
            <a:r>
              <a:rPr sz="1050" b="1">
                <a:solidFill>
                  <a:srgbClr val="2FD8B4"/>
                </a:solidFill>
                <a:latin typeface="Consolas"/>
              </a:rPr>
              <a:t>WHAT THE SWEEP SHOWS</a:t>
            </a:r>
          </a:p>
          <a:p>
            <a:pPr algn="l">
              <a:lnSpc>
                <a:spcPct val="118000"/>
              </a:lnSpc>
              <a:spcAft>
                <a:spcPts val="0"/>
              </a:spcAft>
            </a:pPr>
            <a:r>
              <a:rPr sz="1060" b="0">
                <a:solidFill>
                  <a:srgbClr val="EAF0F7"/>
                </a:solidFill>
                <a:latin typeface="Segoe UI"/>
              </a:rPr>
              <a:t>At 0.35 the model catches 71.7% of churners instead of 57.0%, and F1 actually improves to 62.98%. Both recall and F1 are better than the deployed setting.</a:t>
            </a:r>
          </a:p>
        </p:txBody>
      </p:sp>
      <p:sp>
        <p:nvSpPr>
          <p:cNvPr id="10" name="Rounded Rectangle 9"/>
          <p:cNvSpPr/>
          <p:nvPr/>
        </p:nvSpPr>
        <p:spPr>
          <a:xfrm>
            <a:off x="8449056" y="3941063"/>
            <a:ext cx="3175711" cy="2276856"/>
          </a:xfrm>
          <a:prstGeom prst="roundRect">
            <a:avLst>
              <a:gd name="adj" fmla="val 8000"/>
            </a:avLst>
          </a:prstGeom>
          <a:solidFill>
            <a:srgbClr val="162136"/>
          </a:solidFill>
          <a:ln w="1524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31936" y="4069079"/>
            <a:ext cx="2809951" cy="2039111"/>
          </a:xfrm>
          <a:prstGeom prst="rect">
            <a:avLst/>
          </a:prstGeom>
          <a:noFill/>
        </p:spPr>
        <p:txBody>
          <a:bodyPr wrap="square" lIns="0" rIns="0" tIns="0" bIns="0" anchor="t">
            <a:spAutoFit/>
          </a:bodyPr>
          <a:lstStyle/>
          <a:p>
            <a:pPr algn="l">
              <a:lnSpc>
                <a:spcPct val="112000"/>
              </a:lnSpc>
              <a:spcAft>
                <a:spcPts val="300"/>
              </a:spcAft>
            </a:pPr>
            <a:r>
              <a:rPr sz="1150" b="1">
                <a:solidFill>
                  <a:srgbClr val="F5A623"/>
                </a:solidFill>
                <a:latin typeface="Segoe UI"/>
              </a:rPr>
              <a:t>THE PROOF THAT MATTERS</a:t>
            </a:r>
          </a:p>
          <a:p>
            <a:pPr algn="l">
              <a:lnSpc>
                <a:spcPct val="116000"/>
              </a:lnSpc>
              <a:spcAft>
                <a:spcPts val="0"/>
              </a:spcAft>
            </a:pPr>
            <a:r>
              <a:rPr sz="1080" b="0">
                <a:solidFill>
                  <a:srgbClr val="EAF0F7"/>
                </a:solidFill>
                <a:latin typeface="Segoe UI"/>
              </a:rPr>
              <a:t>Training with class_weight='balanced' lifts recall to 77.81% while ROC-AUC barely moves: 84.89 against 84.90. The model already ranks customers correctly — the 0.5 cut-off was throwing churners away.</a:t>
            </a:r>
          </a:p>
        </p:txBody>
      </p:sp>
      <p:sp>
        <p:nvSpPr>
          <p:cNvPr id="12" name="Rectangle 11"/>
          <p:cNvSpPr/>
          <p:nvPr/>
        </p:nvSpPr>
        <p:spPr>
          <a:xfrm>
            <a:off x="566928"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36036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15380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4724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74067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3411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32755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0993" y="6296558"/>
            <a:ext cx="743145" cy="68580"/>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1443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0786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50130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9474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08818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88162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   ·   PHASE 08 · MODEL SELECTION</a:t>
            </a:r>
          </a:p>
        </p:txBody>
      </p:sp>
      <p:sp>
        <p:nvSpPr>
          <p:cNvPr id="28" name="TextBox 27"/>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PHASE 09  ·  EXPLAINABILITY</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Why the model flags a customer</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The profile of the high-risk band, and a per-customer explanation in the app</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rt_high_risk_profile.png"/>
          <p:cNvPicPr>
            <a:picLocks noChangeAspect="1"/>
          </p:cNvPicPr>
          <p:nvPr/>
        </p:nvPicPr>
        <p:blipFill>
          <a:blip r:embed="rId2"/>
          <a:stretch>
            <a:fillRect/>
          </a:stretch>
        </p:blipFill>
        <p:spPr>
          <a:xfrm>
            <a:off x="566928" y="1517904"/>
            <a:ext cx="7315200" cy="3673712"/>
          </a:xfrm>
          <a:prstGeom prst="rect">
            <a:avLst/>
          </a:prstGeom>
        </p:spPr>
      </p:pic>
      <p:sp>
        <p:nvSpPr>
          <p:cNvPr id="8" name="Rounded Rectangle 7"/>
          <p:cNvSpPr/>
          <p:nvPr/>
        </p:nvSpPr>
        <p:spPr>
          <a:xfrm>
            <a:off x="8147303" y="1517904"/>
            <a:ext cx="3477463" cy="227685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30183" y="1664207"/>
            <a:ext cx="3111703" cy="1984248"/>
          </a:xfrm>
          <a:prstGeom prst="rect">
            <a:avLst/>
          </a:prstGeom>
          <a:noFill/>
        </p:spPr>
        <p:txBody>
          <a:bodyPr wrap="square" lIns="0" rIns="0" tIns="0" bIns="0" anchor="t">
            <a:spAutoFit/>
          </a:bodyPr>
          <a:lstStyle/>
          <a:p>
            <a:pPr algn="l">
              <a:lnSpc>
                <a:spcPct val="112000"/>
              </a:lnSpc>
              <a:spcAft>
                <a:spcPts val="600"/>
              </a:spcAft>
            </a:pPr>
            <a:r>
              <a:rPr sz="1050" b="1">
                <a:solidFill>
                  <a:srgbClr val="2FD8B4"/>
                </a:solidFill>
                <a:latin typeface="Consolas"/>
              </a:rPr>
              <a:t>PER-CUSTOMER EXPLANATION</a:t>
            </a:r>
          </a:p>
          <a:p>
            <a:pPr algn="l">
              <a:lnSpc>
                <a:spcPct val="118000"/>
              </a:lnSpc>
              <a:spcAft>
                <a:spcPts val="0"/>
              </a:spcAft>
            </a:pPr>
            <a:r>
              <a:rPr sz="1060" b="0">
                <a:solidFill>
                  <a:srgbClr val="EAF0F7"/>
                </a:solidFill>
                <a:latin typeface="Segoe UI"/>
              </a:rPr>
              <a:t>For each prediction the console shows the top drivers, computed as coefficient × customer value — the honest linear explanation for a logistic model, with human labels like "Fiber optic internet" or "Account tenure".</a:t>
            </a:r>
          </a:p>
        </p:txBody>
      </p:sp>
      <p:sp>
        <p:nvSpPr>
          <p:cNvPr id="10" name="Rounded Rectangle 9"/>
          <p:cNvSpPr/>
          <p:nvPr/>
        </p:nvSpPr>
        <p:spPr>
          <a:xfrm>
            <a:off x="8147303" y="3941063"/>
            <a:ext cx="3477463" cy="2276856"/>
          </a:xfrm>
          <a:prstGeom prst="roundRect">
            <a:avLst>
              <a:gd name="adj" fmla="val 8000"/>
            </a:avLst>
          </a:prstGeom>
          <a:solidFill>
            <a:srgbClr val="162136"/>
          </a:solidFill>
          <a:ln w="1524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30183" y="4069079"/>
            <a:ext cx="3111703" cy="2039111"/>
          </a:xfrm>
          <a:prstGeom prst="rect">
            <a:avLst/>
          </a:prstGeom>
          <a:noFill/>
        </p:spPr>
        <p:txBody>
          <a:bodyPr wrap="square" lIns="0" rIns="0" tIns="0" bIns="0" anchor="t">
            <a:spAutoFit/>
          </a:bodyPr>
          <a:lstStyle/>
          <a:p>
            <a:pPr algn="l">
              <a:lnSpc>
                <a:spcPct val="112000"/>
              </a:lnSpc>
              <a:spcAft>
                <a:spcPts val="300"/>
              </a:spcAft>
            </a:pPr>
            <a:r>
              <a:rPr sz="1150" b="1">
                <a:solidFill>
                  <a:srgbClr val="F5A623"/>
                </a:solidFill>
                <a:latin typeface="Segoe UI"/>
              </a:rPr>
              <a:t>ON SHAP — STATED PRECISELY</a:t>
            </a:r>
          </a:p>
          <a:p>
            <a:pPr algn="l">
              <a:lnSpc>
                <a:spcPct val="116000"/>
              </a:lnSpc>
              <a:spcAft>
                <a:spcPts val="0"/>
              </a:spcAft>
            </a:pPr>
            <a:r>
              <a:rPr sz="1080" b="0">
                <a:solidFill>
                  <a:srgbClr val="EAF0F7"/>
                </a:solidFill>
                <a:latin typeface="Segoe UI"/>
              </a:rPr>
              <a:t>SHAP was explored during the project; summary, bar, dependence and waterfall plots are in the repository. Production explanation is aligned to the deployed Logistic Regression instead — accurate for a linear model, and it costs nothing at request time.</a:t>
            </a:r>
          </a:p>
        </p:txBody>
      </p:sp>
      <p:sp>
        <p:nvSpPr>
          <p:cNvPr id="12" name="Rectangle 11"/>
          <p:cNvSpPr/>
          <p:nvPr/>
        </p:nvSpPr>
        <p:spPr>
          <a:xfrm>
            <a:off x="566928"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36036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15380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4724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74067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3411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32755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099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14431" y="6296558"/>
            <a:ext cx="743145" cy="68580"/>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0786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50130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9474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08818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88162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   ·   PHASE 09 · EXPLAINABILITY</a:t>
            </a:r>
          </a:p>
        </p:txBody>
      </p:sp>
      <p:sp>
        <p:nvSpPr>
          <p:cNvPr id="28" name="TextBox 27"/>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PHASE 10  ·  RISK SEGMENTATION</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Turning a probability into a work queue</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Every scored customer lands in one of three operational bands</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517904"/>
            <a:ext cx="3539642" cy="914400"/>
          </a:xfrm>
          <a:prstGeom prst="roundRect">
            <a:avLst>
              <a:gd name="adj" fmla="val 8000"/>
            </a:avLst>
          </a:prstGeom>
          <a:solidFill>
            <a:srgbClr val="111A2C"/>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1664207"/>
            <a:ext cx="3137306" cy="621792"/>
          </a:xfrm>
          <a:prstGeom prst="rect">
            <a:avLst/>
          </a:prstGeom>
          <a:noFill/>
        </p:spPr>
        <p:txBody>
          <a:bodyPr wrap="square" lIns="0" rIns="0" tIns="0" bIns="0" anchor="t">
            <a:spAutoFit/>
          </a:bodyPr>
          <a:lstStyle/>
          <a:p>
            <a:pPr algn="l">
              <a:lnSpc>
                <a:spcPct val="112000"/>
              </a:lnSpc>
              <a:spcAft>
                <a:spcPts val="200"/>
              </a:spcAft>
            </a:pPr>
            <a:r>
              <a:rPr sz="1150" b="1">
                <a:solidFill>
                  <a:srgbClr val="2FD8B4"/>
                </a:solidFill>
                <a:latin typeface="Consolas"/>
              </a:rPr>
              <a:t>&lt; 30%   LOW RISK</a:t>
            </a:r>
          </a:p>
          <a:p>
            <a:pPr algn="l">
              <a:lnSpc>
                <a:spcPct val="112000"/>
              </a:lnSpc>
              <a:spcAft>
                <a:spcPts val="0"/>
              </a:spcAft>
            </a:pPr>
            <a:r>
              <a:rPr sz="1250" b="0">
                <a:solidFill>
                  <a:srgbClr val="EAF0F7"/>
                </a:solidFill>
                <a:latin typeface="Segoe UI"/>
              </a:rPr>
              <a:t>4,435 customers</a:t>
            </a:r>
          </a:p>
        </p:txBody>
      </p:sp>
      <p:sp>
        <p:nvSpPr>
          <p:cNvPr id="9" name="Rounded Rectangle 8"/>
          <p:cNvSpPr/>
          <p:nvPr/>
        </p:nvSpPr>
        <p:spPr>
          <a:xfrm>
            <a:off x="4326026" y="1517904"/>
            <a:ext cx="3539642" cy="914400"/>
          </a:xfrm>
          <a:prstGeom prst="roundRect">
            <a:avLst>
              <a:gd name="adj" fmla="val 8000"/>
            </a:avLst>
          </a:prstGeom>
          <a:solidFill>
            <a:srgbClr val="111A2C"/>
          </a:solidFill>
          <a:ln w="1524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7194" y="1664207"/>
            <a:ext cx="3137306" cy="621792"/>
          </a:xfrm>
          <a:prstGeom prst="rect">
            <a:avLst/>
          </a:prstGeom>
          <a:noFill/>
        </p:spPr>
        <p:txBody>
          <a:bodyPr wrap="square" lIns="0" rIns="0" tIns="0" bIns="0" anchor="t">
            <a:spAutoFit/>
          </a:bodyPr>
          <a:lstStyle/>
          <a:p>
            <a:pPr algn="l">
              <a:lnSpc>
                <a:spcPct val="112000"/>
              </a:lnSpc>
              <a:spcAft>
                <a:spcPts val="200"/>
              </a:spcAft>
            </a:pPr>
            <a:r>
              <a:rPr sz="1150" b="1">
                <a:solidFill>
                  <a:srgbClr val="F5A623"/>
                </a:solidFill>
                <a:latin typeface="Consolas"/>
              </a:rPr>
              <a:t>30 – 60%   MEDIUM RISK</a:t>
            </a:r>
          </a:p>
          <a:p>
            <a:pPr algn="l">
              <a:lnSpc>
                <a:spcPct val="112000"/>
              </a:lnSpc>
              <a:spcAft>
                <a:spcPts val="0"/>
              </a:spcAft>
            </a:pPr>
            <a:r>
              <a:rPr sz="1250" b="0">
                <a:solidFill>
                  <a:srgbClr val="EAF0F7"/>
                </a:solidFill>
                <a:latin typeface="Segoe UI"/>
              </a:rPr>
              <a:t>1,473 customers</a:t>
            </a:r>
          </a:p>
        </p:txBody>
      </p:sp>
      <p:sp>
        <p:nvSpPr>
          <p:cNvPr id="11" name="Rounded Rectangle 10"/>
          <p:cNvSpPr/>
          <p:nvPr/>
        </p:nvSpPr>
        <p:spPr>
          <a:xfrm>
            <a:off x="8085124" y="1517904"/>
            <a:ext cx="3539642" cy="914400"/>
          </a:xfrm>
          <a:prstGeom prst="roundRect">
            <a:avLst>
              <a:gd name="adj" fmla="val 8000"/>
            </a:avLst>
          </a:prstGeom>
          <a:solidFill>
            <a:srgbClr val="111A2C"/>
          </a:solidFill>
          <a:ln w="15240">
            <a:solidFill>
              <a:srgbClr val="FF5C6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6292" y="1664207"/>
            <a:ext cx="3137306" cy="621792"/>
          </a:xfrm>
          <a:prstGeom prst="rect">
            <a:avLst/>
          </a:prstGeom>
          <a:noFill/>
        </p:spPr>
        <p:txBody>
          <a:bodyPr wrap="square" lIns="0" rIns="0" tIns="0" bIns="0" anchor="t">
            <a:spAutoFit/>
          </a:bodyPr>
          <a:lstStyle/>
          <a:p>
            <a:pPr algn="l">
              <a:lnSpc>
                <a:spcPct val="112000"/>
              </a:lnSpc>
              <a:spcAft>
                <a:spcPts val="200"/>
              </a:spcAft>
            </a:pPr>
            <a:r>
              <a:rPr sz="1150" b="1">
                <a:solidFill>
                  <a:srgbClr val="FF5C6C"/>
                </a:solidFill>
                <a:latin typeface="Consolas"/>
              </a:rPr>
              <a:t>≥ 60%   HIGH RISK</a:t>
            </a:r>
          </a:p>
          <a:p>
            <a:pPr algn="l">
              <a:lnSpc>
                <a:spcPct val="112000"/>
              </a:lnSpc>
              <a:spcAft>
                <a:spcPts val="0"/>
              </a:spcAft>
            </a:pPr>
            <a:r>
              <a:rPr sz="1250" b="0">
                <a:solidFill>
                  <a:srgbClr val="EAF0F7"/>
                </a:solidFill>
                <a:latin typeface="Segoe UI"/>
              </a:rPr>
              <a:t>1,135 customers</a:t>
            </a:r>
          </a:p>
        </p:txBody>
      </p:sp>
      <p:pic>
        <p:nvPicPr>
          <p:cNvPr id="13" name="Picture 12" descr="chart_risk_bands.png"/>
          <p:cNvPicPr>
            <a:picLocks noChangeAspect="1"/>
          </p:cNvPicPr>
          <p:nvPr/>
        </p:nvPicPr>
        <p:blipFill>
          <a:blip r:embed="rId2"/>
          <a:stretch>
            <a:fillRect/>
          </a:stretch>
        </p:blipFill>
        <p:spPr>
          <a:xfrm>
            <a:off x="566928" y="2596896"/>
            <a:ext cx="7059168" cy="3473831"/>
          </a:xfrm>
          <a:prstGeom prst="rect">
            <a:avLst/>
          </a:prstGeom>
        </p:spPr>
      </p:pic>
      <p:sp>
        <p:nvSpPr>
          <p:cNvPr id="14" name="Rounded Rectangle 13"/>
          <p:cNvSpPr/>
          <p:nvPr/>
        </p:nvSpPr>
        <p:spPr>
          <a:xfrm>
            <a:off x="7882127" y="2651760"/>
            <a:ext cx="3742639" cy="1709928"/>
          </a:xfrm>
          <a:prstGeom prst="roundRect">
            <a:avLst>
              <a:gd name="adj" fmla="val 8000"/>
            </a:avLst>
          </a:prstGeom>
          <a:solidFill>
            <a:srgbClr val="162136"/>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65007" y="2798064"/>
            <a:ext cx="3376879" cy="1417319"/>
          </a:xfrm>
          <a:prstGeom prst="rect">
            <a:avLst/>
          </a:prstGeom>
          <a:noFill/>
        </p:spPr>
        <p:txBody>
          <a:bodyPr wrap="square" lIns="0" rIns="0" tIns="0" bIns="0" anchor="t">
            <a:spAutoFit/>
          </a:bodyPr>
          <a:lstStyle/>
          <a:p>
            <a:pPr algn="l">
              <a:lnSpc>
                <a:spcPct val="112000"/>
              </a:lnSpc>
              <a:spcAft>
                <a:spcPts val="500"/>
              </a:spcAft>
            </a:pPr>
            <a:r>
              <a:rPr sz="1050" b="1">
                <a:solidFill>
                  <a:srgbClr val="2FD8B4"/>
                </a:solidFill>
                <a:latin typeface="Consolas"/>
              </a:rPr>
              <a:t>VALIDATION</a:t>
            </a:r>
          </a:p>
          <a:p>
            <a:pPr algn="l">
              <a:lnSpc>
                <a:spcPct val="118000"/>
              </a:lnSpc>
              <a:spcAft>
                <a:spcPts val="0"/>
              </a:spcAft>
            </a:pPr>
            <a:r>
              <a:rPr sz="1060" b="0">
                <a:solidFill>
                  <a:srgbClr val="EAF0F7"/>
                </a:solidFill>
                <a:latin typeface="Segoe UI"/>
              </a:rPr>
              <a:t>The bands track reality: actual churn is 9.5% in low risk, 42.0% in medium and 73.0% in high risk. The segmentation is not decoration — it orders the portfolio correctly.</a:t>
            </a:r>
          </a:p>
        </p:txBody>
      </p:sp>
      <p:sp>
        <p:nvSpPr>
          <p:cNvPr id="16" name="Rounded Rectangle 15"/>
          <p:cNvSpPr/>
          <p:nvPr/>
        </p:nvSpPr>
        <p:spPr>
          <a:xfrm>
            <a:off x="7882127" y="4507992"/>
            <a:ext cx="3742639" cy="1709928"/>
          </a:xfrm>
          <a:prstGeom prst="roundRect">
            <a:avLst>
              <a:gd name="adj" fmla="val 8000"/>
            </a:avLst>
          </a:prstGeom>
          <a:solidFill>
            <a:srgbClr val="111A2C"/>
          </a:solidFill>
          <a:ln w="15240">
            <a:solidFill>
              <a:srgbClr val="FF5C6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65007" y="4654296"/>
            <a:ext cx="3376879" cy="1417319"/>
          </a:xfrm>
          <a:prstGeom prst="rect">
            <a:avLst/>
          </a:prstGeom>
          <a:noFill/>
        </p:spPr>
        <p:txBody>
          <a:bodyPr wrap="square" lIns="0" rIns="0" tIns="0" bIns="0" anchor="t">
            <a:spAutoFit/>
          </a:bodyPr>
          <a:lstStyle/>
          <a:p>
            <a:pPr algn="l">
              <a:lnSpc>
                <a:spcPct val="112000"/>
              </a:lnSpc>
              <a:spcAft>
                <a:spcPts val="500"/>
              </a:spcAft>
            </a:pPr>
            <a:r>
              <a:rPr sz="1050" b="1">
                <a:solidFill>
                  <a:srgbClr val="FF5C6C"/>
                </a:solidFill>
                <a:latin typeface="Consolas"/>
              </a:rPr>
              <a:t>THE OPERATIONAL PAYOFF</a:t>
            </a:r>
          </a:p>
          <a:p>
            <a:pPr algn="l">
              <a:lnSpc>
                <a:spcPct val="118000"/>
              </a:lnSpc>
              <a:spcAft>
                <a:spcPts val="0"/>
              </a:spcAft>
            </a:pPr>
            <a:r>
              <a:rPr sz="1060" b="0">
                <a:solidFill>
                  <a:srgbClr val="EAF0F7"/>
                </a:solidFill>
                <a:latin typeface="Segoe UI"/>
              </a:rPr>
              <a:t>Instead of calling 7,043 customers, the team starts with 1,135 — 16.1% of the base, where 73% will actually leave — carrying $92,539 of recurring monthly charges.</a:t>
            </a:r>
          </a:p>
        </p:txBody>
      </p:sp>
      <p:sp>
        <p:nvSpPr>
          <p:cNvPr id="18" name="Rectangle 17"/>
          <p:cNvSpPr/>
          <p:nvPr/>
        </p:nvSpPr>
        <p:spPr>
          <a:xfrm>
            <a:off x="566928"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36036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15380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94724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74067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3411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32755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099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91443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07869" y="6296558"/>
            <a:ext cx="743145" cy="68580"/>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50130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29474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008818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88162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   ·   PHASE 10 · RISK SEGMENTATION</a:t>
            </a:r>
          </a:p>
        </p:txBody>
      </p:sp>
      <p:sp>
        <p:nvSpPr>
          <p:cNvPr id="34" name="TextBox 33"/>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PHASE 11  ·  RETENTION INTELLIGENCE</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From risk to action — and to money</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2,608 at-risk customers each received a specific recommendation</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rt_revenue.png"/>
          <p:cNvPicPr>
            <a:picLocks noChangeAspect="1"/>
          </p:cNvPicPr>
          <p:nvPr/>
        </p:nvPicPr>
        <p:blipFill>
          <a:blip r:embed="rId2"/>
          <a:stretch>
            <a:fillRect/>
          </a:stretch>
        </p:blipFill>
        <p:spPr>
          <a:xfrm>
            <a:off x="566928" y="1517904"/>
            <a:ext cx="6492239" cy="2818792"/>
          </a:xfrm>
          <a:prstGeom prst="rect">
            <a:avLst/>
          </a:prstGeom>
        </p:spPr>
      </p:pic>
      <p:sp>
        <p:nvSpPr>
          <p:cNvPr id="8" name="Rounded Rectangle 7"/>
          <p:cNvSpPr/>
          <p:nvPr/>
        </p:nvSpPr>
        <p:spPr>
          <a:xfrm>
            <a:off x="7269480" y="1517904"/>
            <a:ext cx="4352544" cy="470001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52360" y="1682495"/>
            <a:ext cx="4023360" cy="4370831"/>
          </a:xfrm>
          <a:prstGeom prst="rect">
            <a:avLst/>
          </a:prstGeom>
          <a:noFill/>
        </p:spPr>
        <p:txBody>
          <a:bodyPr wrap="square" lIns="0" rIns="0" tIns="0" bIns="0" anchor="t">
            <a:spAutoFit/>
          </a:bodyPr>
          <a:lstStyle/>
          <a:p>
            <a:pPr algn="l">
              <a:lnSpc>
                <a:spcPct val="112000"/>
              </a:lnSpc>
              <a:spcAft>
                <a:spcPts val="700"/>
              </a:spcAft>
            </a:pPr>
            <a:r>
              <a:rPr sz="1050" b="1">
                <a:solidFill>
                  <a:srgbClr val="2FD8B4"/>
                </a:solidFill>
                <a:latin typeface="Consolas"/>
              </a:rPr>
              <a:t>RECOMMENDATIONS ISSUED (FULL PORTFOLIO)</a:t>
            </a:r>
          </a:p>
          <a:p>
            <a:pPr algn="l">
              <a:lnSpc>
                <a:spcPct val="112000"/>
              </a:lnSpc>
              <a:spcAft>
                <a:spcPts val="300"/>
              </a:spcAft>
            </a:pPr>
            <a:r>
              <a:rPr sz="1040" b="0">
                <a:solidFill>
                  <a:srgbClr val="EAF0F7"/>
                </a:solidFill>
                <a:latin typeface="Consolas"/>
              </a:rPr>
              <a:t>Promote Long-Term Contract            792</a:t>
            </a:r>
          </a:p>
          <a:p>
            <a:pPr algn="l">
              <a:lnSpc>
                <a:spcPct val="112000"/>
              </a:lnSpc>
              <a:spcAft>
                <a:spcPts val="300"/>
              </a:spcAft>
            </a:pPr>
            <a:r>
              <a:rPr sz="1040" b="0">
                <a:solidFill>
                  <a:srgbClr val="EAF0F7"/>
                </a:solidFill>
                <a:latin typeface="Consolas"/>
              </a:rPr>
              <a:t>5% Discount Offer                            663</a:t>
            </a:r>
          </a:p>
          <a:p>
            <a:pPr algn="l">
              <a:lnSpc>
                <a:spcPct val="112000"/>
              </a:lnSpc>
              <a:spcAft>
                <a:spcPts val="300"/>
              </a:spcAft>
            </a:pPr>
            <a:r>
              <a:rPr sz="1040" b="0">
                <a:solidFill>
                  <a:srgbClr val="EAF0F7"/>
                </a:solidFill>
                <a:latin typeface="Consolas"/>
              </a:rPr>
              <a:t>Offer 15% Discount                          658</a:t>
            </a:r>
          </a:p>
          <a:p>
            <a:pPr algn="l">
              <a:lnSpc>
                <a:spcPct val="112000"/>
              </a:lnSpc>
              <a:spcAft>
                <a:spcPts val="300"/>
              </a:spcAft>
            </a:pPr>
            <a:r>
              <a:rPr sz="1040" b="0">
                <a:solidFill>
                  <a:srgbClr val="EAF0F7"/>
                </a:solidFill>
                <a:latin typeface="Consolas"/>
              </a:rPr>
              <a:t>Welcome Retention Package          430</a:t>
            </a:r>
          </a:p>
          <a:p>
            <a:pPr algn="l">
              <a:lnSpc>
                <a:spcPct val="112000"/>
              </a:lnSpc>
              <a:spcAft>
                <a:spcPts val="300"/>
              </a:spcAft>
            </a:pPr>
            <a:r>
              <a:rPr sz="1040" b="0">
                <a:solidFill>
                  <a:srgbClr val="EAF0F7"/>
                </a:solidFill>
                <a:latin typeface="Consolas"/>
              </a:rPr>
              <a:t>Free Online Security                       45</a:t>
            </a:r>
          </a:p>
          <a:p>
            <a:pPr algn="l">
              <a:lnSpc>
                <a:spcPct val="112000"/>
              </a:lnSpc>
              <a:spcAft>
                <a:spcPts val="300"/>
              </a:spcAft>
            </a:pPr>
            <a:r>
              <a:rPr sz="1040" b="0">
                <a:solidFill>
                  <a:srgbClr val="EAF0F7"/>
                </a:solidFill>
                <a:latin typeface="Consolas"/>
              </a:rPr>
              <a:t>Switch to Autopay / Check-in          18</a:t>
            </a:r>
          </a:p>
          <a:p>
            <a:pPr algn="l">
              <a:lnSpc>
                <a:spcPct val="112000"/>
              </a:lnSpc>
              <a:spcAft>
                <a:spcPts val="800"/>
              </a:spcAft>
            </a:pPr>
            <a:r>
              <a:rPr sz="1040" b="0">
                <a:solidFill>
                  <a:srgbClr val="EAF0F7"/>
                </a:solidFill>
                <a:latin typeface="Consolas"/>
              </a:rPr>
              <a:t>Free Premium Support                      2</a:t>
            </a:r>
          </a:p>
          <a:p>
            <a:pPr algn="l">
              <a:lnSpc>
                <a:spcPct val="116000"/>
              </a:lnSpc>
              <a:spcAft>
                <a:spcPts val="0"/>
              </a:spcAft>
            </a:pPr>
            <a:r>
              <a:rPr sz="1019" b="0">
                <a:solidFill>
                  <a:srgbClr val="8CA0BE"/>
                </a:solidFill>
                <a:latin typeface="Segoe UI"/>
              </a:rPr>
              <a:t>Driven by each customer's own risk factors — a month-to-month customer with no security gets a different offer than a loyal high-value one.</a:t>
            </a:r>
          </a:p>
        </p:txBody>
      </p:sp>
      <p:sp>
        <p:nvSpPr>
          <p:cNvPr id="10" name="Rounded Rectangle 9"/>
          <p:cNvSpPr/>
          <p:nvPr/>
        </p:nvSpPr>
        <p:spPr>
          <a:xfrm>
            <a:off x="566928" y="4718304"/>
            <a:ext cx="6492240" cy="1499615"/>
          </a:xfrm>
          <a:prstGeom prst="roundRect">
            <a:avLst>
              <a:gd name="adj" fmla="val 8000"/>
            </a:avLst>
          </a:prstGeom>
          <a:solidFill>
            <a:srgbClr val="162136"/>
          </a:solidFill>
          <a:ln w="1524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4846320"/>
            <a:ext cx="6126479" cy="1261871"/>
          </a:xfrm>
          <a:prstGeom prst="rect">
            <a:avLst/>
          </a:prstGeom>
          <a:noFill/>
        </p:spPr>
        <p:txBody>
          <a:bodyPr wrap="square" lIns="0" rIns="0" tIns="0" bIns="0" anchor="t">
            <a:spAutoFit/>
          </a:bodyPr>
          <a:lstStyle/>
          <a:p>
            <a:pPr algn="l">
              <a:lnSpc>
                <a:spcPct val="112000"/>
              </a:lnSpc>
              <a:spcAft>
                <a:spcPts val="300"/>
              </a:spcAft>
            </a:pPr>
            <a:r>
              <a:rPr sz="1150" b="1">
                <a:solidFill>
                  <a:srgbClr val="F5A623"/>
                </a:solidFill>
                <a:latin typeface="Segoe UI"/>
              </a:rPr>
              <a:t>SPEAK PRECISELY ABOUT THIS NUMBER</a:t>
            </a:r>
          </a:p>
          <a:p>
            <a:pPr algn="l">
              <a:lnSpc>
                <a:spcPct val="116000"/>
              </a:lnSpc>
              <a:spcAft>
                <a:spcPts val="0"/>
              </a:spcAft>
            </a:pPr>
            <a:r>
              <a:rPr sz="1080" b="0">
                <a:solidFill>
                  <a:srgbClr val="EAF0F7"/>
                </a:solidFill>
                <a:latin typeface="Segoe UI"/>
              </a:rPr>
              <a:t>RetainIQ reports monthly revenue at risk — the recurring charges sitting inside flagged customers. $92,539/month in high risk, $200,302 including medium. It is exposure, not money already saved.</a:t>
            </a:r>
          </a:p>
        </p:txBody>
      </p:sp>
      <p:sp>
        <p:nvSpPr>
          <p:cNvPr id="12" name="Rounded Rectangle 11"/>
          <p:cNvSpPr/>
          <p:nvPr/>
        </p:nvSpPr>
        <p:spPr>
          <a:xfrm>
            <a:off x="7269480" y="4718304"/>
            <a:ext cx="4352544" cy="1499615"/>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4864608"/>
            <a:ext cx="4023360" cy="1207007"/>
          </a:xfrm>
          <a:prstGeom prst="rect">
            <a:avLst/>
          </a:prstGeom>
          <a:noFill/>
        </p:spPr>
        <p:txBody>
          <a:bodyPr wrap="square" lIns="0" rIns="0" tIns="0" bIns="0" anchor="t">
            <a:spAutoFit/>
          </a:bodyPr>
          <a:lstStyle/>
          <a:p>
            <a:pPr algn="l">
              <a:lnSpc>
                <a:spcPct val="112000"/>
              </a:lnSpc>
              <a:spcAft>
                <a:spcPts val="500"/>
              </a:spcAft>
            </a:pPr>
            <a:r>
              <a:rPr sz="1050" b="1">
                <a:solidFill>
                  <a:srgbClr val="2FD8B4"/>
                </a:solidFill>
                <a:latin typeface="Consolas"/>
              </a:rPr>
              <a:t>DECISION FRAMEWORK</a:t>
            </a:r>
          </a:p>
          <a:p>
            <a:pPr algn="l">
              <a:lnSpc>
                <a:spcPct val="118000"/>
              </a:lnSpc>
              <a:spcAft>
                <a:spcPts val="0"/>
              </a:spcAft>
            </a:pPr>
            <a:r>
              <a:rPr sz="1040" b="0">
                <a:solidFill>
                  <a:srgbClr val="EAF0F7"/>
                </a:solidFill>
                <a:latin typeface="Segoe UI"/>
              </a:rPr>
              <a:t>Data → insight → prediction → explanation → action → business value. The platform deliberately does not stop at step three.</a:t>
            </a:r>
          </a:p>
        </p:txBody>
      </p:sp>
      <p:sp>
        <p:nvSpPr>
          <p:cNvPr id="14" name="Rectangle 13"/>
          <p:cNvSpPr/>
          <p:nvPr/>
        </p:nvSpPr>
        <p:spPr>
          <a:xfrm>
            <a:off x="566928"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36036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15380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4724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4067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3411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32755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099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91443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0786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501307" y="6296558"/>
            <a:ext cx="743145" cy="68580"/>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29474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8818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88162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   ·   PHASE 11 · RETENTION INTELLIGENCE</a:t>
            </a:r>
          </a:p>
        </p:txBody>
      </p:sp>
      <p:sp>
        <p:nvSpPr>
          <p:cNvPr id="30" name="TextBox 29"/>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PHASE 12  ·  BUSINESS INTELLIGENCE</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The descriptive layer beneath the predictions</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A four-page Power BI dashboard for the people who fund the retention team</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517904"/>
            <a:ext cx="5486400" cy="3121590"/>
          </a:xfrm>
          <a:prstGeom prst="roundRect">
            <a:avLst>
              <a:gd name="adj" fmla="val 8000"/>
            </a:avLst>
          </a:prstGeom>
          <a:solidFill>
            <a:srgbClr val="FFFFFF"/>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age1_executive_overview.png.png"/>
          <p:cNvPicPr>
            <a:picLocks noChangeAspect="1"/>
          </p:cNvPicPr>
          <p:nvPr/>
        </p:nvPicPr>
        <p:blipFill>
          <a:blip r:embed="rId2"/>
          <a:stretch>
            <a:fillRect/>
          </a:stretch>
        </p:blipFill>
        <p:spPr>
          <a:xfrm>
            <a:off x="649224" y="1600200"/>
            <a:ext cx="5321808" cy="2956998"/>
          </a:xfrm>
          <a:prstGeom prst="rect">
            <a:avLst/>
          </a:prstGeom>
        </p:spPr>
      </p:pic>
      <p:sp>
        <p:nvSpPr>
          <p:cNvPr id="9" name="Rounded Rectangle 8"/>
          <p:cNvSpPr/>
          <p:nvPr/>
        </p:nvSpPr>
        <p:spPr>
          <a:xfrm>
            <a:off x="6327648" y="1517904"/>
            <a:ext cx="5486400" cy="3121152"/>
          </a:xfrm>
          <a:prstGeom prst="roundRect">
            <a:avLst>
              <a:gd name="adj" fmla="val 8000"/>
            </a:avLst>
          </a:prstGeom>
          <a:solidFill>
            <a:srgbClr val="FFFFFF"/>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age3_risk_intelligence.png.png"/>
          <p:cNvPicPr>
            <a:picLocks noChangeAspect="1"/>
          </p:cNvPicPr>
          <p:nvPr/>
        </p:nvPicPr>
        <p:blipFill>
          <a:blip r:embed="rId3"/>
          <a:stretch>
            <a:fillRect/>
          </a:stretch>
        </p:blipFill>
        <p:spPr>
          <a:xfrm>
            <a:off x="6409944" y="1600199"/>
            <a:ext cx="5321808" cy="2956560"/>
          </a:xfrm>
          <a:prstGeom prst="rect">
            <a:avLst/>
          </a:prstGeom>
        </p:spPr>
      </p:pic>
      <p:sp>
        <p:nvSpPr>
          <p:cNvPr id="11" name="Rounded Rectangle 10"/>
          <p:cNvSpPr/>
          <p:nvPr/>
        </p:nvSpPr>
        <p:spPr>
          <a:xfrm>
            <a:off x="566928" y="4782312"/>
            <a:ext cx="2641015" cy="1435607"/>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4910327"/>
            <a:ext cx="32004" cy="1179575"/>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4928616"/>
            <a:ext cx="2256967" cy="1161287"/>
          </a:xfrm>
          <a:prstGeom prst="rect">
            <a:avLst/>
          </a:prstGeom>
          <a:noFill/>
        </p:spPr>
        <p:txBody>
          <a:bodyPr wrap="square" lIns="0" rIns="0" tIns="0" bIns="0" anchor="t">
            <a:spAutoFit/>
          </a:bodyPr>
          <a:lstStyle/>
          <a:p>
            <a:pPr algn="l">
              <a:lnSpc>
                <a:spcPct val="112000"/>
              </a:lnSpc>
              <a:spcAft>
                <a:spcPts val="400"/>
              </a:spcAft>
            </a:pPr>
            <a:r>
              <a:rPr sz="1150" b="1">
                <a:solidFill>
                  <a:srgbClr val="2FD8B4"/>
                </a:solidFill>
                <a:latin typeface="Segoe UI"/>
              </a:rPr>
              <a:t>Executive overview</a:t>
            </a:r>
          </a:p>
          <a:p>
            <a:pPr algn="l">
              <a:lnSpc>
                <a:spcPct val="116000"/>
              </a:lnSpc>
              <a:spcAft>
                <a:spcPts val="0"/>
              </a:spcAft>
            </a:pPr>
            <a:r>
              <a:rPr sz="1000" b="0">
                <a:solidFill>
                  <a:srgbClr val="EAF0F7"/>
                </a:solidFill>
                <a:latin typeface="Segoe UI"/>
              </a:rPr>
              <a:t>Portfolio KPIs, churn rate and revenue in one view for management.</a:t>
            </a:r>
          </a:p>
        </p:txBody>
      </p:sp>
      <p:sp>
        <p:nvSpPr>
          <p:cNvPr id="14" name="Rounded Rectangle 13"/>
          <p:cNvSpPr/>
          <p:nvPr/>
        </p:nvSpPr>
        <p:spPr>
          <a:xfrm>
            <a:off x="3372535" y="4782312"/>
            <a:ext cx="2641015" cy="1435607"/>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72535" y="4910327"/>
            <a:ext cx="32004" cy="1179575"/>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5415" y="4928616"/>
            <a:ext cx="2256967" cy="1161287"/>
          </a:xfrm>
          <a:prstGeom prst="rect">
            <a:avLst/>
          </a:prstGeom>
          <a:noFill/>
        </p:spPr>
        <p:txBody>
          <a:bodyPr wrap="square" lIns="0" rIns="0" tIns="0" bIns="0" anchor="t">
            <a:spAutoFit/>
          </a:bodyPr>
          <a:lstStyle/>
          <a:p>
            <a:pPr algn="l">
              <a:lnSpc>
                <a:spcPct val="112000"/>
              </a:lnSpc>
              <a:spcAft>
                <a:spcPts val="400"/>
              </a:spcAft>
            </a:pPr>
            <a:r>
              <a:rPr sz="1150" b="1">
                <a:solidFill>
                  <a:srgbClr val="4C8DFF"/>
                </a:solidFill>
                <a:latin typeface="Segoe UI"/>
              </a:rPr>
              <a:t>Customer insights</a:t>
            </a:r>
          </a:p>
          <a:p>
            <a:pPr algn="l">
              <a:lnSpc>
                <a:spcPct val="116000"/>
              </a:lnSpc>
              <a:spcAft>
                <a:spcPts val="0"/>
              </a:spcAft>
            </a:pPr>
            <a:r>
              <a:rPr sz="1000" b="0">
                <a:solidFill>
                  <a:srgbClr val="EAF0F7"/>
                </a:solidFill>
                <a:latin typeface="Segoe UI"/>
              </a:rPr>
              <a:t>Where churn concentrates — contract, tenure, service mix.</a:t>
            </a:r>
          </a:p>
        </p:txBody>
      </p:sp>
      <p:sp>
        <p:nvSpPr>
          <p:cNvPr id="17" name="Rounded Rectangle 16"/>
          <p:cNvSpPr/>
          <p:nvPr/>
        </p:nvSpPr>
        <p:spPr>
          <a:xfrm>
            <a:off x="6178143" y="4782312"/>
            <a:ext cx="2641015" cy="1435607"/>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78143" y="4910327"/>
            <a:ext cx="32004" cy="1179575"/>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61023" y="4928616"/>
            <a:ext cx="2256967" cy="1161287"/>
          </a:xfrm>
          <a:prstGeom prst="rect">
            <a:avLst/>
          </a:prstGeom>
          <a:noFill/>
        </p:spPr>
        <p:txBody>
          <a:bodyPr wrap="square" lIns="0" rIns="0" tIns="0" bIns="0" anchor="t">
            <a:spAutoFit/>
          </a:bodyPr>
          <a:lstStyle/>
          <a:p>
            <a:pPr algn="l">
              <a:lnSpc>
                <a:spcPct val="112000"/>
              </a:lnSpc>
              <a:spcAft>
                <a:spcPts val="400"/>
              </a:spcAft>
            </a:pPr>
            <a:r>
              <a:rPr sz="1150" b="1">
                <a:solidFill>
                  <a:srgbClr val="F5A623"/>
                </a:solidFill>
                <a:latin typeface="Segoe UI"/>
              </a:rPr>
              <a:t>Risk intelligence</a:t>
            </a:r>
          </a:p>
          <a:p>
            <a:pPr algn="l">
              <a:lnSpc>
                <a:spcPct val="116000"/>
              </a:lnSpc>
              <a:spcAft>
                <a:spcPts val="0"/>
              </a:spcAft>
            </a:pPr>
            <a:r>
              <a:rPr sz="1000" b="0">
                <a:solidFill>
                  <a:srgbClr val="EAF0F7"/>
                </a:solidFill>
                <a:latin typeface="Segoe UI"/>
              </a:rPr>
              <a:t>The scored risk distribution carried into BI.</a:t>
            </a:r>
          </a:p>
        </p:txBody>
      </p:sp>
      <p:sp>
        <p:nvSpPr>
          <p:cNvPr id="20" name="Rounded Rectangle 19"/>
          <p:cNvSpPr/>
          <p:nvPr/>
        </p:nvSpPr>
        <p:spPr>
          <a:xfrm>
            <a:off x="8983751" y="4782312"/>
            <a:ext cx="2641015" cy="1435607"/>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983751" y="4910327"/>
            <a:ext cx="32004" cy="1179575"/>
          </a:xfrm>
          <a:prstGeom prst="rect">
            <a:avLst/>
          </a:prstGeom>
          <a:solidFill>
            <a:srgbClr val="FF5C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66631" y="4928616"/>
            <a:ext cx="2256967" cy="1161287"/>
          </a:xfrm>
          <a:prstGeom prst="rect">
            <a:avLst/>
          </a:prstGeom>
          <a:noFill/>
        </p:spPr>
        <p:txBody>
          <a:bodyPr wrap="square" lIns="0" rIns="0" tIns="0" bIns="0" anchor="t">
            <a:spAutoFit/>
          </a:bodyPr>
          <a:lstStyle/>
          <a:p>
            <a:pPr algn="l">
              <a:lnSpc>
                <a:spcPct val="112000"/>
              </a:lnSpc>
              <a:spcAft>
                <a:spcPts val="400"/>
              </a:spcAft>
            </a:pPr>
            <a:r>
              <a:rPr sz="1150" b="1">
                <a:solidFill>
                  <a:srgbClr val="FF5C6C"/>
                </a:solidFill>
                <a:latin typeface="Segoe UI"/>
              </a:rPr>
              <a:t>Retention strategy</a:t>
            </a:r>
          </a:p>
          <a:p>
            <a:pPr algn="l">
              <a:lnSpc>
                <a:spcPct val="116000"/>
              </a:lnSpc>
              <a:spcAft>
                <a:spcPts val="0"/>
              </a:spcAft>
            </a:pPr>
            <a:r>
              <a:rPr sz="1000" b="0">
                <a:solidFill>
                  <a:srgbClr val="EAF0F7"/>
                </a:solidFill>
                <a:latin typeface="Segoe UI"/>
              </a:rPr>
              <a:t>Which actions are recommended, and to how many customers.</a:t>
            </a:r>
          </a:p>
        </p:txBody>
      </p:sp>
      <p:sp>
        <p:nvSpPr>
          <p:cNvPr id="23" name="Rectangle 22"/>
          <p:cNvSpPr/>
          <p:nvPr/>
        </p:nvSpPr>
        <p:spPr>
          <a:xfrm>
            <a:off x="566928"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36036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15380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94724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74067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3411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32755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099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91443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0786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50130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294745" y="6296558"/>
            <a:ext cx="743145" cy="68580"/>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08818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088162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   ·   PHASE 12 · BUSINESS INTELLIGENCE</a:t>
            </a:r>
          </a:p>
        </p:txBody>
      </p:sp>
      <p:sp>
        <p:nvSpPr>
          <p:cNvPr id="39" name="TextBox 38"/>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PHASE 13  ·  WEB APPLICATION</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The product: a Signal Ops Console</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A working Flask application — bulk scoring, dashboard, private reports</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6.prediction_dashboard.png"/>
          <p:cNvPicPr>
            <a:picLocks noChangeAspect="1"/>
          </p:cNvPicPr>
          <p:nvPr/>
        </p:nvPicPr>
        <p:blipFill>
          <a:blip r:embed="rId2"/>
          <a:stretch>
            <a:fillRect/>
          </a:stretch>
        </p:blipFill>
        <p:spPr>
          <a:xfrm>
            <a:off x="566928" y="1517904"/>
            <a:ext cx="4644813" cy="3531648"/>
          </a:xfrm>
          <a:prstGeom prst="rect">
            <a:avLst/>
          </a:prstGeom>
        </p:spPr>
      </p:pic>
      <p:pic>
        <p:nvPicPr>
          <p:cNvPr id="8" name="Picture 7" descr="04.Bulk_prediction.png"/>
          <p:cNvPicPr>
            <a:picLocks noChangeAspect="1"/>
          </p:cNvPicPr>
          <p:nvPr/>
        </p:nvPicPr>
        <p:blipFill>
          <a:blip r:embed="rId3"/>
          <a:stretch>
            <a:fillRect/>
          </a:stretch>
        </p:blipFill>
        <p:spPr>
          <a:xfrm>
            <a:off x="5412909" y="1517904"/>
            <a:ext cx="6211857" cy="3531648"/>
          </a:xfrm>
          <a:prstGeom prst="rect">
            <a:avLst/>
          </a:prstGeom>
        </p:spPr>
      </p:pic>
      <p:sp>
        <p:nvSpPr>
          <p:cNvPr id="9" name="Rounded Rectangle 8"/>
          <p:cNvSpPr/>
          <p:nvPr/>
        </p:nvSpPr>
        <p:spPr>
          <a:xfrm>
            <a:off x="566928" y="5193791"/>
            <a:ext cx="11057839" cy="1024127"/>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5321807"/>
            <a:ext cx="8570671" cy="786383"/>
          </a:xfrm>
          <a:prstGeom prst="rect">
            <a:avLst/>
          </a:prstGeom>
          <a:noFill/>
        </p:spPr>
        <p:txBody>
          <a:bodyPr wrap="square" lIns="0" rIns="0" tIns="0" bIns="0" anchor="t">
            <a:spAutoFit/>
          </a:bodyPr>
          <a:lstStyle/>
          <a:p>
            <a:pPr algn="l">
              <a:lnSpc>
                <a:spcPct val="112000"/>
              </a:lnSpc>
              <a:spcAft>
                <a:spcPts val="400"/>
              </a:spcAft>
            </a:pPr>
            <a:r>
              <a:rPr sz="980" b="1">
                <a:solidFill>
                  <a:srgbClr val="2FD8B4"/>
                </a:solidFill>
                <a:latin typeface="Consolas"/>
              </a:rPr>
              <a:t>WHAT A REVIEWER DOES</a:t>
            </a:r>
          </a:p>
          <a:p>
            <a:pPr algn="l">
              <a:lnSpc>
                <a:spcPct val="116000"/>
              </a:lnSpc>
              <a:spcAft>
                <a:spcPts val="0"/>
              </a:spcAft>
            </a:pPr>
            <a:r>
              <a:rPr sz="1040" b="0">
                <a:solidFill>
                  <a:srgbClr val="EAF0F7"/>
                </a:solidFill>
                <a:latin typeface="Segoe UI"/>
              </a:rPr>
              <a:t>Upload a CSV  →  validate the file before scoring  →  score the whole portfolio
Read churn rate, risk split and revenue at risk  →  drill into a customer  →  download a private report</a:t>
            </a:r>
          </a:p>
        </p:txBody>
      </p:sp>
      <p:sp>
        <p:nvSpPr>
          <p:cNvPr id="11" name="TextBox 10"/>
          <p:cNvSpPr txBox="1"/>
          <p:nvPr/>
        </p:nvSpPr>
        <p:spPr>
          <a:xfrm>
            <a:off x="9613087" y="5321807"/>
            <a:ext cx="2011680" cy="310896"/>
          </a:xfrm>
          <a:prstGeom prst="rect">
            <a:avLst/>
          </a:prstGeom>
          <a:noFill/>
        </p:spPr>
        <p:txBody>
          <a:bodyPr wrap="square" lIns="0" rIns="0" tIns="0" bIns="0" anchor="t">
            <a:spAutoFit/>
          </a:bodyPr>
          <a:lstStyle/>
          <a:p>
            <a:pPr algn="r">
              <a:lnSpc>
                <a:spcPct val="112000"/>
              </a:lnSpc>
              <a:spcAft>
                <a:spcPts val="0"/>
              </a:spcAft>
            </a:pPr>
            <a:r>
              <a:rPr sz="840" b="1">
                <a:solidFill>
                  <a:srgbClr val="8CA0BE"/>
                </a:solidFill>
                <a:latin typeface="Consolas"/>
              </a:rPr>
              <a:t>REPORTS ARE PRIVATE — SCOPED BY SIGNED COOKIE</a:t>
            </a:r>
          </a:p>
        </p:txBody>
      </p:sp>
      <p:sp>
        <p:nvSpPr>
          <p:cNvPr id="12" name="Rectangle 11"/>
          <p:cNvSpPr/>
          <p:nvPr/>
        </p:nvSpPr>
        <p:spPr>
          <a:xfrm>
            <a:off x="566928"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36036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15380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4724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74067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3411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32755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099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1443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0786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50130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9474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088183" y="6296558"/>
            <a:ext cx="743145" cy="68580"/>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88162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   ·   PHASE 13 · WEB APPLICATION</a:t>
            </a:r>
          </a:p>
        </p:txBody>
      </p:sp>
      <p:sp>
        <p:nvSpPr>
          <p:cNvPr id="28" name="TextBox 27"/>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PHASE 14  ·  DEPLOYMENT</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Making it survive production</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Free-tier hosting is unforgiving — these are the four problems it creates</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517904"/>
            <a:ext cx="5410047" cy="1773935"/>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64207"/>
            <a:ext cx="32004" cy="1481327"/>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1682495"/>
            <a:ext cx="4952847" cy="1444751"/>
          </a:xfrm>
          <a:prstGeom prst="rect">
            <a:avLst/>
          </a:prstGeom>
          <a:noFill/>
        </p:spPr>
        <p:txBody>
          <a:bodyPr wrap="square" lIns="0" rIns="0" tIns="0" bIns="0" anchor="t">
            <a:spAutoFit/>
          </a:bodyPr>
          <a:lstStyle/>
          <a:p>
            <a:pPr algn="l">
              <a:lnSpc>
                <a:spcPct val="112000"/>
              </a:lnSpc>
              <a:spcAft>
                <a:spcPts val="400"/>
              </a:spcAft>
            </a:pPr>
            <a:r>
              <a:rPr sz="1200" b="1">
                <a:solidFill>
                  <a:srgbClr val="EAF0F7"/>
                </a:solidFill>
                <a:latin typeface="Segoe UI"/>
              </a:rPr>
              <a:t>Slow scoring on a shared CPU</a:t>
            </a:r>
          </a:p>
          <a:p>
            <a:pPr algn="l">
              <a:lnSpc>
                <a:spcPct val="116000"/>
              </a:lnSpc>
              <a:spcAft>
                <a:spcPts val="500"/>
              </a:spcAft>
            </a:pPr>
            <a:r>
              <a:rPr sz="1019" b="0">
                <a:solidFill>
                  <a:srgbClr val="8CA0BE"/>
                </a:solidFill>
                <a:latin typeface="Segoe UI"/>
              </a:rPr>
              <a:t>A large CSV can take far longer than the default 30-second worker timeout, so the worker is killed mid-request and the browser shows a 502.</a:t>
            </a:r>
          </a:p>
          <a:p>
            <a:pPr algn="l">
              <a:lnSpc>
                <a:spcPct val="112000"/>
              </a:lnSpc>
              <a:spcAft>
                <a:spcPts val="0"/>
              </a:spcAft>
            </a:pPr>
            <a:r>
              <a:rPr sz="1040" b="1">
                <a:solidFill>
                  <a:srgbClr val="2FD8B4"/>
                </a:solidFill>
                <a:latin typeface="Consolas"/>
              </a:rPr>
              <a:t>→ fixed by 300-second timeout</a:t>
            </a:r>
          </a:p>
        </p:txBody>
      </p:sp>
      <p:sp>
        <p:nvSpPr>
          <p:cNvPr id="10" name="Rounded Rectangle 9"/>
          <p:cNvSpPr/>
          <p:nvPr/>
        </p:nvSpPr>
        <p:spPr>
          <a:xfrm>
            <a:off x="6214719" y="1517904"/>
            <a:ext cx="5410047" cy="1773935"/>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4719" y="1664207"/>
            <a:ext cx="32004" cy="1481327"/>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34175" y="1682495"/>
            <a:ext cx="4952847" cy="1444751"/>
          </a:xfrm>
          <a:prstGeom prst="rect">
            <a:avLst/>
          </a:prstGeom>
          <a:noFill/>
        </p:spPr>
        <p:txBody>
          <a:bodyPr wrap="square" lIns="0" rIns="0" tIns="0" bIns="0" anchor="t">
            <a:spAutoFit/>
          </a:bodyPr>
          <a:lstStyle/>
          <a:p>
            <a:pPr algn="l">
              <a:lnSpc>
                <a:spcPct val="112000"/>
              </a:lnSpc>
              <a:spcAft>
                <a:spcPts val="400"/>
              </a:spcAft>
            </a:pPr>
            <a:r>
              <a:rPr sz="1200" b="1">
                <a:solidFill>
                  <a:srgbClr val="EAF0F7"/>
                </a:solidFill>
                <a:latin typeface="Segoe UI"/>
              </a:rPr>
              <a:t>Reloading the model per request</a:t>
            </a:r>
          </a:p>
          <a:p>
            <a:pPr algn="l">
              <a:lnSpc>
                <a:spcPct val="116000"/>
              </a:lnSpc>
              <a:spcAft>
                <a:spcPts val="500"/>
              </a:spcAft>
            </a:pPr>
            <a:r>
              <a:rPr sz="1019" b="0">
                <a:solidFill>
                  <a:srgbClr val="8CA0BE"/>
                </a:solidFill>
                <a:latin typeface="Segoe UI"/>
              </a:rPr>
              <a:t>Reading the pickled model on every request wastes the little memory the instance has.</a:t>
            </a:r>
          </a:p>
          <a:p>
            <a:pPr algn="l">
              <a:lnSpc>
                <a:spcPct val="112000"/>
              </a:lnSpc>
              <a:spcAft>
                <a:spcPts val="0"/>
              </a:spcAft>
            </a:pPr>
            <a:r>
              <a:rPr sz="1040" b="1">
                <a:solidFill>
                  <a:srgbClr val="2FD8B4"/>
                </a:solidFill>
                <a:latin typeface="Consolas"/>
              </a:rPr>
              <a:t>→ fixed by worker preload</a:t>
            </a:r>
          </a:p>
        </p:txBody>
      </p:sp>
      <p:sp>
        <p:nvSpPr>
          <p:cNvPr id="13" name="Rounded Rectangle 12"/>
          <p:cNvSpPr/>
          <p:nvPr/>
        </p:nvSpPr>
        <p:spPr>
          <a:xfrm>
            <a:off x="566928" y="3438144"/>
            <a:ext cx="5410047" cy="1773935"/>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584448"/>
            <a:ext cx="32004" cy="1481327"/>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3602736"/>
            <a:ext cx="4952847" cy="1444751"/>
          </a:xfrm>
          <a:prstGeom prst="rect">
            <a:avLst/>
          </a:prstGeom>
          <a:noFill/>
        </p:spPr>
        <p:txBody>
          <a:bodyPr wrap="square" lIns="0" rIns="0" tIns="0" bIns="0" anchor="t">
            <a:spAutoFit/>
          </a:bodyPr>
          <a:lstStyle/>
          <a:p>
            <a:pPr algn="l">
              <a:lnSpc>
                <a:spcPct val="112000"/>
              </a:lnSpc>
              <a:spcAft>
                <a:spcPts val="400"/>
              </a:spcAft>
            </a:pPr>
            <a:r>
              <a:rPr sz="1200" b="1">
                <a:solidFill>
                  <a:srgbClr val="EAF0F7"/>
                </a:solidFill>
                <a:latin typeface="Segoe UI"/>
              </a:rPr>
              <a:t>Memory creeping past the limit</a:t>
            </a:r>
          </a:p>
          <a:p>
            <a:pPr algn="l">
              <a:lnSpc>
                <a:spcPct val="116000"/>
              </a:lnSpc>
              <a:spcAft>
                <a:spcPts val="500"/>
              </a:spcAft>
            </a:pPr>
            <a:r>
              <a:rPr sz="1019" b="0">
                <a:solidFill>
                  <a:srgbClr val="8CA0BE"/>
                </a:solidFill>
                <a:latin typeface="Segoe UI"/>
              </a:rPr>
              <a:t>A long-lived worker grows until the platform OOM-kills it, which surfaces as a random error.</a:t>
            </a:r>
          </a:p>
          <a:p>
            <a:pPr algn="l">
              <a:lnSpc>
                <a:spcPct val="112000"/>
              </a:lnSpc>
              <a:spcAft>
                <a:spcPts val="0"/>
              </a:spcAft>
            </a:pPr>
            <a:r>
              <a:rPr sz="1040" b="1">
                <a:solidFill>
                  <a:srgbClr val="2FD8B4"/>
                </a:solidFill>
                <a:latin typeface="Consolas"/>
              </a:rPr>
              <a:t>→ fixed by request recycling</a:t>
            </a:r>
          </a:p>
        </p:txBody>
      </p:sp>
      <p:sp>
        <p:nvSpPr>
          <p:cNvPr id="16" name="Rounded Rectangle 15"/>
          <p:cNvSpPr/>
          <p:nvPr/>
        </p:nvSpPr>
        <p:spPr>
          <a:xfrm>
            <a:off x="6214719" y="3438144"/>
            <a:ext cx="5410047" cy="1773935"/>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4719" y="3584448"/>
            <a:ext cx="32004" cy="148132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34175" y="3602736"/>
            <a:ext cx="4952847" cy="1444751"/>
          </a:xfrm>
          <a:prstGeom prst="rect">
            <a:avLst/>
          </a:prstGeom>
          <a:noFill/>
        </p:spPr>
        <p:txBody>
          <a:bodyPr wrap="square" lIns="0" rIns="0" tIns="0" bIns="0" anchor="t">
            <a:spAutoFit/>
          </a:bodyPr>
          <a:lstStyle/>
          <a:p>
            <a:pPr algn="l">
              <a:lnSpc>
                <a:spcPct val="112000"/>
              </a:lnSpc>
              <a:spcAft>
                <a:spcPts val="400"/>
              </a:spcAft>
            </a:pPr>
            <a:r>
              <a:rPr sz="1200" b="1">
                <a:solidFill>
                  <a:srgbClr val="EAF0F7"/>
                </a:solidFill>
                <a:latin typeface="Segoe UI"/>
              </a:rPr>
              <a:t>The free tier sleeps</a:t>
            </a:r>
          </a:p>
          <a:p>
            <a:pPr algn="l">
              <a:lnSpc>
                <a:spcPct val="116000"/>
              </a:lnSpc>
              <a:spcAft>
                <a:spcPts val="500"/>
              </a:spcAft>
            </a:pPr>
            <a:r>
              <a:rPr sz="1019" b="0">
                <a:solidFill>
                  <a:srgbClr val="8CA0BE"/>
                </a:solidFill>
                <a:latin typeface="Segoe UI"/>
              </a:rPr>
              <a:t>An idle instance is suspended, so the first visitor waits for a cold start.</a:t>
            </a:r>
          </a:p>
          <a:p>
            <a:pPr algn="l">
              <a:lnSpc>
                <a:spcPct val="112000"/>
              </a:lnSpc>
              <a:spcAft>
                <a:spcPts val="0"/>
              </a:spcAft>
            </a:pPr>
            <a:r>
              <a:rPr sz="1040" b="1">
                <a:solidFill>
                  <a:srgbClr val="F5A623"/>
                </a:solidFill>
                <a:latin typeface="Consolas"/>
              </a:rPr>
              <a:t>→ fixed by warm it before demoing</a:t>
            </a:r>
          </a:p>
        </p:txBody>
      </p:sp>
      <p:sp>
        <p:nvSpPr>
          <p:cNvPr id="19" name="Rounded Rectangle 18"/>
          <p:cNvSpPr/>
          <p:nvPr/>
        </p:nvSpPr>
        <p:spPr>
          <a:xfrm>
            <a:off x="566928" y="5358383"/>
            <a:ext cx="11057839" cy="859535"/>
          </a:xfrm>
          <a:prstGeom prst="roundRect">
            <a:avLst>
              <a:gd name="adj" fmla="val 8000"/>
            </a:avLst>
          </a:prstGeom>
          <a:solidFill>
            <a:srgbClr val="162136"/>
          </a:solidFill>
          <a:ln w="15240">
            <a:solidFill>
              <a:srgbClr val="4C8D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5486399"/>
            <a:ext cx="10692079" cy="621791"/>
          </a:xfrm>
          <a:prstGeom prst="rect">
            <a:avLst/>
          </a:prstGeom>
          <a:noFill/>
        </p:spPr>
        <p:txBody>
          <a:bodyPr wrap="square" lIns="0" rIns="0" tIns="0" bIns="0" anchor="t">
            <a:spAutoFit/>
          </a:bodyPr>
          <a:lstStyle/>
          <a:p>
            <a:pPr algn="l">
              <a:lnSpc>
                <a:spcPct val="112000"/>
              </a:lnSpc>
              <a:spcAft>
                <a:spcPts val="300"/>
              </a:spcAft>
            </a:pPr>
            <a:r>
              <a:rPr sz="1150" b="1">
                <a:solidFill>
                  <a:srgbClr val="4C8DFF"/>
                </a:solidFill>
                <a:latin typeface="Segoe UI"/>
              </a:rPr>
              <a:t>SHIPPED AS</a:t>
            </a:r>
          </a:p>
          <a:p>
            <a:pPr algn="l">
              <a:lnSpc>
                <a:spcPct val="116000"/>
              </a:lnSpc>
              <a:spcAft>
                <a:spcPts val="0"/>
              </a:spcAft>
            </a:pPr>
            <a:r>
              <a:rPr sz="1080" b="0">
                <a:solidFill>
                  <a:srgbClr val="EAF0F7"/>
                </a:solidFill>
                <a:latin typeface="Segoe UI"/>
              </a:rPr>
              <a:t>Gunicorn with a threaded worker · Dockerfile and Procfile · version-pinned requirements · hosted on Render, where the application answers at the URL on the closing slide.</a:t>
            </a:r>
          </a:p>
        </p:txBody>
      </p:sp>
      <p:sp>
        <p:nvSpPr>
          <p:cNvPr id="21" name="Rectangle 20"/>
          <p:cNvSpPr/>
          <p:nvPr/>
        </p:nvSpPr>
        <p:spPr>
          <a:xfrm>
            <a:off x="566928"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36036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15380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94724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74067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3411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32755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2099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914431"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07869"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501307"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294745"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088183" y="6309360"/>
            <a:ext cx="743145" cy="4389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0881621" y="6296558"/>
            <a:ext cx="743145" cy="68580"/>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   ·   PHASE 14 · DEPLOYMENT</a:t>
            </a:r>
          </a:p>
        </p:txBody>
      </p:sp>
      <p:sp>
        <p:nvSpPr>
          <p:cNvPr id="37" name="TextBox 36"/>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TECHNOLOGY STACK</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Everything the project is built on</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One requirement drove the whole stack: the same code must train the model and serve it</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517904"/>
            <a:ext cx="2627299" cy="305409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517904"/>
            <a:ext cx="2627299" cy="41148"/>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755648"/>
            <a:ext cx="2261539" cy="2633472"/>
          </a:xfrm>
          <a:prstGeom prst="rect">
            <a:avLst/>
          </a:prstGeom>
          <a:noFill/>
        </p:spPr>
        <p:txBody>
          <a:bodyPr wrap="square" lIns="0" rIns="0" tIns="0" bIns="0" anchor="t">
            <a:spAutoFit/>
          </a:bodyPr>
          <a:lstStyle/>
          <a:p>
            <a:pPr algn="l">
              <a:lnSpc>
                <a:spcPct val="112000"/>
              </a:lnSpc>
              <a:spcAft>
                <a:spcPts val="1300"/>
              </a:spcAft>
            </a:pPr>
            <a:r>
              <a:rPr sz="1100" b="1">
                <a:solidFill>
                  <a:srgbClr val="2FD8B4"/>
                </a:solidFill>
                <a:latin typeface="Consolas"/>
              </a:rPr>
              <a:t>LANGUAGE &amp; DATA</a:t>
            </a:r>
          </a:p>
          <a:p>
            <a:pPr algn="l">
              <a:lnSpc>
                <a:spcPct val="114000"/>
              </a:lnSpc>
              <a:spcAft>
                <a:spcPts val="1500"/>
              </a:spcAft>
            </a:pPr>
            <a:r>
              <a:rPr sz="1160" b="0">
                <a:solidFill>
                  <a:srgbClr val="EAF0F7"/>
                </a:solidFill>
                <a:latin typeface="Segoe UI"/>
              </a:rPr>
              <a:t>·  Python 3.11</a:t>
            </a:r>
          </a:p>
          <a:p>
            <a:pPr algn="l">
              <a:lnSpc>
                <a:spcPct val="114000"/>
              </a:lnSpc>
              <a:spcAft>
                <a:spcPts val="1500"/>
              </a:spcAft>
            </a:pPr>
            <a:r>
              <a:rPr sz="1160" b="0">
                <a:solidFill>
                  <a:srgbClr val="EAF0F7"/>
                </a:solidFill>
                <a:latin typeface="Segoe UI"/>
              </a:rPr>
              <a:t>·  Pandas — data handling</a:t>
            </a:r>
          </a:p>
          <a:p>
            <a:pPr algn="l">
              <a:lnSpc>
                <a:spcPct val="114000"/>
              </a:lnSpc>
              <a:spcAft>
                <a:spcPts val="1500"/>
              </a:spcAft>
            </a:pPr>
            <a:r>
              <a:rPr sz="1160" b="0">
                <a:solidFill>
                  <a:srgbClr val="EAF0F7"/>
                </a:solidFill>
                <a:latin typeface="Segoe UI"/>
              </a:rPr>
              <a:t>·  NumPy — numerics</a:t>
            </a:r>
          </a:p>
          <a:p>
            <a:pPr algn="l">
              <a:lnSpc>
                <a:spcPct val="114000"/>
              </a:lnSpc>
              <a:spcAft>
                <a:spcPts val="1500"/>
              </a:spcAft>
            </a:pPr>
            <a:r>
              <a:rPr sz="1160" b="0">
                <a:solidFill>
                  <a:srgbClr val="EAF0F7"/>
                </a:solidFill>
                <a:latin typeface="Segoe UI"/>
              </a:rPr>
              <a:t>·  SQL Server — extraction</a:t>
            </a:r>
          </a:p>
          <a:p>
            <a:pPr algn="l">
              <a:lnSpc>
                <a:spcPct val="114000"/>
              </a:lnSpc>
              <a:spcAft>
                <a:spcPts val="1500"/>
              </a:spcAft>
            </a:pPr>
            <a:r>
              <a:rPr sz="1160" b="0">
                <a:solidFill>
                  <a:srgbClr val="EAF0F7"/>
                </a:solidFill>
                <a:latin typeface="Segoe UI"/>
              </a:rPr>
              <a:t>·  SQLAlchemy — DB layer</a:t>
            </a:r>
          </a:p>
        </p:txBody>
      </p:sp>
      <p:sp>
        <p:nvSpPr>
          <p:cNvPr id="10" name="Rounded Rectangle 9"/>
          <p:cNvSpPr/>
          <p:nvPr/>
        </p:nvSpPr>
        <p:spPr>
          <a:xfrm>
            <a:off x="3377107" y="1517904"/>
            <a:ext cx="2627299" cy="305409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77107" y="1517904"/>
            <a:ext cx="2627299" cy="4114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9987" y="1755648"/>
            <a:ext cx="2261539" cy="2633472"/>
          </a:xfrm>
          <a:prstGeom prst="rect">
            <a:avLst/>
          </a:prstGeom>
          <a:noFill/>
        </p:spPr>
        <p:txBody>
          <a:bodyPr wrap="square" lIns="0" rIns="0" tIns="0" bIns="0" anchor="t">
            <a:spAutoFit/>
          </a:bodyPr>
          <a:lstStyle/>
          <a:p>
            <a:pPr algn="l">
              <a:lnSpc>
                <a:spcPct val="112000"/>
              </a:lnSpc>
              <a:spcAft>
                <a:spcPts val="1300"/>
              </a:spcAft>
            </a:pPr>
            <a:r>
              <a:rPr sz="1100" b="1">
                <a:solidFill>
                  <a:srgbClr val="F5A623"/>
                </a:solidFill>
                <a:latin typeface="Consolas"/>
              </a:rPr>
              <a:t>MACHINE LEARNING</a:t>
            </a:r>
          </a:p>
          <a:p>
            <a:pPr algn="l">
              <a:lnSpc>
                <a:spcPct val="114000"/>
              </a:lnSpc>
              <a:spcAft>
                <a:spcPts val="1500"/>
              </a:spcAft>
            </a:pPr>
            <a:r>
              <a:rPr sz="1160" b="0">
                <a:solidFill>
                  <a:srgbClr val="EAF0F7"/>
                </a:solidFill>
                <a:latin typeface="Segoe UI"/>
              </a:rPr>
              <a:t>·  Scikit-learn — training</a:t>
            </a:r>
          </a:p>
          <a:p>
            <a:pPr algn="l">
              <a:lnSpc>
                <a:spcPct val="114000"/>
              </a:lnSpc>
              <a:spcAft>
                <a:spcPts val="1500"/>
              </a:spcAft>
            </a:pPr>
            <a:r>
              <a:rPr sz="1160" b="0">
                <a:solidFill>
                  <a:srgbClr val="EAF0F7"/>
                </a:solidFill>
                <a:latin typeface="Segoe UI"/>
              </a:rPr>
              <a:t>·  Logistic Regression (live)</a:t>
            </a:r>
          </a:p>
          <a:p>
            <a:pPr algn="l">
              <a:lnSpc>
                <a:spcPct val="114000"/>
              </a:lnSpc>
              <a:spcAft>
                <a:spcPts val="1500"/>
              </a:spcAft>
            </a:pPr>
            <a:r>
              <a:rPr sz="1160" b="0">
                <a:solidFill>
                  <a:srgbClr val="EAF0F7"/>
                </a:solidFill>
                <a:latin typeface="Segoe UI"/>
              </a:rPr>
              <a:t>·  Random Forest · XGBoost · LightGBM</a:t>
            </a:r>
          </a:p>
          <a:p>
            <a:pPr algn="l">
              <a:lnSpc>
                <a:spcPct val="114000"/>
              </a:lnSpc>
              <a:spcAft>
                <a:spcPts val="1500"/>
              </a:spcAft>
            </a:pPr>
            <a:r>
              <a:rPr sz="1160" b="0">
                <a:solidFill>
                  <a:srgbClr val="EAF0F7"/>
                </a:solidFill>
                <a:latin typeface="Segoe UI"/>
              </a:rPr>
              <a:t>·  Joblib — model files</a:t>
            </a:r>
          </a:p>
          <a:p>
            <a:pPr algn="l">
              <a:lnSpc>
                <a:spcPct val="114000"/>
              </a:lnSpc>
              <a:spcAft>
                <a:spcPts val="1500"/>
              </a:spcAft>
            </a:pPr>
            <a:r>
              <a:rPr sz="1160" b="0">
                <a:solidFill>
                  <a:srgbClr val="EAF0F7"/>
                </a:solidFill>
                <a:latin typeface="Segoe UI"/>
              </a:rPr>
              <a:t>·  SHAP — research only</a:t>
            </a:r>
          </a:p>
        </p:txBody>
      </p:sp>
      <p:sp>
        <p:nvSpPr>
          <p:cNvPr id="13" name="Rounded Rectangle 12"/>
          <p:cNvSpPr/>
          <p:nvPr/>
        </p:nvSpPr>
        <p:spPr>
          <a:xfrm>
            <a:off x="6187287" y="1517904"/>
            <a:ext cx="2627299" cy="305409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87287" y="1517904"/>
            <a:ext cx="2627299" cy="41148"/>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1755648"/>
            <a:ext cx="2261539" cy="2633472"/>
          </a:xfrm>
          <a:prstGeom prst="rect">
            <a:avLst/>
          </a:prstGeom>
          <a:noFill/>
        </p:spPr>
        <p:txBody>
          <a:bodyPr wrap="square" lIns="0" rIns="0" tIns="0" bIns="0" anchor="t">
            <a:spAutoFit/>
          </a:bodyPr>
          <a:lstStyle/>
          <a:p>
            <a:pPr algn="l">
              <a:lnSpc>
                <a:spcPct val="112000"/>
              </a:lnSpc>
              <a:spcAft>
                <a:spcPts val="1300"/>
              </a:spcAft>
            </a:pPr>
            <a:r>
              <a:rPr sz="1100" b="1">
                <a:solidFill>
                  <a:srgbClr val="4C8DFF"/>
                </a:solidFill>
                <a:latin typeface="Consolas"/>
              </a:rPr>
              <a:t>WEB APPLICATION</a:t>
            </a:r>
          </a:p>
          <a:p>
            <a:pPr algn="l">
              <a:lnSpc>
                <a:spcPct val="114000"/>
              </a:lnSpc>
              <a:spcAft>
                <a:spcPts val="1500"/>
              </a:spcAft>
            </a:pPr>
            <a:r>
              <a:rPr sz="1160" b="0">
                <a:solidFill>
                  <a:srgbClr val="EAF0F7"/>
                </a:solidFill>
                <a:latin typeface="Segoe UI"/>
              </a:rPr>
              <a:t>·  Flask — app server</a:t>
            </a:r>
          </a:p>
          <a:p>
            <a:pPr algn="l">
              <a:lnSpc>
                <a:spcPct val="114000"/>
              </a:lnSpc>
              <a:spcAft>
                <a:spcPts val="1500"/>
              </a:spcAft>
            </a:pPr>
            <a:r>
              <a:rPr sz="1160" b="0">
                <a:solidFill>
                  <a:srgbClr val="EAF0F7"/>
                </a:solidFill>
                <a:latin typeface="Segoe UI"/>
              </a:rPr>
              <a:t>·  Jinja2 — templates</a:t>
            </a:r>
          </a:p>
          <a:p>
            <a:pPr algn="l">
              <a:lnSpc>
                <a:spcPct val="114000"/>
              </a:lnSpc>
              <a:spcAft>
                <a:spcPts val="1500"/>
              </a:spcAft>
            </a:pPr>
            <a:r>
              <a:rPr sz="1160" b="0">
                <a:solidFill>
                  <a:srgbClr val="EAF0F7"/>
                </a:solidFill>
                <a:latin typeface="Segoe UI"/>
              </a:rPr>
              <a:t>·  HTML5 · CSS3 — design system</a:t>
            </a:r>
          </a:p>
          <a:p>
            <a:pPr algn="l">
              <a:lnSpc>
                <a:spcPct val="114000"/>
              </a:lnSpc>
              <a:spcAft>
                <a:spcPts val="1500"/>
              </a:spcAft>
            </a:pPr>
            <a:r>
              <a:rPr sz="1160" b="0">
                <a:solidFill>
                  <a:srgbClr val="EAF0F7"/>
                </a:solidFill>
                <a:latin typeface="Segoe UI"/>
              </a:rPr>
              <a:t>·  Vanilla JavaScript — charts</a:t>
            </a:r>
          </a:p>
          <a:p>
            <a:pPr algn="l">
              <a:lnSpc>
                <a:spcPct val="114000"/>
              </a:lnSpc>
              <a:spcAft>
                <a:spcPts val="1500"/>
              </a:spcAft>
            </a:pPr>
            <a:r>
              <a:rPr sz="1160" b="0">
                <a:solidFill>
                  <a:srgbClr val="EAF0F7"/>
                </a:solidFill>
                <a:latin typeface="Segoe UI"/>
              </a:rPr>
              <a:t>·  Gunicorn — WSGI server</a:t>
            </a:r>
          </a:p>
        </p:txBody>
      </p:sp>
      <p:sp>
        <p:nvSpPr>
          <p:cNvPr id="16" name="Rounded Rectangle 15"/>
          <p:cNvSpPr/>
          <p:nvPr/>
        </p:nvSpPr>
        <p:spPr>
          <a:xfrm>
            <a:off x="8997467" y="1517904"/>
            <a:ext cx="2627299" cy="305409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997467" y="1517904"/>
            <a:ext cx="2627299" cy="41148"/>
          </a:xfrm>
          <a:prstGeom prst="rect">
            <a:avLst/>
          </a:prstGeom>
          <a:solidFill>
            <a:srgbClr val="FF5C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0347" y="1755648"/>
            <a:ext cx="2261539" cy="2633472"/>
          </a:xfrm>
          <a:prstGeom prst="rect">
            <a:avLst/>
          </a:prstGeom>
          <a:noFill/>
        </p:spPr>
        <p:txBody>
          <a:bodyPr wrap="square" lIns="0" rIns="0" tIns="0" bIns="0" anchor="t">
            <a:spAutoFit/>
          </a:bodyPr>
          <a:lstStyle/>
          <a:p>
            <a:pPr algn="l">
              <a:lnSpc>
                <a:spcPct val="112000"/>
              </a:lnSpc>
              <a:spcAft>
                <a:spcPts val="1300"/>
              </a:spcAft>
            </a:pPr>
            <a:r>
              <a:rPr sz="1100" b="1">
                <a:solidFill>
                  <a:srgbClr val="FF5C6C"/>
                </a:solidFill>
                <a:latin typeface="Consolas"/>
              </a:rPr>
              <a:t>APIs &amp; DELIVERY</a:t>
            </a:r>
          </a:p>
          <a:p>
            <a:pPr algn="l">
              <a:lnSpc>
                <a:spcPct val="114000"/>
              </a:lnSpc>
              <a:spcAft>
                <a:spcPts val="1500"/>
              </a:spcAft>
            </a:pPr>
            <a:r>
              <a:rPr sz="1160" b="0">
                <a:solidFill>
                  <a:srgbClr val="EAF0F7"/>
                </a:solidFill>
                <a:latin typeface="Segoe UI"/>
              </a:rPr>
              <a:t>·  FastAPI + Pydantic — API</a:t>
            </a:r>
          </a:p>
          <a:p>
            <a:pPr algn="l">
              <a:lnSpc>
                <a:spcPct val="114000"/>
              </a:lnSpc>
              <a:spcAft>
                <a:spcPts val="1500"/>
              </a:spcAft>
            </a:pPr>
            <a:r>
              <a:rPr sz="1160" b="0">
                <a:solidFill>
                  <a:srgbClr val="EAF0F7"/>
                </a:solidFill>
                <a:latin typeface="Segoe UI"/>
              </a:rPr>
              <a:t>·  Docker — container</a:t>
            </a:r>
          </a:p>
          <a:p>
            <a:pPr algn="l">
              <a:lnSpc>
                <a:spcPct val="114000"/>
              </a:lnSpc>
              <a:spcAft>
                <a:spcPts val="1500"/>
              </a:spcAft>
            </a:pPr>
            <a:r>
              <a:rPr sz="1160" b="0">
                <a:solidFill>
                  <a:srgbClr val="EAF0F7"/>
                </a:solidFill>
                <a:latin typeface="Segoe UI"/>
              </a:rPr>
              <a:t>·  Render — cloud host</a:t>
            </a:r>
          </a:p>
          <a:p>
            <a:pPr algn="l">
              <a:lnSpc>
                <a:spcPct val="114000"/>
              </a:lnSpc>
              <a:spcAft>
                <a:spcPts val="1500"/>
              </a:spcAft>
            </a:pPr>
            <a:r>
              <a:rPr sz="1160" b="0">
                <a:solidFill>
                  <a:srgbClr val="EAF0F7"/>
                </a:solidFill>
                <a:latin typeface="Segoe UI"/>
              </a:rPr>
              <a:t>·  Git &amp; GitHub — versioning</a:t>
            </a:r>
          </a:p>
          <a:p>
            <a:pPr algn="l">
              <a:lnSpc>
                <a:spcPct val="114000"/>
              </a:lnSpc>
              <a:spcAft>
                <a:spcPts val="1500"/>
              </a:spcAft>
            </a:pPr>
            <a:r>
              <a:rPr sz="1160" b="0">
                <a:solidFill>
                  <a:srgbClr val="EAF0F7"/>
                </a:solidFill>
                <a:latin typeface="Segoe UI"/>
              </a:rPr>
              <a:t>·  Power BI (.pbix / .pbit)</a:t>
            </a:r>
          </a:p>
        </p:txBody>
      </p:sp>
      <p:sp>
        <p:nvSpPr>
          <p:cNvPr id="19" name="Rounded Rectangle 18"/>
          <p:cNvSpPr/>
          <p:nvPr/>
        </p:nvSpPr>
        <p:spPr>
          <a:xfrm>
            <a:off x="566928" y="4718304"/>
            <a:ext cx="11057839" cy="1499615"/>
          </a:xfrm>
          <a:prstGeom prst="roundRect">
            <a:avLst>
              <a:gd name="adj" fmla="val 8000"/>
            </a:avLst>
          </a:prstGeom>
          <a:solidFill>
            <a:srgbClr val="162136"/>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4846320"/>
            <a:ext cx="10692079" cy="1261871"/>
          </a:xfrm>
          <a:prstGeom prst="rect">
            <a:avLst/>
          </a:prstGeom>
          <a:noFill/>
        </p:spPr>
        <p:txBody>
          <a:bodyPr wrap="square" lIns="0" rIns="0" tIns="0" bIns="0" anchor="t">
            <a:spAutoFit/>
          </a:bodyPr>
          <a:lstStyle/>
          <a:p>
            <a:pPr algn="l">
              <a:lnSpc>
                <a:spcPct val="112000"/>
              </a:lnSpc>
              <a:spcAft>
                <a:spcPts val="300"/>
              </a:spcAft>
            </a:pPr>
            <a:r>
              <a:rPr sz="1150" b="1">
                <a:solidFill>
                  <a:srgbClr val="2FD8B4"/>
                </a:solidFill>
                <a:latin typeface="Segoe UI"/>
              </a:rPr>
              <a:t>THE DESIGN CHOICE BEHIND THE STACK</a:t>
            </a:r>
          </a:p>
          <a:p>
            <a:pPr algn="l">
              <a:lnSpc>
                <a:spcPct val="116000"/>
              </a:lnSpc>
              <a:spcAft>
                <a:spcPts val="0"/>
              </a:spcAft>
            </a:pPr>
            <a:r>
              <a:rPr sz="1080" b="0">
                <a:solidFill>
                  <a:srgbClr val="EAF0F7"/>
                </a:solidFill>
                <a:latin typeface="Segoe UI"/>
              </a:rPr>
              <a:t>Preprocessing, the saved column contract and the scoring functions are a single Python package imported by the notebooks, the Flask app, the FastAPI wrapper and the evaluation scripts. That is what makes training and production behaviour the same thing rather than two similar things.</a:t>
            </a:r>
          </a:p>
        </p:txBody>
      </p:sp>
      <p:sp>
        <p:nvSpPr>
          <p:cNvPr id="21" name="Rectangle 20"/>
          <p:cNvSpPr/>
          <p:nvPr/>
        </p:nvSpPr>
        <p:spPr>
          <a:xfrm>
            <a:off x="566928"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360365"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153803"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947241"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740679"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34117"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327555"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20993"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914431"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07869"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501307"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294745"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088183"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0881621"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a:t>
            </a:r>
          </a:p>
        </p:txBody>
      </p:sp>
      <p:sp>
        <p:nvSpPr>
          <p:cNvPr id="37" name="TextBox 36"/>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RESPONSIBLE AI, LIMITS &amp; THE NEXT CYCLE</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What this model should not be trusted with</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Where it breaks, who it might treat unfairly, and what the next cycle fixes</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517904"/>
            <a:ext cx="3527450" cy="4700016"/>
          </a:xfrm>
          <a:prstGeom prst="roundRect">
            <a:avLst>
              <a:gd name="adj" fmla="val 8000"/>
            </a:avLst>
          </a:prstGeom>
          <a:solidFill>
            <a:srgbClr val="111A2C"/>
          </a:solidFill>
          <a:ln w="1524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1682495"/>
            <a:ext cx="3125114" cy="4370831"/>
          </a:xfrm>
          <a:prstGeom prst="rect">
            <a:avLst/>
          </a:prstGeom>
          <a:noFill/>
        </p:spPr>
        <p:txBody>
          <a:bodyPr wrap="square" lIns="0" rIns="0" tIns="0" bIns="0" anchor="t">
            <a:spAutoFit/>
          </a:bodyPr>
          <a:lstStyle/>
          <a:p>
            <a:pPr algn="l">
              <a:lnSpc>
                <a:spcPct val="112000"/>
              </a:lnSpc>
              <a:spcAft>
                <a:spcPts val="700"/>
              </a:spcAft>
            </a:pPr>
            <a:r>
              <a:rPr sz="1100" b="1">
                <a:solidFill>
                  <a:srgbClr val="F5A623"/>
                </a:solidFill>
                <a:latin typeface="Consolas"/>
              </a:rPr>
              <a:t>LIMITATIONS — STATED PLAINLY</a:t>
            </a:r>
          </a:p>
          <a:p>
            <a:pPr algn="l">
              <a:lnSpc>
                <a:spcPct val="116000"/>
              </a:lnSpc>
              <a:spcAft>
                <a:spcPts val="500"/>
              </a:spcAft>
            </a:pPr>
            <a:r>
              <a:rPr sz="1060" b="0">
                <a:solidFill>
                  <a:srgbClr val="EAF0F7"/>
                </a:solidFill>
                <a:latin typeface="Segoe UI"/>
              </a:rPr>
              <a:t>▸  Trained on historical data from one telecom; behaviour may not transfer</a:t>
            </a:r>
          </a:p>
          <a:p>
            <a:pPr algn="l">
              <a:lnSpc>
                <a:spcPct val="116000"/>
              </a:lnSpc>
              <a:spcAft>
                <a:spcPts val="500"/>
              </a:spcAft>
            </a:pPr>
            <a:r>
              <a:rPr sz="1060" b="0">
                <a:solidFill>
                  <a:srgbClr val="EAF0F7"/>
                </a:solidFill>
                <a:latin typeface="Segoe UI"/>
              </a:rPr>
              <a:t>▸  56.95% recall at the deployed threshold — two in five churners missed</a:t>
            </a:r>
          </a:p>
          <a:p>
            <a:pPr algn="l">
              <a:lnSpc>
                <a:spcPct val="116000"/>
              </a:lnSpc>
              <a:spcAft>
                <a:spcPts val="500"/>
              </a:spcAft>
            </a:pPr>
            <a:r>
              <a:rPr sz="1060" b="0">
                <a:solidFill>
                  <a:srgbClr val="EAF0F7"/>
                </a:solidFill>
                <a:latin typeface="Segoe UI"/>
              </a:rPr>
              <a:t>▸  No live behavioural feed, no drift monitoring, no automatic retraining</a:t>
            </a:r>
          </a:p>
          <a:p>
            <a:pPr algn="l">
              <a:lnSpc>
                <a:spcPct val="116000"/>
              </a:lnSpc>
              <a:spcAft>
                <a:spcPts val="500"/>
              </a:spcAft>
            </a:pPr>
            <a:r>
              <a:rPr sz="1060" b="0">
                <a:solidFill>
                  <a:srgbClr val="EAF0F7"/>
                </a:solidFill>
                <a:latin typeface="Segoe UI"/>
              </a:rPr>
              <a:t>▸  Probabilities are not guarantees; recommendations are decision support</a:t>
            </a:r>
          </a:p>
          <a:p>
            <a:pPr algn="l">
              <a:lnSpc>
                <a:spcPct val="116000"/>
              </a:lnSpc>
              <a:spcAft>
                <a:spcPts val="0"/>
              </a:spcAft>
            </a:pPr>
            <a:r>
              <a:rPr sz="1060" b="0">
                <a:solidFill>
                  <a:srgbClr val="EAF0F7"/>
                </a:solidFill>
                <a:latin typeface="Segoe UI"/>
              </a:rPr>
              <a:t>▸  Revenue figures are exposure, not realised savings</a:t>
            </a:r>
          </a:p>
        </p:txBody>
      </p:sp>
      <p:sp>
        <p:nvSpPr>
          <p:cNvPr id="9" name="Rounded Rectangle 8"/>
          <p:cNvSpPr/>
          <p:nvPr/>
        </p:nvSpPr>
        <p:spPr>
          <a:xfrm>
            <a:off x="4332122" y="1517904"/>
            <a:ext cx="3527450" cy="4700016"/>
          </a:xfrm>
          <a:prstGeom prst="roundRect">
            <a:avLst>
              <a:gd name="adj" fmla="val 8000"/>
            </a:avLst>
          </a:prstGeom>
          <a:solidFill>
            <a:srgbClr val="111A2C"/>
          </a:solidFill>
          <a:ln w="15240">
            <a:solidFill>
              <a:srgbClr val="FF5C6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33290" y="1682495"/>
            <a:ext cx="3125114" cy="4370831"/>
          </a:xfrm>
          <a:prstGeom prst="rect">
            <a:avLst/>
          </a:prstGeom>
          <a:noFill/>
        </p:spPr>
        <p:txBody>
          <a:bodyPr wrap="square" lIns="0" rIns="0" tIns="0" bIns="0" anchor="t">
            <a:spAutoFit/>
          </a:bodyPr>
          <a:lstStyle/>
          <a:p>
            <a:pPr algn="l">
              <a:lnSpc>
                <a:spcPct val="112000"/>
              </a:lnSpc>
              <a:spcAft>
                <a:spcPts val="700"/>
              </a:spcAft>
            </a:pPr>
            <a:r>
              <a:rPr sz="1100" b="1">
                <a:solidFill>
                  <a:srgbClr val="FF5C6C"/>
                </a:solidFill>
                <a:latin typeface="Consolas"/>
              </a:rPr>
              <a:t>FAIRNESS — AN OPEN QUESTION</a:t>
            </a:r>
          </a:p>
          <a:p>
            <a:pPr algn="l">
              <a:lnSpc>
                <a:spcPct val="116000"/>
              </a:lnSpc>
              <a:spcAft>
                <a:spcPts val="500"/>
              </a:spcAft>
            </a:pPr>
            <a:r>
              <a:rPr sz="1060" b="0">
                <a:solidFill>
                  <a:srgbClr val="EAF0F7"/>
                </a:solidFill>
                <a:latin typeface="Segoe UI"/>
              </a:rPr>
              <a:t>▸  Senior citizens churn at 41.7% — nearly double the base rate. A model optimising for churn risk will systematically concentrate its retention offers on them.</a:t>
            </a:r>
          </a:p>
          <a:p>
            <a:pPr algn="l">
              <a:lnSpc>
                <a:spcPct val="116000"/>
              </a:lnSpc>
              <a:spcAft>
                <a:spcPts val="500"/>
              </a:spcAft>
            </a:pPr>
            <a:r>
              <a:rPr sz="1060" b="0">
                <a:solidFill>
                  <a:srgbClr val="EAF0F7"/>
                </a:solidFill>
                <a:latin typeface="Segoe UI"/>
              </a:rPr>
              <a:t>▸  A blanket discount aimed at that group is not neutral; it can read as exploitative pricing.</a:t>
            </a:r>
          </a:p>
          <a:p>
            <a:pPr algn="l">
              <a:lnSpc>
                <a:spcPct val="116000"/>
              </a:lnSpc>
              <a:spcAft>
                <a:spcPts val="0"/>
              </a:spcAft>
            </a:pPr>
            <a:r>
              <a:rPr sz="1060" b="0">
                <a:solidFill>
                  <a:srgbClr val="EAF0F7"/>
                </a:solidFill>
                <a:latin typeface="Segoe UI"/>
              </a:rPr>
              <a:t>▸  No bias audit has been run. Before this touched real customers, that would be a prerequisite, not a nice-to-have.</a:t>
            </a:r>
          </a:p>
        </p:txBody>
      </p:sp>
      <p:sp>
        <p:nvSpPr>
          <p:cNvPr id="11" name="Rounded Rectangle 10"/>
          <p:cNvSpPr/>
          <p:nvPr/>
        </p:nvSpPr>
        <p:spPr>
          <a:xfrm>
            <a:off x="8097316" y="1517904"/>
            <a:ext cx="3527450" cy="4700016"/>
          </a:xfrm>
          <a:prstGeom prst="roundRect">
            <a:avLst>
              <a:gd name="adj" fmla="val 8000"/>
            </a:avLst>
          </a:prstGeom>
          <a:solidFill>
            <a:srgbClr val="111A2C"/>
          </a:solidFill>
          <a:ln w="15240">
            <a:solidFill>
              <a:srgbClr val="4C8D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98484" y="1682495"/>
            <a:ext cx="3125114" cy="4370831"/>
          </a:xfrm>
          <a:prstGeom prst="rect">
            <a:avLst/>
          </a:prstGeom>
          <a:noFill/>
        </p:spPr>
        <p:txBody>
          <a:bodyPr wrap="square" lIns="0" rIns="0" tIns="0" bIns="0" anchor="t">
            <a:spAutoFit/>
          </a:bodyPr>
          <a:lstStyle/>
          <a:p>
            <a:pPr algn="l">
              <a:lnSpc>
                <a:spcPct val="112000"/>
              </a:lnSpc>
              <a:spcAft>
                <a:spcPts val="700"/>
              </a:spcAft>
            </a:pPr>
            <a:r>
              <a:rPr sz="1100" b="1">
                <a:solidFill>
                  <a:srgbClr val="4C8DFF"/>
                </a:solidFill>
                <a:latin typeface="Consolas"/>
              </a:rPr>
              <a:t>THE NEXT CYCLE</a:t>
            </a:r>
          </a:p>
          <a:p>
            <a:pPr algn="l">
              <a:lnSpc>
                <a:spcPct val="116000"/>
              </a:lnSpc>
              <a:spcAft>
                <a:spcPts val="500"/>
              </a:spcAft>
            </a:pPr>
            <a:r>
              <a:rPr sz="1060" b="0">
                <a:solidFill>
                  <a:srgbClr val="EAF0F7"/>
                </a:solidFill>
                <a:latin typeface="Segoe UI"/>
              </a:rPr>
              <a:t>▸  Move the operating point deliberately — 0.35 catches 71.7% of churners at no cost to F1</a:t>
            </a:r>
          </a:p>
          <a:p>
            <a:pPr algn="l">
              <a:lnSpc>
                <a:spcPct val="116000"/>
              </a:lnSpc>
              <a:spcAft>
                <a:spcPts val="500"/>
              </a:spcAft>
            </a:pPr>
            <a:r>
              <a:rPr sz="1060" b="0">
                <a:solidFill>
                  <a:srgbClr val="EAF0F7"/>
                </a:solidFill>
                <a:latin typeface="Segoe UI"/>
              </a:rPr>
              <a:t>▸  Decide the threshold with the business: a wasted offer is cheap, a lost customer is not</a:t>
            </a:r>
          </a:p>
          <a:p>
            <a:pPr algn="l">
              <a:lnSpc>
                <a:spcPct val="116000"/>
              </a:lnSpc>
              <a:spcAft>
                <a:spcPts val="500"/>
              </a:spcAft>
            </a:pPr>
            <a:r>
              <a:rPr sz="1060" b="0">
                <a:solidFill>
                  <a:srgbClr val="EAF0F7"/>
                </a:solidFill>
                <a:latin typeface="Segoe UI"/>
              </a:rPr>
              <a:t>▸  Bias audit across age and other protected attributes</a:t>
            </a:r>
          </a:p>
          <a:p>
            <a:pPr algn="l">
              <a:lnSpc>
                <a:spcPct val="116000"/>
              </a:lnSpc>
              <a:spcAft>
                <a:spcPts val="0"/>
              </a:spcAft>
            </a:pPr>
            <a:r>
              <a:rPr sz="1060" b="0">
                <a:solidFill>
                  <a:srgbClr val="EAF0F7"/>
                </a:solidFill>
                <a:latin typeface="Segoe UI"/>
              </a:rPr>
              <a:t>▸  Drift detection and scheduled retraining — which sends the project back to Phase 02</a:t>
            </a:r>
          </a:p>
        </p:txBody>
      </p:sp>
      <p:sp>
        <p:nvSpPr>
          <p:cNvPr id="13" name="Rectangle 12"/>
          <p:cNvSpPr/>
          <p:nvPr/>
        </p:nvSpPr>
        <p:spPr>
          <a:xfrm>
            <a:off x="566928"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360365"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153803"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947241"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40679"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34117"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327555"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0993"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14431"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07869"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501307"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94745"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088183"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881621"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RetainIQ · Signal Ops Console</a:t>
            </a:r>
          </a:p>
        </p:txBody>
      </p:sp>
      <p:sp>
        <p:nvSpPr>
          <p:cNvPr id="29" name="TextBox 28"/>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2FD8B4"/>
                </a:solidFill>
                <a:latin typeface="Consolas"/>
              </a:rPr>
              <a:t>THANK YOU</a:t>
            </a:r>
          </a:p>
        </p:txBody>
      </p:sp>
      <p:sp>
        <p:nvSpPr>
          <p:cNvPr id="5" name="TextBox 4"/>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See it running</a:t>
            </a:r>
          </a:p>
        </p:txBody>
      </p:sp>
      <p:sp>
        <p:nvSpPr>
          <p:cNvPr id="6" name="TextBox 5"/>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Scan to open the live application and score a customer portfolio</a:t>
            </a:r>
          </a:p>
        </p:txBody>
      </p:sp>
      <p:sp>
        <p:nvSpPr>
          <p:cNvPr id="7" name="Rectangle 6"/>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6928" y="1517904"/>
            <a:ext cx="5321808" cy="3968496"/>
          </a:xfrm>
          <a:prstGeom prst="roundRect">
            <a:avLst>
              <a:gd name="adj" fmla="val 8000"/>
            </a:avLst>
          </a:prstGeom>
          <a:solidFill>
            <a:srgbClr val="111A2C"/>
          </a:solidFill>
          <a:ln w="1778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737360"/>
            <a:ext cx="4809744" cy="3529584"/>
          </a:xfrm>
          <a:prstGeom prst="rect">
            <a:avLst/>
          </a:prstGeom>
          <a:noFill/>
        </p:spPr>
        <p:txBody>
          <a:bodyPr wrap="square" lIns="0" rIns="0" tIns="0" bIns="0" anchor="t">
            <a:spAutoFit/>
          </a:bodyPr>
          <a:lstStyle/>
          <a:p>
            <a:pPr algn="l">
              <a:lnSpc>
                <a:spcPct val="112000"/>
              </a:lnSpc>
              <a:spcAft>
                <a:spcPts val="800"/>
              </a:spcAft>
            </a:pPr>
            <a:r>
              <a:rPr sz="1050" b="1">
                <a:solidFill>
                  <a:srgbClr val="2FD8B4"/>
                </a:solidFill>
                <a:latin typeface="Consolas"/>
              </a:rPr>
              <a:t>LIVE APPLICATION</a:t>
            </a:r>
          </a:p>
          <a:p>
            <a:pPr algn="l">
              <a:lnSpc>
                <a:spcPct val="116000"/>
              </a:lnSpc>
              <a:spcAft>
                <a:spcPts val="1000"/>
              </a:spcAft>
            </a:pPr>
            <a:r>
              <a:rPr sz="1100" b="1">
                <a:solidFill>
                  <a:srgbClr val="EAF0F7"/>
                </a:solidFill>
                <a:latin typeface="Segoe UI"/>
              </a:rPr>
              <a:t>retainiq-predictive-customer-retention-zq6x.onrender.com</a:t>
            </a:r>
          </a:p>
          <a:p>
            <a:pPr algn="l">
              <a:lnSpc>
                <a:spcPct val="120000"/>
              </a:lnSpc>
              <a:spcAft>
                <a:spcPts val="1200"/>
              </a:spcAft>
            </a:pPr>
            <a:r>
              <a:rPr sz="1080" b="0">
                <a:solidFill>
                  <a:srgbClr val="8CA0BE"/>
                </a:solidFill>
                <a:latin typeface="Segoe UI"/>
              </a:rPr>
              <a:t>Bulk score a customer CSV, read the dashboard, and download a private report. The model, risk bands, explanations and recommendations run live — the same code paths that produced every figure in this deck.</a:t>
            </a:r>
          </a:p>
          <a:p>
            <a:pPr algn="l">
              <a:lnSpc>
                <a:spcPct val="112000"/>
              </a:lnSpc>
              <a:spcAft>
                <a:spcPts val="500"/>
              </a:spcAft>
            </a:pPr>
            <a:r>
              <a:rPr sz="1050" b="1">
                <a:solidFill>
                  <a:srgbClr val="4C8DFF"/>
                </a:solidFill>
                <a:latin typeface="Consolas"/>
              </a:rPr>
              <a:t>SOURCE CODE</a:t>
            </a:r>
          </a:p>
          <a:p>
            <a:pPr algn="l">
              <a:lnSpc>
                <a:spcPct val="116000"/>
              </a:lnSpc>
              <a:spcAft>
                <a:spcPts val="1200"/>
              </a:spcAft>
            </a:pPr>
            <a:r>
              <a:rPr sz="1060" b="0">
                <a:solidFill>
                  <a:srgbClr val="EAF0F7"/>
                </a:solidFill>
                <a:latin typeface="Consolas"/>
              </a:rPr>
              <a:t>github.com/Logesh0247/RetainIQ_Signal_Ops_Console</a:t>
            </a:r>
          </a:p>
          <a:p>
            <a:pPr algn="l">
              <a:lnSpc>
                <a:spcPct val="118000"/>
              </a:lnSpc>
              <a:spcAft>
                <a:spcPts val="1000"/>
              </a:spcAft>
            </a:pPr>
            <a:r>
              <a:rPr sz="1040" b="0">
                <a:solidFill>
                  <a:srgbClr val="8CA0BE"/>
                </a:solidFill>
                <a:latin typeface="Segoe UI"/>
              </a:rPr>
              <a:t>Notebooks 01–09, the Flask console, the FastAPI wrapper and the nine-test suite are all in the repository.</a:t>
            </a:r>
          </a:p>
          <a:p>
            <a:pPr algn="l">
              <a:lnSpc>
                <a:spcPct val="118000"/>
              </a:lnSpc>
              <a:spcAft>
                <a:spcPts val="0"/>
              </a:spcAft>
            </a:pPr>
            <a:r>
              <a:rPr sz="1040" b="0">
                <a:solidFill>
                  <a:srgbClr val="F5A623"/>
                </a:solidFill>
                <a:latin typeface="Segoe UI"/>
              </a:rPr>
              <a:t>The host is a free tier — open it once a minute before the review so the first scan is instant.</a:t>
            </a:r>
          </a:p>
        </p:txBody>
      </p:sp>
      <p:sp>
        <p:nvSpPr>
          <p:cNvPr id="10" name="Rounded Rectangle 9"/>
          <p:cNvSpPr/>
          <p:nvPr/>
        </p:nvSpPr>
        <p:spPr>
          <a:xfrm>
            <a:off x="5980176" y="1517904"/>
            <a:ext cx="2724912" cy="3968496"/>
          </a:xfrm>
          <a:prstGeom prst="roundRect">
            <a:avLst>
              <a:gd name="adj" fmla="val 8000"/>
            </a:avLst>
          </a:prstGeom>
          <a:solidFill>
            <a:srgbClr val="FFFFFF"/>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qr_live_app.png"/>
          <p:cNvPicPr>
            <a:picLocks noChangeAspect="1"/>
          </p:cNvPicPr>
          <p:nvPr/>
        </p:nvPicPr>
        <p:blipFill>
          <a:blip r:embed="rId2"/>
          <a:stretch>
            <a:fillRect/>
          </a:stretch>
        </p:blipFill>
        <p:spPr>
          <a:xfrm>
            <a:off x="6035040" y="1719072"/>
            <a:ext cx="2615184" cy="2615184"/>
          </a:xfrm>
          <a:prstGeom prst="rect">
            <a:avLst/>
          </a:prstGeom>
        </p:spPr>
      </p:pic>
      <p:sp>
        <p:nvSpPr>
          <p:cNvPr id="12" name="TextBox 11"/>
          <p:cNvSpPr txBox="1"/>
          <p:nvPr/>
        </p:nvSpPr>
        <p:spPr>
          <a:xfrm>
            <a:off x="6126480" y="4864608"/>
            <a:ext cx="2432304" cy="475488"/>
          </a:xfrm>
          <a:prstGeom prst="rect">
            <a:avLst/>
          </a:prstGeom>
          <a:noFill/>
        </p:spPr>
        <p:txBody>
          <a:bodyPr wrap="square" lIns="0" rIns="0" tIns="0" bIns="0" anchor="t">
            <a:spAutoFit/>
          </a:bodyPr>
          <a:lstStyle/>
          <a:p>
            <a:pPr algn="ctr">
              <a:lnSpc>
                <a:spcPct val="112000"/>
              </a:lnSpc>
              <a:spcAft>
                <a:spcPts val="200"/>
              </a:spcAft>
            </a:pPr>
            <a:r>
              <a:rPr sz="950" b="1">
                <a:solidFill>
                  <a:srgbClr val="0A0F1C"/>
                </a:solidFill>
                <a:latin typeface="Consolas"/>
              </a:rPr>
              <a:t>SCAN FOR THE</a:t>
            </a:r>
          </a:p>
          <a:p>
            <a:pPr algn="ctr">
              <a:lnSpc>
                <a:spcPct val="112000"/>
              </a:lnSpc>
              <a:spcAft>
                <a:spcPts val="0"/>
              </a:spcAft>
            </a:pPr>
            <a:r>
              <a:rPr sz="950" b="1">
                <a:solidFill>
                  <a:srgbClr val="0A0F1C"/>
                </a:solidFill>
                <a:latin typeface="Consolas"/>
              </a:rPr>
              <a:t>LIVE APPLICATION</a:t>
            </a:r>
          </a:p>
        </p:txBody>
      </p:sp>
      <p:sp>
        <p:nvSpPr>
          <p:cNvPr id="13" name="Rounded Rectangle 12"/>
          <p:cNvSpPr/>
          <p:nvPr/>
        </p:nvSpPr>
        <p:spPr>
          <a:xfrm>
            <a:off x="8796528" y="1517904"/>
            <a:ext cx="2825496" cy="3968496"/>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qr_repository.png"/>
          <p:cNvPicPr>
            <a:picLocks noChangeAspect="1"/>
          </p:cNvPicPr>
          <p:nvPr/>
        </p:nvPicPr>
        <p:blipFill>
          <a:blip r:embed="rId3"/>
          <a:stretch>
            <a:fillRect/>
          </a:stretch>
        </p:blipFill>
        <p:spPr>
          <a:xfrm>
            <a:off x="9637776" y="1737360"/>
            <a:ext cx="1143000" cy="1143000"/>
          </a:xfrm>
          <a:prstGeom prst="rect">
            <a:avLst/>
          </a:prstGeom>
        </p:spPr>
      </p:pic>
      <p:sp>
        <p:nvSpPr>
          <p:cNvPr id="15" name="TextBox 14"/>
          <p:cNvSpPr txBox="1"/>
          <p:nvPr/>
        </p:nvSpPr>
        <p:spPr>
          <a:xfrm>
            <a:off x="8979408" y="1773936"/>
            <a:ext cx="603504" cy="914400"/>
          </a:xfrm>
          <a:prstGeom prst="rect">
            <a:avLst/>
          </a:prstGeom>
          <a:noFill/>
        </p:spPr>
        <p:txBody>
          <a:bodyPr wrap="square" lIns="0" rIns="0" tIns="0" bIns="0" anchor="t">
            <a:spAutoFit/>
          </a:bodyPr>
          <a:lstStyle/>
          <a:p>
            <a:pPr algn="l">
              <a:lnSpc>
                <a:spcPct val="112000"/>
              </a:lnSpc>
              <a:spcAft>
                <a:spcPts val="300"/>
              </a:spcAft>
            </a:pPr>
            <a:r>
              <a:rPr sz="850" b="1">
                <a:solidFill>
                  <a:srgbClr val="8CA0BE"/>
                </a:solidFill>
                <a:latin typeface="Consolas"/>
              </a:rPr>
              <a:t>SOURCE</a:t>
            </a:r>
          </a:p>
          <a:p>
            <a:pPr algn="l">
              <a:lnSpc>
                <a:spcPct val="112000"/>
              </a:lnSpc>
              <a:spcAft>
                <a:spcPts val="0"/>
              </a:spcAft>
            </a:pPr>
            <a:r>
              <a:rPr sz="850" b="1">
                <a:solidFill>
                  <a:srgbClr val="8CA0BE"/>
                </a:solidFill>
                <a:latin typeface="Consolas"/>
              </a:rPr>
              <a:t>REPO</a:t>
            </a:r>
          </a:p>
        </p:txBody>
      </p:sp>
      <p:sp>
        <p:nvSpPr>
          <p:cNvPr id="16" name="TextBox 15"/>
          <p:cNvSpPr txBox="1"/>
          <p:nvPr/>
        </p:nvSpPr>
        <p:spPr>
          <a:xfrm>
            <a:off x="8979408" y="2999232"/>
            <a:ext cx="2459736" cy="2194560"/>
          </a:xfrm>
          <a:prstGeom prst="rect">
            <a:avLst/>
          </a:prstGeom>
          <a:noFill/>
        </p:spPr>
        <p:txBody>
          <a:bodyPr wrap="square" lIns="0" rIns="0" tIns="0" bIns="0" anchor="t">
            <a:spAutoFit/>
          </a:bodyPr>
          <a:lstStyle/>
          <a:p>
            <a:pPr algn="l">
              <a:lnSpc>
                <a:spcPct val="112000"/>
              </a:lnSpc>
              <a:spcAft>
                <a:spcPts val="500"/>
              </a:spcAft>
            </a:pPr>
            <a:r>
              <a:rPr sz="1900" b="1">
                <a:solidFill>
                  <a:srgbClr val="EAF0F7"/>
                </a:solidFill>
                <a:latin typeface="Segoe UI"/>
              </a:rPr>
              <a:t>Thank you</a:t>
            </a:r>
          </a:p>
          <a:p>
            <a:pPr algn="l">
              <a:lnSpc>
                <a:spcPct val="112000"/>
              </a:lnSpc>
              <a:spcAft>
                <a:spcPts val="1000"/>
              </a:spcAft>
            </a:pPr>
            <a:r>
              <a:rPr sz="1100" b="0">
                <a:solidFill>
                  <a:srgbClr val="2FD8B4"/>
                </a:solidFill>
                <a:latin typeface="Segoe UI"/>
              </a:rPr>
              <a:t>Questions welcome.</a:t>
            </a:r>
          </a:p>
          <a:p>
            <a:pPr algn="l">
              <a:lnSpc>
                <a:spcPct val="118000"/>
              </a:lnSpc>
              <a:spcAft>
                <a:spcPts val="0"/>
              </a:spcAft>
            </a:pPr>
            <a:r>
              <a:rPr sz="1040" b="0">
                <a:solidFill>
                  <a:srgbClr val="8CA0BE"/>
                </a:solidFill>
                <a:latin typeface="Segoe UI"/>
              </a:rPr>
              <a:t>RetainIQ — from a churn probability to a prioritised, explained, costed retention action.</a:t>
            </a:r>
          </a:p>
        </p:txBody>
      </p:sp>
      <p:sp>
        <p:nvSpPr>
          <p:cNvPr id="17" name="Rectangle 16"/>
          <p:cNvSpPr/>
          <p:nvPr/>
        </p:nvSpPr>
        <p:spPr>
          <a:xfrm>
            <a:off x="10104120" y="4795113"/>
            <a:ext cx="89382" cy="170992"/>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259568" y="4670755"/>
            <a:ext cx="89382" cy="29535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0415016" y="4546396"/>
            <a:ext cx="89382" cy="419709"/>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0464" y="4422038"/>
            <a:ext cx="89382" cy="544068"/>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725912" y="4297680"/>
            <a:ext cx="89382" cy="668426"/>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5669280"/>
            <a:ext cx="11057839" cy="548640"/>
          </a:xfrm>
          <a:prstGeom prst="rect">
            <a:avLst/>
          </a:prstGeom>
          <a:noFill/>
        </p:spPr>
        <p:txBody>
          <a:bodyPr wrap="square" lIns="0" rIns="0" tIns="0" bIns="0" anchor="t">
            <a:spAutoFit/>
          </a:bodyPr>
          <a:lstStyle/>
          <a:p>
            <a:pPr algn="l">
              <a:lnSpc>
                <a:spcPct val="112000"/>
              </a:lnSpc>
              <a:spcAft>
                <a:spcPts val="0"/>
              </a:spcAft>
            </a:pPr>
            <a:r>
              <a:rPr sz="1050" b="0">
                <a:solidFill>
                  <a:srgbClr val="8CA0BE"/>
                </a:solidFill>
                <a:latin typeface="Consolas"/>
              </a:rPr>
              <a:t>Logesh S.  ·  B.Sc. Data Science  ·  RetainIQ Signal Ops Console  ·  80.34% accuracy  ·  84.91% ROC-AUC</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8CA0BE"/>
                </a:solidFill>
                <a:latin typeface="Consolas"/>
              </a:rPr>
              <a:t>APPENDIX</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Full benchmark table</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Held-out test set, 1,409 customers — every metric recorded</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517904"/>
            <a:ext cx="3977639" cy="665683"/>
          </a:xfrm>
          <a:prstGeom prst="roundRect">
            <a:avLst>
              <a:gd name="adj" fmla="val 8000"/>
            </a:avLst>
          </a:prstGeom>
          <a:solidFill>
            <a:srgbClr val="162136"/>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704441"/>
            <a:ext cx="3758183" cy="292608"/>
          </a:xfrm>
          <a:prstGeom prst="rect">
            <a:avLst/>
          </a:prstGeom>
          <a:noFill/>
        </p:spPr>
        <p:txBody>
          <a:bodyPr wrap="square" lIns="0" rIns="0" tIns="0" bIns="0" anchor="t">
            <a:spAutoFit/>
          </a:bodyPr>
          <a:lstStyle/>
          <a:p>
            <a:pPr algn="l">
              <a:lnSpc>
                <a:spcPct val="112000"/>
              </a:lnSpc>
              <a:spcAft>
                <a:spcPts val="0"/>
              </a:spcAft>
            </a:pPr>
            <a:r>
              <a:rPr sz="1050" b="1">
                <a:solidFill>
                  <a:srgbClr val="8CA0BE"/>
                </a:solidFill>
                <a:latin typeface="Consolas"/>
              </a:rPr>
              <a:t>Model</a:t>
            </a:r>
          </a:p>
        </p:txBody>
      </p:sp>
      <p:sp>
        <p:nvSpPr>
          <p:cNvPr id="9" name="Rounded Rectangle 8"/>
          <p:cNvSpPr/>
          <p:nvPr/>
        </p:nvSpPr>
        <p:spPr>
          <a:xfrm>
            <a:off x="4544568" y="1517904"/>
            <a:ext cx="1426464" cy="665683"/>
          </a:xfrm>
          <a:prstGeom prst="roundRect">
            <a:avLst>
              <a:gd name="adj" fmla="val 8000"/>
            </a:avLst>
          </a:prstGeom>
          <a:solidFill>
            <a:srgbClr val="162136"/>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1704441"/>
            <a:ext cx="1207008" cy="292608"/>
          </a:xfrm>
          <a:prstGeom prst="rect">
            <a:avLst/>
          </a:prstGeom>
          <a:noFill/>
        </p:spPr>
        <p:txBody>
          <a:bodyPr wrap="square" lIns="0" rIns="0" tIns="0" bIns="0" anchor="t">
            <a:spAutoFit/>
          </a:bodyPr>
          <a:lstStyle/>
          <a:p>
            <a:pPr algn="l">
              <a:lnSpc>
                <a:spcPct val="112000"/>
              </a:lnSpc>
              <a:spcAft>
                <a:spcPts val="0"/>
              </a:spcAft>
            </a:pPr>
            <a:r>
              <a:rPr sz="1050" b="1">
                <a:solidFill>
                  <a:srgbClr val="8CA0BE"/>
                </a:solidFill>
                <a:latin typeface="Consolas"/>
              </a:rPr>
              <a:t>Accuracy</a:t>
            </a:r>
          </a:p>
        </p:txBody>
      </p:sp>
      <p:sp>
        <p:nvSpPr>
          <p:cNvPr id="11" name="Rounded Rectangle 10"/>
          <p:cNvSpPr/>
          <p:nvPr/>
        </p:nvSpPr>
        <p:spPr>
          <a:xfrm>
            <a:off x="5971031" y="1517904"/>
            <a:ext cx="1426464" cy="665683"/>
          </a:xfrm>
          <a:prstGeom prst="roundRect">
            <a:avLst>
              <a:gd name="adj" fmla="val 8000"/>
            </a:avLst>
          </a:prstGeom>
          <a:solidFill>
            <a:srgbClr val="162136"/>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99047" y="1704441"/>
            <a:ext cx="1207008" cy="292608"/>
          </a:xfrm>
          <a:prstGeom prst="rect">
            <a:avLst/>
          </a:prstGeom>
          <a:noFill/>
        </p:spPr>
        <p:txBody>
          <a:bodyPr wrap="square" lIns="0" rIns="0" tIns="0" bIns="0" anchor="t">
            <a:spAutoFit/>
          </a:bodyPr>
          <a:lstStyle/>
          <a:p>
            <a:pPr algn="l">
              <a:lnSpc>
                <a:spcPct val="112000"/>
              </a:lnSpc>
              <a:spcAft>
                <a:spcPts val="0"/>
              </a:spcAft>
            </a:pPr>
            <a:r>
              <a:rPr sz="1050" b="1">
                <a:solidFill>
                  <a:srgbClr val="8CA0BE"/>
                </a:solidFill>
                <a:latin typeface="Consolas"/>
              </a:rPr>
              <a:t>Precision</a:t>
            </a:r>
          </a:p>
        </p:txBody>
      </p:sp>
      <p:sp>
        <p:nvSpPr>
          <p:cNvPr id="13" name="Rounded Rectangle 12"/>
          <p:cNvSpPr/>
          <p:nvPr/>
        </p:nvSpPr>
        <p:spPr>
          <a:xfrm>
            <a:off x="7397496" y="1517904"/>
            <a:ext cx="1298448" cy="665683"/>
          </a:xfrm>
          <a:prstGeom prst="roundRect">
            <a:avLst>
              <a:gd name="adj" fmla="val 8000"/>
            </a:avLst>
          </a:prstGeom>
          <a:solidFill>
            <a:srgbClr val="162136"/>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25512" y="1704441"/>
            <a:ext cx="1078992" cy="292608"/>
          </a:xfrm>
          <a:prstGeom prst="rect">
            <a:avLst/>
          </a:prstGeom>
          <a:noFill/>
        </p:spPr>
        <p:txBody>
          <a:bodyPr wrap="square" lIns="0" rIns="0" tIns="0" bIns="0" anchor="t">
            <a:spAutoFit/>
          </a:bodyPr>
          <a:lstStyle/>
          <a:p>
            <a:pPr algn="l">
              <a:lnSpc>
                <a:spcPct val="112000"/>
              </a:lnSpc>
              <a:spcAft>
                <a:spcPts val="0"/>
              </a:spcAft>
            </a:pPr>
            <a:r>
              <a:rPr sz="1050" b="1">
                <a:solidFill>
                  <a:srgbClr val="8CA0BE"/>
                </a:solidFill>
                <a:latin typeface="Consolas"/>
              </a:rPr>
              <a:t>Recall</a:t>
            </a:r>
          </a:p>
        </p:txBody>
      </p:sp>
      <p:sp>
        <p:nvSpPr>
          <p:cNvPr id="15" name="Rounded Rectangle 14"/>
          <p:cNvSpPr/>
          <p:nvPr/>
        </p:nvSpPr>
        <p:spPr>
          <a:xfrm>
            <a:off x="8695944" y="1517904"/>
            <a:ext cx="1298448" cy="665683"/>
          </a:xfrm>
          <a:prstGeom prst="roundRect">
            <a:avLst>
              <a:gd name="adj" fmla="val 8000"/>
            </a:avLst>
          </a:prstGeom>
          <a:solidFill>
            <a:srgbClr val="162136"/>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23960" y="1704441"/>
            <a:ext cx="1078992" cy="292608"/>
          </a:xfrm>
          <a:prstGeom prst="rect">
            <a:avLst/>
          </a:prstGeom>
          <a:noFill/>
        </p:spPr>
        <p:txBody>
          <a:bodyPr wrap="square" lIns="0" rIns="0" tIns="0" bIns="0" anchor="t">
            <a:spAutoFit/>
          </a:bodyPr>
          <a:lstStyle/>
          <a:p>
            <a:pPr algn="l">
              <a:lnSpc>
                <a:spcPct val="112000"/>
              </a:lnSpc>
              <a:spcAft>
                <a:spcPts val="0"/>
              </a:spcAft>
            </a:pPr>
            <a:r>
              <a:rPr sz="1050" b="1">
                <a:solidFill>
                  <a:srgbClr val="8CA0BE"/>
                </a:solidFill>
                <a:latin typeface="Consolas"/>
              </a:rPr>
              <a:t>F1</a:t>
            </a:r>
          </a:p>
        </p:txBody>
      </p:sp>
      <p:sp>
        <p:nvSpPr>
          <p:cNvPr id="17" name="Rounded Rectangle 16"/>
          <p:cNvSpPr/>
          <p:nvPr/>
        </p:nvSpPr>
        <p:spPr>
          <a:xfrm>
            <a:off x="9994392" y="1517904"/>
            <a:ext cx="1636776" cy="665683"/>
          </a:xfrm>
          <a:prstGeom prst="roundRect">
            <a:avLst>
              <a:gd name="adj" fmla="val 8000"/>
            </a:avLst>
          </a:prstGeom>
          <a:solidFill>
            <a:srgbClr val="162136"/>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22408" y="1704441"/>
            <a:ext cx="1417320" cy="292608"/>
          </a:xfrm>
          <a:prstGeom prst="rect">
            <a:avLst/>
          </a:prstGeom>
          <a:noFill/>
        </p:spPr>
        <p:txBody>
          <a:bodyPr wrap="square" lIns="0" rIns="0" tIns="0" bIns="0" anchor="t">
            <a:spAutoFit/>
          </a:bodyPr>
          <a:lstStyle/>
          <a:p>
            <a:pPr algn="l">
              <a:lnSpc>
                <a:spcPct val="112000"/>
              </a:lnSpc>
              <a:spcAft>
                <a:spcPts val="0"/>
              </a:spcAft>
            </a:pPr>
            <a:r>
              <a:rPr sz="1050" b="1">
                <a:solidFill>
                  <a:srgbClr val="8CA0BE"/>
                </a:solidFill>
                <a:latin typeface="Consolas"/>
              </a:rPr>
              <a:t>ROC-AUC</a:t>
            </a:r>
          </a:p>
        </p:txBody>
      </p:sp>
      <p:sp>
        <p:nvSpPr>
          <p:cNvPr id="19" name="Rounded Rectangle 18"/>
          <p:cNvSpPr/>
          <p:nvPr/>
        </p:nvSpPr>
        <p:spPr>
          <a:xfrm>
            <a:off x="566928" y="2197303"/>
            <a:ext cx="3977639" cy="665683"/>
          </a:xfrm>
          <a:prstGeom prst="roundRect">
            <a:avLst>
              <a:gd name="adj" fmla="val 8000"/>
            </a:avLst>
          </a:prstGeom>
          <a:solidFill>
            <a:srgbClr val="111A2C"/>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4944" y="2383840"/>
            <a:ext cx="3758183" cy="292608"/>
          </a:xfrm>
          <a:prstGeom prst="rect">
            <a:avLst/>
          </a:prstGeom>
          <a:noFill/>
        </p:spPr>
        <p:txBody>
          <a:bodyPr wrap="square" lIns="0" rIns="0" tIns="0" bIns="0" anchor="t">
            <a:spAutoFit/>
          </a:bodyPr>
          <a:lstStyle/>
          <a:p>
            <a:pPr algn="l">
              <a:lnSpc>
                <a:spcPct val="112000"/>
              </a:lnSpc>
              <a:spcAft>
                <a:spcPts val="0"/>
              </a:spcAft>
            </a:pPr>
            <a:r>
              <a:rPr sz="1150" b="1">
                <a:solidFill>
                  <a:srgbClr val="EAF0F7"/>
                </a:solidFill>
                <a:latin typeface="Segoe UI"/>
              </a:rPr>
              <a:t>Logistic Regression  ← selected</a:t>
            </a:r>
          </a:p>
        </p:txBody>
      </p:sp>
      <p:sp>
        <p:nvSpPr>
          <p:cNvPr id="21" name="Rounded Rectangle 20"/>
          <p:cNvSpPr/>
          <p:nvPr/>
        </p:nvSpPr>
        <p:spPr>
          <a:xfrm>
            <a:off x="4544568" y="2197303"/>
            <a:ext cx="1426464" cy="665683"/>
          </a:xfrm>
          <a:prstGeom prst="roundRect">
            <a:avLst>
              <a:gd name="adj" fmla="val 8000"/>
            </a:avLst>
          </a:prstGeom>
          <a:solidFill>
            <a:srgbClr val="111A2C"/>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72583" y="2383840"/>
            <a:ext cx="1207008" cy="292608"/>
          </a:xfrm>
          <a:prstGeom prst="rect">
            <a:avLst/>
          </a:prstGeom>
          <a:noFill/>
        </p:spPr>
        <p:txBody>
          <a:bodyPr wrap="square" lIns="0" rIns="0" tIns="0" bIns="0" anchor="t">
            <a:spAutoFit/>
          </a:bodyPr>
          <a:lstStyle/>
          <a:p>
            <a:pPr algn="l">
              <a:lnSpc>
                <a:spcPct val="112000"/>
              </a:lnSpc>
              <a:spcAft>
                <a:spcPts val="0"/>
              </a:spcAft>
            </a:pPr>
            <a:r>
              <a:rPr sz="1150" b="0">
                <a:solidFill>
                  <a:srgbClr val="2FD8B4"/>
                </a:solidFill>
                <a:latin typeface="Consolas"/>
              </a:rPr>
              <a:t>80.34%</a:t>
            </a:r>
          </a:p>
        </p:txBody>
      </p:sp>
      <p:sp>
        <p:nvSpPr>
          <p:cNvPr id="23" name="Rounded Rectangle 22"/>
          <p:cNvSpPr/>
          <p:nvPr/>
        </p:nvSpPr>
        <p:spPr>
          <a:xfrm>
            <a:off x="5971031" y="2197303"/>
            <a:ext cx="1426464" cy="665683"/>
          </a:xfrm>
          <a:prstGeom prst="roundRect">
            <a:avLst>
              <a:gd name="adj" fmla="val 8000"/>
            </a:avLst>
          </a:prstGeom>
          <a:solidFill>
            <a:srgbClr val="111A2C"/>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99047" y="2383840"/>
            <a:ext cx="1207008" cy="292608"/>
          </a:xfrm>
          <a:prstGeom prst="rect">
            <a:avLst/>
          </a:prstGeom>
          <a:noFill/>
        </p:spPr>
        <p:txBody>
          <a:bodyPr wrap="square" lIns="0" rIns="0" tIns="0" bIns="0" anchor="t">
            <a:spAutoFit/>
          </a:bodyPr>
          <a:lstStyle/>
          <a:p>
            <a:pPr algn="l">
              <a:lnSpc>
                <a:spcPct val="112000"/>
              </a:lnSpc>
              <a:spcAft>
                <a:spcPts val="0"/>
              </a:spcAft>
            </a:pPr>
            <a:r>
              <a:rPr sz="1150" b="0">
                <a:solidFill>
                  <a:srgbClr val="2FD8B4"/>
                </a:solidFill>
                <a:latin typeface="Consolas"/>
              </a:rPr>
              <a:t>64.74%</a:t>
            </a:r>
          </a:p>
        </p:txBody>
      </p:sp>
      <p:sp>
        <p:nvSpPr>
          <p:cNvPr id="25" name="Rounded Rectangle 24"/>
          <p:cNvSpPr/>
          <p:nvPr/>
        </p:nvSpPr>
        <p:spPr>
          <a:xfrm>
            <a:off x="7397496" y="2197303"/>
            <a:ext cx="1298448" cy="665683"/>
          </a:xfrm>
          <a:prstGeom prst="roundRect">
            <a:avLst>
              <a:gd name="adj" fmla="val 8000"/>
            </a:avLst>
          </a:prstGeom>
          <a:solidFill>
            <a:srgbClr val="111A2C"/>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25512" y="2383840"/>
            <a:ext cx="1078992" cy="292608"/>
          </a:xfrm>
          <a:prstGeom prst="rect">
            <a:avLst/>
          </a:prstGeom>
          <a:noFill/>
        </p:spPr>
        <p:txBody>
          <a:bodyPr wrap="square" lIns="0" rIns="0" tIns="0" bIns="0" anchor="t">
            <a:spAutoFit/>
          </a:bodyPr>
          <a:lstStyle/>
          <a:p>
            <a:pPr algn="l">
              <a:lnSpc>
                <a:spcPct val="112000"/>
              </a:lnSpc>
              <a:spcAft>
                <a:spcPts val="0"/>
              </a:spcAft>
            </a:pPr>
            <a:r>
              <a:rPr sz="1150" b="0">
                <a:solidFill>
                  <a:srgbClr val="2FD8B4"/>
                </a:solidFill>
                <a:latin typeface="Consolas"/>
              </a:rPr>
              <a:t>56.95%</a:t>
            </a:r>
          </a:p>
        </p:txBody>
      </p:sp>
      <p:sp>
        <p:nvSpPr>
          <p:cNvPr id="27" name="Rounded Rectangle 26"/>
          <p:cNvSpPr/>
          <p:nvPr/>
        </p:nvSpPr>
        <p:spPr>
          <a:xfrm>
            <a:off x="8695944" y="2197303"/>
            <a:ext cx="1298448" cy="665683"/>
          </a:xfrm>
          <a:prstGeom prst="roundRect">
            <a:avLst>
              <a:gd name="adj" fmla="val 8000"/>
            </a:avLst>
          </a:prstGeom>
          <a:solidFill>
            <a:srgbClr val="111A2C"/>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823960" y="2383840"/>
            <a:ext cx="1078992" cy="292608"/>
          </a:xfrm>
          <a:prstGeom prst="rect">
            <a:avLst/>
          </a:prstGeom>
          <a:noFill/>
        </p:spPr>
        <p:txBody>
          <a:bodyPr wrap="square" lIns="0" rIns="0" tIns="0" bIns="0" anchor="t">
            <a:spAutoFit/>
          </a:bodyPr>
          <a:lstStyle/>
          <a:p>
            <a:pPr algn="l">
              <a:lnSpc>
                <a:spcPct val="112000"/>
              </a:lnSpc>
              <a:spcAft>
                <a:spcPts val="0"/>
              </a:spcAft>
            </a:pPr>
            <a:r>
              <a:rPr sz="1150" b="0">
                <a:solidFill>
                  <a:srgbClr val="2FD8B4"/>
                </a:solidFill>
                <a:latin typeface="Consolas"/>
              </a:rPr>
              <a:t>60.60%</a:t>
            </a:r>
          </a:p>
        </p:txBody>
      </p:sp>
      <p:sp>
        <p:nvSpPr>
          <p:cNvPr id="29" name="Rounded Rectangle 28"/>
          <p:cNvSpPr/>
          <p:nvPr/>
        </p:nvSpPr>
        <p:spPr>
          <a:xfrm>
            <a:off x="9994392" y="2197303"/>
            <a:ext cx="1636776" cy="665683"/>
          </a:xfrm>
          <a:prstGeom prst="roundRect">
            <a:avLst>
              <a:gd name="adj" fmla="val 8000"/>
            </a:avLst>
          </a:prstGeom>
          <a:solidFill>
            <a:srgbClr val="111A2C"/>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22408" y="2383840"/>
            <a:ext cx="1417320" cy="292608"/>
          </a:xfrm>
          <a:prstGeom prst="rect">
            <a:avLst/>
          </a:prstGeom>
          <a:noFill/>
        </p:spPr>
        <p:txBody>
          <a:bodyPr wrap="square" lIns="0" rIns="0" tIns="0" bIns="0" anchor="t">
            <a:spAutoFit/>
          </a:bodyPr>
          <a:lstStyle/>
          <a:p>
            <a:pPr algn="l">
              <a:lnSpc>
                <a:spcPct val="112000"/>
              </a:lnSpc>
              <a:spcAft>
                <a:spcPts val="0"/>
              </a:spcAft>
            </a:pPr>
            <a:r>
              <a:rPr sz="1150" b="0">
                <a:solidFill>
                  <a:srgbClr val="2FD8B4"/>
                </a:solidFill>
                <a:latin typeface="Consolas"/>
              </a:rPr>
              <a:t>84.91%</a:t>
            </a:r>
          </a:p>
        </p:txBody>
      </p:sp>
      <p:sp>
        <p:nvSpPr>
          <p:cNvPr id="31" name="Rounded Rectangle 30"/>
          <p:cNvSpPr/>
          <p:nvPr/>
        </p:nvSpPr>
        <p:spPr>
          <a:xfrm>
            <a:off x="566928" y="2876702"/>
            <a:ext cx="3977639" cy="66568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4944" y="3063240"/>
            <a:ext cx="3758183" cy="292608"/>
          </a:xfrm>
          <a:prstGeom prst="rect">
            <a:avLst/>
          </a:prstGeom>
          <a:noFill/>
        </p:spPr>
        <p:txBody>
          <a:bodyPr wrap="square" lIns="0" rIns="0" tIns="0" bIns="0" anchor="t">
            <a:spAutoFit/>
          </a:bodyPr>
          <a:lstStyle/>
          <a:p>
            <a:pPr algn="l">
              <a:lnSpc>
                <a:spcPct val="112000"/>
              </a:lnSpc>
              <a:spcAft>
                <a:spcPts val="0"/>
              </a:spcAft>
            </a:pPr>
            <a:r>
              <a:rPr sz="1150" b="0">
                <a:solidFill>
                  <a:srgbClr val="EAF0F7"/>
                </a:solidFill>
                <a:latin typeface="Segoe UI"/>
              </a:rPr>
              <a:t>LightGBM</a:t>
            </a:r>
          </a:p>
        </p:txBody>
      </p:sp>
      <p:sp>
        <p:nvSpPr>
          <p:cNvPr id="33" name="Rounded Rectangle 32"/>
          <p:cNvSpPr/>
          <p:nvPr/>
        </p:nvSpPr>
        <p:spPr>
          <a:xfrm>
            <a:off x="4544568" y="2876702"/>
            <a:ext cx="1426464" cy="66568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72583" y="3063240"/>
            <a:ext cx="1207008" cy="292608"/>
          </a:xfrm>
          <a:prstGeom prst="rect">
            <a:avLst/>
          </a:prstGeom>
          <a:noFill/>
        </p:spPr>
        <p:txBody>
          <a:bodyPr wrap="square" lIns="0" rIns="0" tIns="0" bIns="0" anchor="t">
            <a:spAutoFit/>
          </a:bodyPr>
          <a:lstStyle/>
          <a:p>
            <a:pPr algn="l">
              <a:lnSpc>
                <a:spcPct val="112000"/>
              </a:lnSpc>
              <a:spcAft>
                <a:spcPts val="0"/>
              </a:spcAft>
            </a:pPr>
            <a:r>
              <a:rPr sz="1150" b="0">
                <a:solidFill>
                  <a:srgbClr val="EAF0F7"/>
                </a:solidFill>
                <a:latin typeface="Consolas"/>
              </a:rPr>
              <a:t>80.06%</a:t>
            </a:r>
          </a:p>
        </p:txBody>
      </p:sp>
      <p:sp>
        <p:nvSpPr>
          <p:cNvPr id="35" name="Rounded Rectangle 34"/>
          <p:cNvSpPr/>
          <p:nvPr/>
        </p:nvSpPr>
        <p:spPr>
          <a:xfrm>
            <a:off x="5971031" y="2876702"/>
            <a:ext cx="1426464" cy="66568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099047" y="3063240"/>
            <a:ext cx="1207008" cy="292608"/>
          </a:xfrm>
          <a:prstGeom prst="rect">
            <a:avLst/>
          </a:prstGeom>
          <a:noFill/>
        </p:spPr>
        <p:txBody>
          <a:bodyPr wrap="square" lIns="0" rIns="0" tIns="0" bIns="0" anchor="t">
            <a:spAutoFit/>
          </a:bodyPr>
          <a:lstStyle/>
          <a:p>
            <a:pPr algn="l">
              <a:lnSpc>
                <a:spcPct val="112000"/>
              </a:lnSpc>
              <a:spcAft>
                <a:spcPts val="0"/>
              </a:spcAft>
            </a:pPr>
            <a:r>
              <a:rPr sz="1150" b="0">
                <a:solidFill>
                  <a:srgbClr val="EAF0F7"/>
                </a:solidFill>
                <a:latin typeface="Consolas"/>
              </a:rPr>
              <a:t>64.49%</a:t>
            </a:r>
          </a:p>
        </p:txBody>
      </p:sp>
      <p:sp>
        <p:nvSpPr>
          <p:cNvPr id="37" name="Rounded Rectangle 36"/>
          <p:cNvSpPr/>
          <p:nvPr/>
        </p:nvSpPr>
        <p:spPr>
          <a:xfrm>
            <a:off x="7397496" y="2876702"/>
            <a:ext cx="1298448" cy="66568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525512" y="3063240"/>
            <a:ext cx="1078992" cy="292608"/>
          </a:xfrm>
          <a:prstGeom prst="rect">
            <a:avLst/>
          </a:prstGeom>
          <a:noFill/>
        </p:spPr>
        <p:txBody>
          <a:bodyPr wrap="square" lIns="0" rIns="0" tIns="0" bIns="0" anchor="t">
            <a:spAutoFit/>
          </a:bodyPr>
          <a:lstStyle/>
          <a:p>
            <a:pPr algn="l">
              <a:lnSpc>
                <a:spcPct val="112000"/>
              </a:lnSpc>
              <a:spcAft>
                <a:spcPts val="0"/>
              </a:spcAft>
            </a:pPr>
            <a:r>
              <a:rPr sz="1150" b="0">
                <a:solidFill>
                  <a:srgbClr val="EAF0F7"/>
                </a:solidFill>
                <a:latin typeface="Consolas"/>
              </a:rPr>
              <a:t>55.35%</a:t>
            </a:r>
          </a:p>
        </p:txBody>
      </p:sp>
      <p:sp>
        <p:nvSpPr>
          <p:cNvPr id="39" name="Rounded Rectangle 38"/>
          <p:cNvSpPr/>
          <p:nvPr/>
        </p:nvSpPr>
        <p:spPr>
          <a:xfrm>
            <a:off x="8695944" y="2876702"/>
            <a:ext cx="1298448" cy="66568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23960" y="3063240"/>
            <a:ext cx="1078992" cy="292608"/>
          </a:xfrm>
          <a:prstGeom prst="rect">
            <a:avLst/>
          </a:prstGeom>
          <a:noFill/>
        </p:spPr>
        <p:txBody>
          <a:bodyPr wrap="square" lIns="0" rIns="0" tIns="0" bIns="0" anchor="t">
            <a:spAutoFit/>
          </a:bodyPr>
          <a:lstStyle/>
          <a:p>
            <a:pPr algn="l">
              <a:lnSpc>
                <a:spcPct val="112000"/>
              </a:lnSpc>
              <a:spcAft>
                <a:spcPts val="0"/>
              </a:spcAft>
            </a:pPr>
            <a:r>
              <a:rPr sz="1150" b="0">
                <a:solidFill>
                  <a:srgbClr val="EAF0F7"/>
                </a:solidFill>
                <a:latin typeface="Consolas"/>
              </a:rPr>
              <a:t>59.57%</a:t>
            </a:r>
          </a:p>
        </p:txBody>
      </p:sp>
      <p:sp>
        <p:nvSpPr>
          <p:cNvPr id="41" name="Rounded Rectangle 40"/>
          <p:cNvSpPr/>
          <p:nvPr/>
        </p:nvSpPr>
        <p:spPr>
          <a:xfrm>
            <a:off x="9994392" y="2876702"/>
            <a:ext cx="1636776" cy="66568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122408" y="3063240"/>
            <a:ext cx="1417320" cy="292608"/>
          </a:xfrm>
          <a:prstGeom prst="rect">
            <a:avLst/>
          </a:prstGeom>
          <a:noFill/>
        </p:spPr>
        <p:txBody>
          <a:bodyPr wrap="square" lIns="0" rIns="0" tIns="0" bIns="0" anchor="t">
            <a:spAutoFit/>
          </a:bodyPr>
          <a:lstStyle/>
          <a:p>
            <a:pPr algn="l">
              <a:lnSpc>
                <a:spcPct val="112000"/>
              </a:lnSpc>
              <a:spcAft>
                <a:spcPts val="0"/>
              </a:spcAft>
            </a:pPr>
            <a:r>
              <a:rPr sz="1150" b="0">
                <a:solidFill>
                  <a:srgbClr val="EAF0F7"/>
                </a:solidFill>
                <a:latin typeface="Consolas"/>
              </a:rPr>
              <a:t>84.71%</a:t>
            </a:r>
          </a:p>
        </p:txBody>
      </p:sp>
      <p:sp>
        <p:nvSpPr>
          <p:cNvPr id="43" name="Rounded Rectangle 42"/>
          <p:cNvSpPr/>
          <p:nvPr/>
        </p:nvSpPr>
        <p:spPr>
          <a:xfrm>
            <a:off x="566928" y="3556101"/>
            <a:ext cx="3977639" cy="66568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94944" y="3742639"/>
            <a:ext cx="3758183" cy="292608"/>
          </a:xfrm>
          <a:prstGeom prst="rect">
            <a:avLst/>
          </a:prstGeom>
          <a:noFill/>
        </p:spPr>
        <p:txBody>
          <a:bodyPr wrap="square" lIns="0" rIns="0" tIns="0" bIns="0" anchor="t">
            <a:spAutoFit/>
          </a:bodyPr>
          <a:lstStyle/>
          <a:p>
            <a:pPr algn="l">
              <a:lnSpc>
                <a:spcPct val="112000"/>
              </a:lnSpc>
              <a:spcAft>
                <a:spcPts val="0"/>
              </a:spcAft>
            </a:pPr>
            <a:r>
              <a:rPr sz="1150" b="0">
                <a:solidFill>
                  <a:srgbClr val="EAF0F7"/>
                </a:solidFill>
                <a:latin typeface="Segoe UI"/>
              </a:rPr>
              <a:t>XGBoost</a:t>
            </a:r>
          </a:p>
        </p:txBody>
      </p:sp>
      <p:sp>
        <p:nvSpPr>
          <p:cNvPr id="45" name="Rounded Rectangle 44"/>
          <p:cNvSpPr/>
          <p:nvPr/>
        </p:nvSpPr>
        <p:spPr>
          <a:xfrm>
            <a:off x="4544568" y="3556101"/>
            <a:ext cx="1426464" cy="66568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72583" y="3742639"/>
            <a:ext cx="1207008" cy="292608"/>
          </a:xfrm>
          <a:prstGeom prst="rect">
            <a:avLst/>
          </a:prstGeom>
          <a:noFill/>
        </p:spPr>
        <p:txBody>
          <a:bodyPr wrap="square" lIns="0" rIns="0" tIns="0" bIns="0" anchor="t">
            <a:spAutoFit/>
          </a:bodyPr>
          <a:lstStyle/>
          <a:p>
            <a:pPr algn="l">
              <a:lnSpc>
                <a:spcPct val="112000"/>
              </a:lnSpc>
              <a:spcAft>
                <a:spcPts val="0"/>
              </a:spcAft>
            </a:pPr>
            <a:r>
              <a:rPr sz="1150" b="0">
                <a:solidFill>
                  <a:srgbClr val="EAF0F7"/>
                </a:solidFill>
                <a:latin typeface="Consolas"/>
              </a:rPr>
              <a:t>79.06%</a:t>
            </a:r>
          </a:p>
        </p:txBody>
      </p:sp>
      <p:sp>
        <p:nvSpPr>
          <p:cNvPr id="47" name="Rounded Rectangle 46"/>
          <p:cNvSpPr/>
          <p:nvPr/>
        </p:nvSpPr>
        <p:spPr>
          <a:xfrm>
            <a:off x="5971031" y="3556101"/>
            <a:ext cx="1426464" cy="66568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099047" y="3742639"/>
            <a:ext cx="1207008" cy="292608"/>
          </a:xfrm>
          <a:prstGeom prst="rect">
            <a:avLst/>
          </a:prstGeom>
          <a:noFill/>
        </p:spPr>
        <p:txBody>
          <a:bodyPr wrap="square" lIns="0" rIns="0" tIns="0" bIns="0" anchor="t">
            <a:spAutoFit/>
          </a:bodyPr>
          <a:lstStyle/>
          <a:p>
            <a:pPr algn="l">
              <a:lnSpc>
                <a:spcPct val="112000"/>
              </a:lnSpc>
              <a:spcAft>
                <a:spcPts val="0"/>
              </a:spcAft>
            </a:pPr>
            <a:r>
              <a:rPr sz="1150" b="0">
                <a:solidFill>
                  <a:srgbClr val="EAF0F7"/>
                </a:solidFill>
                <a:latin typeface="Consolas"/>
              </a:rPr>
              <a:t>61.72%</a:t>
            </a:r>
          </a:p>
        </p:txBody>
      </p:sp>
      <p:sp>
        <p:nvSpPr>
          <p:cNvPr id="49" name="Rounded Rectangle 48"/>
          <p:cNvSpPr/>
          <p:nvPr/>
        </p:nvSpPr>
        <p:spPr>
          <a:xfrm>
            <a:off x="7397496" y="3556101"/>
            <a:ext cx="1298448" cy="66568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525512" y="3742639"/>
            <a:ext cx="1078992" cy="292608"/>
          </a:xfrm>
          <a:prstGeom prst="rect">
            <a:avLst/>
          </a:prstGeom>
          <a:noFill/>
        </p:spPr>
        <p:txBody>
          <a:bodyPr wrap="square" lIns="0" rIns="0" tIns="0" bIns="0" anchor="t">
            <a:spAutoFit/>
          </a:bodyPr>
          <a:lstStyle/>
          <a:p>
            <a:pPr algn="l">
              <a:lnSpc>
                <a:spcPct val="112000"/>
              </a:lnSpc>
              <a:spcAft>
                <a:spcPts val="0"/>
              </a:spcAft>
            </a:pPr>
            <a:r>
              <a:rPr sz="1150" b="0">
                <a:solidFill>
                  <a:srgbClr val="EAF0F7"/>
                </a:solidFill>
                <a:latin typeface="Consolas"/>
              </a:rPr>
              <a:t>55.61%</a:t>
            </a:r>
          </a:p>
        </p:txBody>
      </p:sp>
      <p:sp>
        <p:nvSpPr>
          <p:cNvPr id="51" name="Rounded Rectangle 50"/>
          <p:cNvSpPr/>
          <p:nvPr/>
        </p:nvSpPr>
        <p:spPr>
          <a:xfrm>
            <a:off x="8695944" y="3556101"/>
            <a:ext cx="1298448" cy="66568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823960" y="3742639"/>
            <a:ext cx="1078992" cy="292608"/>
          </a:xfrm>
          <a:prstGeom prst="rect">
            <a:avLst/>
          </a:prstGeom>
          <a:noFill/>
        </p:spPr>
        <p:txBody>
          <a:bodyPr wrap="square" lIns="0" rIns="0" tIns="0" bIns="0" anchor="t">
            <a:spAutoFit/>
          </a:bodyPr>
          <a:lstStyle/>
          <a:p>
            <a:pPr algn="l">
              <a:lnSpc>
                <a:spcPct val="112000"/>
              </a:lnSpc>
              <a:spcAft>
                <a:spcPts val="0"/>
              </a:spcAft>
            </a:pPr>
            <a:r>
              <a:rPr sz="1150" b="0">
                <a:solidFill>
                  <a:srgbClr val="EAF0F7"/>
                </a:solidFill>
                <a:latin typeface="Consolas"/>
              </a:rPr>
              <a:t>58.51%</a:t>
            </a:r>
          </a:p>
        </p:txBody>
      </p:sp>
      <p:sp>
        <p:nvSpPr>
          <p:cNvPr id="53" name="Rounded Rectangle 52"/>
          <p:cNvSpPr/>
          <p:nvPr/>
        </p:nvSpPr>
        <p:spPr>
          <a:xfrm>
            <a:off x="9994392" y="3556101"/>
            <a:ext cx="1636776" cy="66568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122408" y="3742639"/>
            <a:ext cx="1417320" cy="292608"/>
          </a:xfrm>
          <a:prstGeom prst="rect">
            <a:avLst/>
          </a:prstGeom>
          <a:noFill/>
        </p:spPr>
        <p:txBody>
          <a:bodyPr wrap="square" lIns="0" rIns="0" tIns="0" bIns="0" anchor="t">
            <a:spAutoFit/>
          </a:bodyPr>
          <a:lstStyle/>
          <a:p>
            <a:pPr algn="l">
              <a:lnSpc>
                <a:spcPct val="112000"/>
              </a:lnSpc>
              <a:spcAft>
                <a:spcPts val="0"/>
              </a:spcAft>
            </a:pPr>
            <a:r>
              <a:rPr sz="1150" b="0">
                <a:solidFill>
                  <a:srgbClr val="EAF0F7"/>
                </a:solidFill>
                <a:latin typeface="Consolas"/>
              </a:rPr>
              <a:t>83.34%</a:t>
            </a:r>
          </a:p>
        </p:txBody>
      </p:sp>
      <p:sp>
        <p:nvSpPr>
          <p:cNvPr id="55" name="Rounded Rectangle 54"/>
          <p:cNvSpPr/>
          <p:nvPr/>
        </p:nvSpPr>
        <p:spPr>
          <a:xfrm>
            <a:off x="566928" y="4235500"/>
            <a:ext cx="3977639" cy="66568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94944" y="4422038"/>
            <a:ext cx="3758183" cy="292608"/>
          </a:xfrm>
          <a:prstGeom prst="rect">
            <a:avLst/>
          </a:prstGeom>
          <a:noFill/>
        </p:spPr>
        <p:txBody>
          <a:bodyPr wrap="square" lIns="0" rIns="0" tIns="0" bIns="0" anchor="t">
            <a:spAutoFit/>
          </a:bodyPr>
          <a:lstStyle/>
          <a:p>
            <a:pPr algn="l">
              <a:lnSpc>
                <a:spcPct val="112000"/>
              </a:lnSpc>
              <a:spcAft>
                <a:spcPts val="0"/>
              </a:spcAft>
            </a:pPr>
            <a:r>
              <a:rPr sz="1150" b="0">
                <a:solidFill>
                  <a:srgbClr val="EAF0F7"/>
                </a:solidFill>
                <a:latin typeface="Segoe UI"/>
              </a:rPr>
              <a:t>Random Forest</a:t>
            </a:r>
          </a:p>
        </p:txBody>
      </p:sp>
      <p:sp>
        <p:nvSpPr>
          <p:cNvPr id="57" name="Rounded Rectangle 56"/>
          <p:cNvSpPr/>
          <p:nvPr/>
        </p:nvSpPr>
        <p:spPr>
          <a:xfrm>
            <a:off x="4544568" y="4235500"/>
            <a:ext cx="1426464" cy="66568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672583" y="4422038"/>
            <a:ext cx="1207008" cy="292608"/>
          </a:xfrm>
          <a:prstGeom prst="rect">
            <a:avLst/>
          </a:prstGeom>
          <a:noFill/>
        </p:spPr>
        <p:txBody>
          <a:bodyPr wrap="square" lIns="0" rIns="0" tIns="0" bIns="0" anchor="t">
            <a:spAutoFit/>
          </a:bodyPr>
          <a:lstStyle/>
          <a:p>
            <a:pPr algn="l">
              <a:lnSpc>
                <a:spcPct val="112000"/>
              </a:lnSpc>
              <a:spcAft>
                <a:spcPts val="0"/>
              </a:spcAft>
            </a:pPr>
            <a:r>
              <a:rPr sz="1150" b="0">
                <a:solidFill>
                  <a:srgbClr val="EAF0F7"/>
                </a:solidFill>
                <a:latin typeface="Consolas"/>
              </a:rPr>
              <a:t>78.99%</a:t>
            </a:r>
          </a:p>
        </p:txBody>
      </p:sp>
      <p:sp>
        <p:nvSpPr>
          <p:cNvPr id="59" name="Rounded Rectangle 58"/>
          <p:cNvSpPr/>
          <p:nvPr/>
        </p:nvSpPr>
        <p:spPr>
          <a:xfrm>
            <a:off x="5971031" y="4235500"/>
            <a:ext cx="1426464" cy="66568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099047" y="4422038"/>
            <a:ext cx="1207008" cy="292608"/>
          </a:xfrm>
          <a:prstGeom prst="rect">
            <a:avLst/>
          </a:prstGeom>
          <a:noFill/>
        </p:spPr>
        <p:txBody>
          <a:bodyPr wrap="square" lIns="0" rIns="0" tIns="0" bIns="0" anchor="t">
            <a:spAutoFit/>
          </a:bodyPr>
          <a:lstStyle/>
          <a:p>
            <a:pPr algn="l">
              <a:lnSpc>
                <a:spcPct val="112000"/>
              </a:lnSpc>
              <a:spcAft>
                <a:spcPts val="0"/>
              </a:spcAft>
            </a:pPr>
            <a:r>
              <a:rPr sz="1150" b="0">
                <a:solidFill>
                  <a:srgbClr val="EAF0F7"/>
                </a:solidFill>
                <a:latin typeface="Consolas"/>
              </a:rPr>
              <a:t>62.34%</a:t>
            </a:r>
          </a:p>
        </p:txBody>
      </p:sp>
      <p:sp>
        <p:nvSpPr>
          <p:cNvPr id="61" name="Rounded Rectangle 60"/>
          <p:cNvSpPr/>
          <p:nvPr/>
        </p:nvSpPr>
        <p:spPr>
          <a:xfrm>
            <a:off x="7397496" y="4235500"/>
            <a:ext cx="1298448" cy="66568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525512" y="4422038"/>
            <a:ext cx="1078992" cy="292608"/>
          </a:xfrm>
          <a:prstGeom prst="rect">
            <a:avLst/>
          </a:prstGeom>
          <a:noFill/>
        </p:spPr>
        <p:txBody>
          <a:bodyPr wrap="square" lIns="0" rIns="0" tIns="0" bIns="0" anchor="t">
            <a:spAutoFit/>
          </a:bodyPr>
          <a:lstStyle/>
          <a:p>
            <a:pPr algn="l">
              <a:lnSpc>
                <a:spcPct val="112000"/>
              </a:lnSpc>
              <a:spcAft>
                <a:spcPts val="0"/>
              </a:spcAft>
            </a:pPr>
            <a:r>
              <a:rPr sz="1150" b="0">
                <a:solidFill>
                  <a:srgbClr val="EAF0F7"/>
                </a:solidFill>
                <a:latin typeface="Consolas"/>
              </a:rPr>
              <a:t>52.67%</a:t>
            </a:r>
          </a:p>
        </p:txBody>
      </p:sp>
      <p:sp>
        <p:nvSpPr>
          <p:cNvPr id="63" name="Rounded Rectangle 62"/>
          <p:cNvSpPr/>
          <p:nvPr/>
        </p:nvSpPr>
        <p:spPr>
          <a:xfrm>
            <a:off x="8695944" y="4235500"/>
            <a:ext cx="1298448" cy="66568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823960" y="4422038"/>
            <a:ext cx="1078992" cy="292608"/>
          </a:xfrm>
          <a:prstGeom prst="rect">
            <a:avLst/>
          </a:prstGeom>
          <a:noFill/>
        </p:spPr>
        <p:txBody>
          <a:bodyPr wrap="square" lIns="0" rIns="0" tIns="0" bIns="0" anchor="t">
            <a:spAutoFit/>
          </a:bodyPr>
          <a:lstStyle/>
          <a:p>
            <a:pPr algn="l">
              <a:lnSpc>
                <a:spcPct val="112000"/>
              </a:lnSpc>
              <a:spcAft>
                <a:spcPts val="0"/>
              </a:spcAft>
            </a:pPr>
            <a:r>
              <a:rPr sz="1150" b="0">
                <a:solidFill>
                  <a:srgbClr val="EAF0F7"/>
                </a:solidFill>
                <a:latin typeface="Consolas"/>
              </a:rPr>
              <a:t>57.10%</a:t>
            </a:r>
          </a:p>
        </p:txBody>
      </p:sp>
      <p:sp>
        <p:nvSpPr>
          <p:cNvPr id="65" name="Rounded Rectangle 64"/>
          <p:cNvSpPr/>
          <p:nvPr/>
        </p:nvSpPr>
        <p:spPr>
          <a:xfrm>
            <a:off x="9994392" y="4235500"/>
            <a:ext cx="1636776" cy="66568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0122408" y="4422038"/>
            <a:ext cx="1417320" cy="292608"/>
          </a:xfrm>
          <a:prstGeom prst="rect">
            <a:avLst/>
          </a:prstGeom>
          <a:noFill/>
        </p:spPr>
        <p:txBody>
          <a:bodyPr wrap="square" lIns="0" rIns="0" tIns="0" bIns="0" anchor="t">
            <a:spAutoFit/>
          </a:bodyPr>
          <a:lstStyle/>
          <a:p>
            <a:pPr algn="l">
              <a:lnSpc>
                <a:spcPct val="112000"/>
              </a:lnSpc>
              <a:spcAft>
                <a:spcPts val="0"/>
              </a:spcAft>
            </a:pPr>
            <a:r>
              <a:rPr sz="1150" b="0">
                <a:solidFill>
                  <a:srgbClr val="EAF0F7"/>
                </a:solidFill>
                <a:latin typeface="Consolas"/>
              </a:rPr>
              <a:t>83.48%</a:t>
            </a:r>
          </a:p>
        </p:txBody>
      </p:sp>
      <p:sp>
        <p:nvSpPr>
          <p:cNvPr id="67" name="TextBox 66"/>
          <p:cNvSpPr txBox="1"/>
          <p:nvPr/>
        </p:nvSpPr>
        <p:spPr>
          <a:xfrm>
            <a:off x="566928" y="5047488"/>
            <a:ext cx="11057839" cy="1170431"/>
          </a:xfrm>
          <a:prstGeom prst="rect">
            <a:avLst/>
          </a:prstGeom>
          <a:noFill/>
        </p:spPr>
        <p:txBody>
          <a:bodyPr wrap="square" lIns="0" rIns="0" tIns="0" bIns="0" anchor="t">
            <a:spAutoFit/>
          </a:bodyPr>
          <a:lstStyle/>
          <a:p>
            <a:pPr algn="l">
              <a:lnSpc>
                <a:spcPct val="118000"/>
              </a:lnSpc>
              <a:spcAft>
                <a:spcPts val="600"/>
              </a:spcAft>
            </a:pPr>
            <a:r>
              <a:rPr sz="1100" b="0">
                <a:solidFill>
                  <a:srgbClr val="8CA0BE"/>
                </a:solidFill>
                <a:latin typeface="Segoe UI"/>
              </a:rPr>
              <a:t>All four models were trained on the identical 5,634-row training split with the identical 30-feature frame, and evaluated with the same scoring code — the only variable is the algorithm.</a:t>
            </a:r>
          </a:p>
          <a:p>
            <a:pPr algn="l">
              <a:lnSpc>
                <a:spcPct val="112000"/>
              </a:lnSpc>
              <a:spcAft>
                <a:spcPts val="0"/>
              </a:spcAft>
            </a:pPr>
            <a:r>
              <a:rPr sz="1050" b="0">
                <a:solidFill>
                  <a:srgbClr val="2FD8B4"/>
                </a:solidFill>
                <a:latin typeface="Consolas"/>
              </a:rPr>
              <a:t>Reproduce:  python presentation/build_assets.py  →  writes presentation/assets/model_metrics.csv</a:t>
            </a:r>
          </a:p>
        </p:txBody>
      </p:sp>
      <p:sp>
        <p:nvSpPr>
          <p:cNvPr id="68" name="Rectangle 67"/>
          <p:cNvSpPr/>
          <p:nvPr/>
        </p:nvSpPr>
        <p:spPr>
          <a:xfrm>
            <a:off x="566928"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1360365"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2153803"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2947241"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3740679"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4534117"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5327555"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120993"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914431"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7707869"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8501307"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9294745"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0088183"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10881621"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Appendix · use only if asked</a:t>
            </a:r>
          </a:p>
        </p:txBody>
      </p:sp>
      <p:sp>
        <p:nvSpPr>
          <p:cNvPr id="84" name="TextBox 83"/>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8CA0BE"/>
                </a:solidFill>
                <a:latin typeface="Consolas"/>
              </a:rPr>
              <a:t>APPENDIX</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Hyperparameters</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Read directly from the saved model artifacts and the training notebook</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517904"/>
            <a:ext cx="3291840" cy="594360"/>
          </a:xfrm>
          <a:prstGeom prst="roundRect">
            <a:avLst>
              <a:gd name="adj" fmla="val 8000"/>
            </a:avLst>
          </a:prstGeom>
          <a:solidFill>
            <a:srgbClr val="162136"/>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858768" y="1517904"/>
            <a:ext cx="7763256" cy="594360"/>
          </a:xfrm>
          <a:prstGeom prst="roundRect">
            <a:avLst>
              <a:gd name="adj" fmla="val 8000"/>
            </a:avLst>
          </a:prstGeom>
          <a:solidFill>
            <a:srgbClr val="162136"/>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677924"/>
            <a:ext cx="3063240" cy="274320"/>
          </a:xfrm>
          <a:prstGeom prst="rect">
            <a:avLst/>
          </a:prstGeom>
          <a:noFill/>
        </p:spPr>
        <p:txBody>
          <a:bodyPr wrap="square" lIns="0" rIns="0" tIns="0" bIns="0" anchor="t">
            <a:spAutoFit/>
          </a:bodyPr>
          <a:lstStyle/>
          <a:p>
            <a:pPr algn="l">
              <a:lnSpc>
                <a:spcPct val="112000"/>
              </a:lnSpc>
              <a:spcAft>
                <a:spcPts val="0"/>
              </a:spcAft>
            </a:pPr>
            <a:r>
              <a:rPr sz="1080" b="1">
                <a:solidFill>
                  <a:srgbClr val="8CA0BE"/>
                </a:solidFill>
                <a:latin typeface="Segoe UI"/>
              </a:rPr>
              <a:t>Model</a:t>
            </a:r>
          </a:p>
        </p:txBody>
      </p:sp>
      <p:sp>
        <p:nvSpPr>
          <p:cNvPr id="10" name="TextBox 9"/>
          <p:cNvSpPr txBox="1"/>
          <p:nvPr/>
        </p:nvSpPr>
        <p:spPr>
          <a:xfrm>
            <a:off x="4005072" y="1677924"/>
            <a:ext cx="7498079" cy="274320"/>
          </a:xfrm>
          <a:prstGeom prst="rect">
            <a:avLst/>
          </a:prstGeom>
          <a:noFill/>
        </p:spPr>
        <p:txBody>
          <a:bodyPr wrap="square" lIns="0" rIns="0" tIns="0" bIns="0" anchor="t">
            <a:spAutoFit/>
          </a:bodyPr>
          <a:lstStyle/>
          <a:p>
            <a:pPr algn="l">
              <a:lnSpc>
                <a:spcPct val="112000"/>
              </a:lnSpc>
              <a:spcAft>
                <a:spcPts val="0"/>
              </a:spcAft>
            </a:pPr>
            <a:r>
              <a:rPr sz="1040" b="1">
                <a:solidFill>
                  <a:srgbClr val="8CA0BE"/>
                </a:solidFill>
                <a:latin typeface="Segoe UI"/>
              </a:rPr>
              <a:t>Settings</a:t>
            </a:r>
          </a:p>
        </p:txBody>
      </p:sp>
      <p:sp>
        <p:nvSpPr>
          <p:cNvPr id="11" name="Rounded Rectangle 10"/>
          <p:cNvSpPr/>
          <p:nvPr/>
        </p:nvSpPr>
        <p:spPr>
          <a:xfrm>
            <a:off x="566928" y="2123236"/>
            <a:ext cx="3291840" cy="594360"/>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858768" y="2123236"/>
            <a:ext cx="7763256" cy="594360"/>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3232" y="2283256"/>
            <a:ext cx="3063240" cy="274320"/>
          </a:xfrm>
          <a:prstGeom prst="rect">
            <a:avLst/>
          </a:prstGeom>
          <a:noFill/>
        </p:spPr>
        <p:txBody>
          <a:bodyPr wrap="square" lIns="0" rIns="0" tIns="0" bIns="0" anchor="t">
            <a:spAutoFit/>
          </a:bodyPr>
          <a:lstStyle/>
          <a:p>
            <a:pPr algn="l">
              <a:lnSpc>
                <a:spcPct val="112000"/>
              </a:lnSpc>
              <a:spcAft>
                <a:spcPts val="0"/>
              </a:spcAft>
            </a:pPr>
            <a:r>
              <a:rPr sz="1080" b="0">
                <a:solidFill>
                  <a:srgbClr val="EAF0F7"/>
                </a:solidFill>
                <a:latin typeface="Segoe UI"/>
              </a:rPr>
              <a:t>Logistic Regression</a:t>
            </a:r>
          </a:p>
        </p:txBody>
      </p:sp>
      <p:sp>
        <p:nvSpPr>
          <p:cNvPr id="14" name="TextBox 13"/>
          <p:cNvSpPr txBox="1"/>
          <p:nvPr/>
        </p:nvSpPr>
        <p:spPr>
          <a:xfrm>
            <a:off x="4005072" y="2283256"/>
            <a:ext cx="7498079" cy="274320"/>
          </a:xfrm>
          <a:prstGeom prst="rect">
            <a:avLst/>
          </a:prstGeom>
          <a:noFill/>
        </p:spPr>
        <p:txBody>
          <a:bodyPr wrap="square" lIns="0" rIns="0" tIns="0" bIns="0" anchor="t">
            <a:spAutoFit/>
          </a:bodyPr>
          <a:lstStyle/>
          <a:p>
            <a:pPr algn="l">
              <a:lnSpc>
                <a:spcPct val="112000"/>
              </a:lnSpc>
              <a:spcAft>
                <a:spcPts val="0"/>
              </a:spcAft>
            </a:pPr>
            <a:r>
              <a:rPr sz="1040" b="0">
                <a:solidFill>
                  <a:srgbClr val="2FD8B4"/>
                </a:solidFill>
                <a:latin typeface="Consolas"/>
              </a:rPr>
              <a:t>max_iter=5000, C=1.0, solver='lbfgs'</a:t>
            </a:r>
          </a:p>
        </p:txBody>
      </p:sp>
      <p:sp>
        <p:nvSpPr>
          <p:cNvPr id="15" name="Rounded Rectangle 14"/>
          <p:cNvSpPr/>
          <p:nvPr/>
        </p:nvSpPr>
        <p:spPr>
          <a:xfrm>
            <a:off x="566928" y="2728569"/>
            <a:ext cx="3291840" cy="594360"/>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858768" y="2728569"/>
            <a:ext cx="7763256" cy="594360"/>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2888589"/>
            <a:ext cx="3063240" cy="274320"/>
          </a:xfrm>
          <a:prstGeom prst="rect">
            <a:avLst/>
          </a:prstGeom>
          <a:noFill/>
        </p:spPr>
        <p:txBody>
          <a:bodyPr wrap="square" lIns="0" rIns="0" tIns="0" bIns="0" anchor="t">
            <a:spAutoFit/>
          </a:bodyPr>
          <a:lstStyle/>
          <a:p>
            <a:pPr algn="l">
              <a:lnSpc>
                <a:spcPct val="112000"/>
              </a:lnSpc>
              <a:spcAft>
                <a:spcPts val="0"/>
              </a:spcAft>
            </a:pPr>
            <a:r>
              <a:rPr sz="1080" b="0">
                <a:solidFill>
                  <a:srgbClr val="EAF0F7"/>
                </a:solidFill>
                <a:latin typeface="Segoe UI"/>
              </a:rPr>
              <a:t>Random Forest</a:t>
            </a:r>
          </a:p>
        </p:txBody>
      </p:sp>
      <p:sp>
        <p:nvSpPr>
          <p:cNvPr id="18" name="TextBox 17"/>
          <p:cNvSpPr txBox="1"/>
          <p:nvPr/>
        </p:nvSpPr>
        <p:spPr>
          <a:xfrm>
            <a:off x="4005072" y="2888589"/>
            <a:ext cx="7498079" cy="274320"/>
          </a:xfrm>
          <a:prstGeom prst="rect">
            <a:avLst/>
          </a:prstGeom>
          <a:noFill/>
        </p:spPr>
        <p:txBody>
          <a:bodyPr wrap="square" lIns="0" rIns="0" tIns="0" bIns="0" anchor="t">
            <a:spAutoFit/>
          </a:bodyPr>
          <a:lstStyle/>
          <a:p>
            <a:pPr algn="l">
              <a:lnSpc>
                <a:spcPct val="112000"/>
              </a:lnSpc>
              <a:spcAft>
                <a:spcPts val="0"/>
              </a:spcAft>
            </a:pPr>
            <a:r>
              <a:rPr sz="1040" b="0">
                <a:solidFill>
                  <a:srgbClr val="2FD8B4"/>
                </a:solidFill>
                <a:latin typeface="Consolas"/>
              </a:rPr>
              <a:t>n_estimators=200, random_state=42</a:t>
            </a:r>
          </a:p>
        </p:txBody>
      </p:sp>
      <p:sp>
        <p:nvSpPr>
          <p:cNvPr id="19" name="Rounded Rectangle 18"/>
          <p:cNvSpPr/>
          <p:nvPr/>
        </p:nvSpPr>
        <p:spPr>
          <a:xfrm>
            <a:off x="566928" y="3333902"/>
            <a:ext cx="3291840" cy="594360"/>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858768" y="3333902"/>
            <a:ext cx="7763256" cy="594360"/>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3232" y="3493922"/>
            <a:ext cx="3063240" cy="274320"/>
          </a:xfrm>
          <a:prstGeom prst="rect">
            <a:avLst/>
          </a:prstGeom>
          <a:noFill/>
        </p:spPr>
        <p:txBody>
          <a:bodyPr wrap="square" lIns="0" rIns="0" tIns="0" bIns="0" anchor="t">
            <a:spAutoFit/>
          </a:bodyPr>
          <a:lstStyle/>
          <a:p>
            <a:pPr algn="l">
              <a:lnSpc>
                <a:spcPct val="112000"/>
              </a:lnSpc>
              <a:spcAft>
                <a:spcPts val="0"/>
              </a:spcAft>
            </a:pPr>
            <a:r>
              <a:rPr sz="1080" b="0">
                <a:solidFill>
                  <a:srgbClr val="EAF0F7"/>
                </a:solidFill>
                <a:latin typeface="Segoe UI"/>
              </a:rPr>
              <a:t>XGBoost</a:t>
            </a:r>
          </a:p>
        </p:txBody>
      </p:sp>
      <p:sp>
        <p:nvSpPr>
          <p:cNvPr id="22" name="TextBox 21"/>
          <p:cNvSpPr txBox="1"/>
          <p:nvPr/>
        </p:nvSpPr>
        <p:spPr>
          <a:xfrm>
            <a:off x="4005072" y="3493922"/>
            <a:ext cx="7498079" cy="274320"/>
          </a:xfrm>
          <a:prstGeom prst="rect">
            <a:avLst/>
          </a:prstGeom>
          <a:noFill/>
        </p:spPr>
        <p:txBody>
          <a:bodyPr wrap="square" lIns="0" rIns="0" tIns="0" bIns="0" anchor="t">
            <a:spAutoFit/>
          </a:bodyPr>
          <a:lstStyle/>
          <a:p>
            <a:pPr algn="l">
              <a:lnSpc>
                <a:spcPct val="112000"/>
              </a:lnSpc>
              <a:spcAft>
                <a:spcPts val="0"/>
              </a:spcAft>
            </a:pPr>
            <a:r>
              <a:rPr sz="1040" b="0">
                <a:solidFill>
                  <a:srgbClr val="2FD8B4"/>
                </a:solidFill>
                <a:latin typeface="Consolas"/>
              </a:rPr>
              <a:t>XGBClassifier(random_state=42) — library defaults otherwise</a:t>
            </a:r>
          </a:p>
        </p:txBody>
      </p:sp>
      <p:sp>
        <p:nvSpPr>
          <p:cNvPr id="23" name="Rounded Rectangle 22"/>
          <p:cNvSpPr/>
          <p:nvPr/>
        </p:nvSpPr>
        <p:spPr>
          <a:xfrm>
            <a:off x="566928" y="3939235"/>
            <a:ext cx="3291840" cy="594360"/>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858768" y="3939235"/>
            <a:ext cx="7763256" cy="594360"/>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4099255"/>
            <a:ext cx="3063240" cy="274320"/>
          </a:xfrm>
          <a:prstGeom prst="rect">
            <a:avLst/>
          </a:prstGeom>
          <a:noFill/>
        </p:spPr>
        <p:txBody>
          <a:bodyPr wrap="square" lIns="0" rIns="0" tIns="0" bIns="0" anchor="t">
            <a:spAutoFit/>
          </a:bodyPr>
          <a:lstStyle/>
          <a:p>
            <a:pPr algn="l">
              <a:lnSpc>
                <a:spcPct val="112000"/>
              </a:lnSpc>
              <a:spcAft>
                <a:spcPts val="0"/>
              </a:spcAft>
            </a:pPr>
            <a:r>
              <a:rPr sz="1080" b="0">
                <a:solidFill>
                  <a:srgbClr val="EAF0F7"/>
                </a:solidFill>
                <a:latin typeface="Segoe UI"/>
              </a:rPr>
              <a:t>LightGBM</a:t>
            </a:r>
          </a:p>
        </p:txBody>
      </p:sp>
      <p:sp>
        <p:nvSpPr>
          <p:cNvPr id="26" name="TextBox 25"/>
          <p:cNvSpPr txBox="1"/>
          <p:nvPr/>
        </p:nvSpPr>
        <p:spPr>
          <a:xfrm>
            <a:off x="4005072" y="4099255"/>
            <a:ext cx="7498079" cy="274320"/>
          </a:xfrm>
          <a:prstGeom prst="rect">
            <a:avLst/>
          </a:prstGeom>
          <a:noFill/>
        </p:spPr>
        <p:txBody>
          <a:bodyPr wrap="square" lIns="0" rIns="0" tIns="0" bIns="0" anchor="t">
            <a:spAutoFit/>
          </a:bodyPr>
          <a:lstStyle/>
          <a:p>
            <a:pPr algn="l">
              <a:lnSpc>
                <a:spcPct val="112000"/>
              </a:lnSpc>
              <a:spcAft>
                <a:spcPts val="0"/>
              </a:spcAft>
            </a:pPr>
            <a:r>
              <a:rPr sz="1040" b="0">
                <a:solidFill>
                  <a:srgbClr val="2FD8B4"/>
                </a:solidFill>
                <a:latin typeface="Consolas"/>
              </a:rPr>
              <a:t>LGBMClassifier(random_state=42) — library defaults otherwise</a:t>
            </a:r>
          </a:p>
        </p:txBody>
      </p:sp>
      <p:sp>
        <p:nvSpPr>
          <p:cNvPr id="27" name="Rounded Rectangle 26"/>
          <p:cNvSpPr/>
          <p:nvPr/>
        </p:nvSpPr>
        <p:spPr>
          <a:xfrm>
            <a:off x="566928" y="4681728"/>
            <a:ext cx="11057839" cy="1536192"/>
          </a:xfrm>
          <a:prstGeom prst="roundRect">
            <a:avLst>
              <a:gd name="adj" fmla="val 8000"/>
            </a:avLst>
          </a:prstGeom>
          <a:solidFill>
            <a:srgbClr val="162136"/>
          </a:solidFill>
          <a:ln w="1524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808" y="4809744"/>
            <a:ext cx="10692079" cy="1298448"/>
          </a:xfrm>
          <a:prstGeom prst="rect">
            <a:avLst/>
          </a:prstGeom>
          <a:noFill/>
        </p:spPr>
        <p:txBody>
          <a:bodyPr wrap="square" lIns="0" rIns="0" tIns="0" bIns="0" anchor="t">
            <a:spAutoFit/>
          </a:bodyPr>
          <a:lstStyle/>
          <a:p>
            <a:pPr algn="l">
              <a:lnSpc>
                <a:spcPct val="112000"/>
              </a:lnSpc>
              <a:spcAft>
                <a:spcPts val="300"/>
              </a:spcAft>
            </a:pPr>
            <a:r>
              <a:rPr sz="1150" b="1">
                <a:solidFill>
                  <a:srgbClr val="F5A623"/>
                </a:solidFill>
                <a:latin typeface="Segoe UI"/>
              </a:rPr>
              <a:t>A NOTE ON TUNING</a:t>
            </a:r>
          </a:p>
          <a:p>
            <a:pPr algn="l">
              <a:lnSpc>
                <a:spcPct val="116000"/>
              </a:lnSpc>
              <a:spcAft>
                <a:spcPts val="0"/>
              </a:spcAft>
            </a:pPr>
            <a:r>
              <a:rPr sz="1080" b="0">
                <a:solidFill>
                  <a:srgbClr val="EAF0F7"/>
                </a:solidFill>
                <a:latin typeface="Segoe UI"/>
              </a:rPr>
              <a:t>No automated hyperparameter search was run — the algorithms were compared under their default configurations, which keeps the benchmark a fair test of the algorithms rather than of how much tuning effort each received. The XGBoost and LightGBM instances were constructed with only random_state set, so their remaining settings are library defaults; that is what the saved artifacts contain. A tuning sweep is on the next-cycle list.</a:t>
            </a:r>
          </a:p>
        </p:txBody>
      </p:sp>
      <p:sp>
        <p:nvSpPr>
          <p:cNvPr id="29" name="Rectangle 28"/>
          <p:cNvSpPr/>
          <p:nvPr/>
        </p:nvSpPr>
        <p:spPr>
          <a:xfrm>
            <a:off x="566928"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360365"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153803"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947241"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740679"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534117"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327555"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120993"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914431"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07869"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501307"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294745"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088183"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881621"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Appendix · use only if asked</a:t>
            </a:r>
          </a:p>
        </p:txBody>
      </p:sp>
      <p:sp>
        <p:nvSpPr>
          <p:cNvPr id="45" name="TextBox 44"/>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8CA0BE"/>
                </a:solidFill>
                <a:latin typeface="Consolas"/>
              </a:rPr>
              <a:t>APPENDIX</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The 30 model inputs</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Three numeric measures plus twenty-seven encoded flags, in model order</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517904"/>
            <a:ext cx="5437479" cy="4700016"/>
          </a:xfrm>
          <a:prstGeom prst="rect">
            <a:avLst/>
          </a:prstGeom>
          <a:noFill/>
        </p:spPr>
        <p:txBody>
          <a:bodyPr wrap="square" lIns="0" rIns="0" tIns="0" bIns="0" anchor="t">
            <a:spAutoFit/>
          </a:bodyPr>
          <a:lstStyle/>
          <a:p>
            <a:pPr algn="l">
              <a:lnSpc>
                <a:spcPct val="112000"/>
              </a:lnSpc>
              <a:spcAft>
                <a:spcPts val="850"/>
              </a:spcAft>
            </a:pPr>
            <a:r>
              <a:rPr sz="1150" b="0">
                <a:solidFill>
                  <a:srgbClr val="EAF0F7"/>
                </a:solidFill>
                <a:latin typeface="Consolas"/>
              </a:rPr>
              <a:t> 1.  Tenure Months</a:t>
            </a:r>
          </a:p>
          <a:p>
            <a:pPr algn="l">
              <a:lnSpc>
                <a:spcPct val="112000"/>
              </a:lnSpc>
              <a:spcAft>
                <a:spcPts val="850"/>
              </a:spcAft>
            </a:pPr>
            <a:r>
              <a:rPr sz="1150" b="0">
                <a:solidFill>
                  <a:srgbClr val="EAF0F7"/>
                </a:solidFill>
                <a:latin typeface="Consolas"/>
              </a:rPr>
              <a:t> 2.  Monthly Charges</a:t>
            </a:r>
          </a:p>
          <a:p>
            <a:pPr algn="l">
              <a:lnSpc>
                <a:spcPct val="112000"/>
              </a:lnSpc>
              <a:spcAft>
                <a:spcPts val="850"/>
              </a:spcAft>
            </a:pPr>
            <a:r>
              <a:rPr sz="1150" b="0">
                <a:solidFill>
                  <a:srgbClr val="EAF0F7"/>
                </a:solidFill>
                <a:latin typeface="Consolas"/>
              </a:rPr>
              <a:t> 3.  Total Charges</a:t>
            </a:r>
          </a:p>
          <a:p>
            <a:pPr algn="l">
              <a:lnSpc>
                <a:spcPct val="112000"/>
              </a:lnSpc>
              <a:spcAft>
                <a:spcPts val="850"/>
              </a:spcAft>
            </a:pPr>
            <a:r>
              <a:rPr sz="1150" b="0">
                <a:solidFill>
                  <a:srgbClr val="EAF0F7"/>
                </a:solidFill>
                <a:latin typeface="Consolas"/>
              </a:rPr>
              <a:t> 4.  Gender_Male</a:t>
            </a:r>
          </a:p>
          <a:p>
            <a:pPr algn="l">
              <a:lnSpc>
                <a:spcPct val="112000"/>
              </a:lnSpc>
              <a:spcAft>
                <a:spcPts val="850"/>
              </a:spcAft>
            </a:pPr>
            <a:r>
              <a:rPr sz="1150" b="0">
                <a:solidFill>
                  <a:srgbClr val="EAF0F7"/>
                </a:solidFill>
                <a:latin typeface="Consolas"/>
              </a:rPr>
              <a:t> 5.  Senior Citizen_Yes</a:t>
            </a:r>
          </a:p>
          <a:p>
            <a:pPr algn="l">
              <a:lnSpc>
                <a:spcPct val="112000"/>
              </a:lnSpc>
              <a:spcAft>
                <a:spcPts val="850"/>
              </a:spcAft>
            </a:pPr>
            <a:r>
              <a:rPr sz="1150" b="0">
                <a:solidFill>
                  <a:srgbClr val="EAF0F7"/>
                </a:solidFill>
                <a:latin typeface="Consolas"/>
              </a:rPr>
              <a:t> 6.  Partner_Yes</a:t>
            </a:r>
          </a:p>
          <a:p>
            <a:pPr algn="l">
              <a:lnSpc>
                <a:spcPct val="112000"/>
              </a:lnSpc>
              <a:spcAft>
                <a:spcPts val="850"/>
              </a:spcAft>
            </a:pPr>
            <a:r>
              <a:rPr sz="1150" b="0">
                <a:solidFill>
                  <a:srgbClr val="EAF0F7"/>
                </a:solidFill>
                <a:latin typeface="Consolas"/>
              </a:rPr>
              <a:t> 7.  Dependents_Yes</a:t>
            </a:r>
          </a:p>
          <a:p>
            <a:pPr algn="l">
              <a:lnSpc>
                <a:spcPct val="112000"/>
              </a:lnSpc>
              <a:spcAft>
                <a:spcPts val="850"/>
              </a:spcAft>
            </a:pPr>
            <a:r>
              <a:rPr sz="1150" b="0">
                <a:solidFill>
                  <a:srgbClr val="EAF0F7"/>
                </a:solidFill>
                <a:latin typeface="Consolas"/>
              </a:rPr>
              <a:t> 8.  Phone Service_Yes</a:t>
            </a:r>
          </a:p>
          <a:p>
            <a:pPr algn="l">
              <a:lnSpc>
                <a:spcPct val="112000"/>
              </a:lnSpc>
              <a:spcAft>
                <a:spcPts val="850"/>
              </a:spcAft>
            </a:pPr>
            <a:r>
              <a:rPr sz="1150" b="0">
                <a:solidFill>
                  <a:srgbClr val="EAF0F7"/>
                </a:solidFill>
                <a:latin typeface="Consolas"/>
              </a:rPr>
              <a:t> 9.  Multiple Lines_No phone service</a:t>
            </a:r>
          </a:p>
          <a:p>
            <a:pPr algn="l">
              <a:lnSpc>
                <a:spcPct val="112000"/>
              </a:lnSpc>
              <a:spcAft>
                <a:spcPts val="850"/>
              </a:spcAft>
            </a:pPr>
            <a:r>
              <a:rPr sz="1150" b="0">
                <a:solidFill>
                  <a:srgbClr val="EAF0F7"/>
                </a:solidFill>
                <a:latin typeface="Consolas"/>
              </a:rPr>
              <a:t>10.  Multiple Lines_Yes</a:t>
            </a:r>
          </a:p>
          <a:p>
            <a:pPr algn="l">
              <a:lnSpc>
                <a:spcPct val="112000"/>
              </a:lnSpc>
              <a:spcAft>
                <a:spcPts val="850"/>
              </a:spcAft>
            </a:pPr>
            <a:r>
              <a:rPr sz="1150" b="0">
                <a:solidFill>
                  <a:srgbClr val="EAF0F7"/>
                </a:solidFill>
                <a:latin typeface="Consolas"/>
              </a:rPr>
              <a:t>11.  Internet Service_Fiber optic</a:t>
            </a:r>
          </a:p>
          <a:p>
            <a:pPr algn="l">
              <a:lnSpc>
                <a:spcPct val="112000"/>
              </a:lnSpc>
              <a:spcAft>
                <a:spcPts val="850"/>
              </a:spcAft>
            </a:pPr>
            <a:r>
              <a:rPr sz="1150" b="0">
                <a:solidFill>
                  <a:srgbClr val="EAF0F7"/>
                </a:solidFill>
                <a:latin typeface="Consolas"/>
              </a:rPr>
              <a:t>12.  Internet Service_No</a:t>
            </a:r>
          </a:p>
          <a:p>
            <a:pPr algn="l">
              <a:lnSpc>
                <a:spcPct val="112000"/>
              </a:lnSpc>
              <a:spcAft>
                <a:spcPts val="850"/>
              </a:spcAft>
            </a:pPr>
            <a:r>
              <a:rPr sz="1150" b="0">
                <a:solidFill>
                  <a:srgbClr val="EAF0F7"/>
                </a:solidFill>
                <a:latin typeface="Consolas"/>
              </a:rPr>
              <a:t>13.  Online Security_No internet service</a:t>
            </a:r>
          </a:p>
          <a:p>
            <a:pPr algn="l">
              <a:lnSpc>
                <a:spcPct val="112000"/>
              </a:lnSpc>
              <a:spcAft>
                <a:spcPts val="850"/>
              </a:spcAft>
            </a:pPr>
            <a:r>
              <a:rPr sz="1150" b="0">
                <a:solidFill>
                  <a:srgbClr val="EAF0F7"/>
                </a:solidFill>
                <a:latin typeface="Consolas"/>
              </a:rPr>
              <a:t>14.  Online Security_Yes</a:t>
            </a:r>
          </a:p>
          <a:p>
            <a:pPr algn="l">
              <a:lnSpc>
                <a:spcPct val="112000"/>
              </a:lnSpc>
              <a:spcAft>
                <a:spcPts val="850"/>
              </a:spcAft>
            </a:pPr>
            <a:r>
              <a:rPr sz="1150" b="0">
                <a:solidFill>
                  <a:srgbClr val="EAF0F7"/>
                </a:solidFill>
                <a:latin typeface="Consolas"/>
              </a:rPr>
              <a:t>15.  Online Backup_No internet service</a:t>
            </a:r>
          </a:p>
        </p:txBody>
      </p:sp>
      <p:sp>
        <p:nvSpPr>
          <p:cNvPr id="8" name="TextBox 7"/>
          <p:cNvSpPr txBox="1"/>
          <p:nvPr/>
        </p:nvSpPr>
        <p:spPr>
          <a:xfrm>
            <a:off x="6187287" y="1517904"/>
            <a:ext cx="5437479" cy="4700016"/>
          </a:xfrm>
          <a:prstGeom prst="rect">
            <a:avLst/>
          </a:prstGeom>
          <a:noFill/>
        </p:spPr>
        <p:txBody>
          <a:bodyPr wrap="square" lIns="0" rIns="0" tIns="0" bIns="0" anchor="t">
            <a:spAutoFit/>
          </a:bodyPr>
          <a:lstStyle/>
          <a:p>
            <a:pPr algn="l">
              <a:lnSpc>
                <a:spcPct val="112000"/>
              </a:lnSpc>
              <a:spcAft>
                <a:spcPts val="850"/>
              </a:spcAft>
            </a:pPr>
            <a:r>
              <a:rPr sz="1150" b="0">
                <a:solidFill>
                  <a:srgbClr val="EAF0F7"/>
                </a:solidFill>
                <a:latin typeface="Consolas"/>
              </a:rPr>
              <a:t>16.  Online Backup_Yes</a:t>
            </a:r>
          </a:p>
          <a:p>
            <a:pPr algn="l">
              <a:lnSpc>
                <a:spcPct val="112000"/>
              </a:lnSpc>
              <a:spcAft>
                <a:spcPts val="850"/>
              </a:spcAft>
            </a:pPr>
            <a:r>
              <a:rPr sz="1150" b="0">
                <a:solidFill>
                  <a:srgbClr val="EAF0F7"/>
                </a:solidFill>
                <a:latin typeface="Consolas"/>
              </a:rPr>
              <a:t>17.  Device Protection_No internet service</a:t>
            </a:r>
          </a:p>
          <a:p>
            <a:pPr algn="l">
              <a:lnSpc>
                <a:spcPct val="112000"/>
              </a:lnSpc>
              <a:spcAft>
                <a:spcPts val="850"/>
              </a:spcAft>
            </a:pPr>
            <a:r>
              <a:rPr sz="1150" b="0">
                <a:solidFill>
                  <a:srgbClr val="EAF0F7"/>
                </a:solidFill>
                <a:latin typeface="Consolas"/>
              </a:rPr>
              <a:t>18.  Device Protection_Yes</a:t>
            </a:r>
          </a:p>
          <a:p>
            <a:pPr algn="l">
              <a:lnSpc>
                <a:spcPct val="112000"/>
              </a:lnSpc>
              <a:spcAft>
                <a:spcPts val="850"/>
              </a:spcAft>
            </a:pPr>
            <a:r>
              <a:rPr sz="1150" b="0">
                <a:solidFill>
                  <a:srgbClr val="EAF0F7"/>
                </a:solidFill>
                <a:latin typeface="Consolas"/>
              </a:rPr>
              <a:t>19.  Tech Support_No internet service</a:t>
            </a:r>
          </a:p>
          <a:p>
            <a:pPr algn="l">
              <a:lnSpc>
                <a:spcPct val="112000"/>
              </a:lnSpc>
              <a:spcAft>
                <a:spcPts val="850"/>
              </a:spcAft>
            </a:pPr>
            <a:r>
              <a:rPr sz="1150" b="0">
                <a:solidFill>
                  <a:srgbClr val="EAF0F7"/>
                </a:solidFill>
                <a:latin typeface="Consolas"/>
              </a:rPr>
              <a:t>20.  Tech Support_Yes</a:t>
            </a:r>
          </a:p>
          <a:p>
            <a:pPr algn="l">
              <a:lnSpc>
                <a:spcPct val="112000"/>
              </a:lnSpc>
              <a:spcAft>
                <a:spcPts val="850"/>
              </a:spcAft>
            </a:pPr>
            <a:r>
              <a:rPr sz="1150" b="0">
                <a:solidFill>
                  <a:srgbClr val="EAF0F7"/>
                </a:solidFill>
                <a:latin typeface="Consolas"/>
              </a:rPr>
              <a:t>21.  Streaming TV_No internet service</a:t>
            </a:r>
          </a:p>
          <a:p>
            <a:pPr algn="l">
              <a:lnSpc>
                <a:spcPct val="112000"/>
              </a:lnSpc>
              <a:spcAft>
                <a:spcPts val="850"/>
              </a:spcAft>
            </a:pPr>
            <a:r>
              <a:rPr sz="1150" b="0">
                <a:solidFill>
                  <a:srgbClr val="EAF0F7"/>
                </a:solidFill>
                <a:latin typeface="Consolas"/>
              </a:rPr>
              <a:t>22.  Streaming TV_Yes</a:t>
            </a:r>
          </a:p>
          <a:p>
            <a:pPr algn="l">
              <a:lnSpc>
                <a:spcPct val="112000"/>
              </a:lnSpc>
              <a:spcAft>
                <a:spcPts val="850"/>
              </a:spcAft>
            </a:pPr>
            <a:r>
              <a:rPr sz="1150" b="0">
                <a:solidFill>
                  <a:srgbClr val="EAF0F7"/>
                </a:solidFill>
                <a:latin typeface="Consolas"/>
              </a:rPr>
              <a:t>23.  Streaming Movies_No internet service</a:t>
            </a:r>
          </a:p>
          <a:p>
            <a:pPr algn="l">
              <a:lnSpc>
                <a:spcPct val="112000"/>
              </a:lnSpc>
              <a:spcAft>
                <a:spcPts val="850"/>
              </a:spcAft>
            </a:pPr>
            <a:r>
              <a:rPr sz="1150" b="0">
                <a:solidFill>
                  <a:srgbClr val="EAF0F7"/>
                </a:solidFill>
                <a:latin typeface="Consolas"/>
              </a:rPr>
              <a:t>24.  Streaming Movies_Yes</a:t>
            </a:r>
          </a:p>
          <a:p>
            <a:pPr algn="l">
              <a:lnSpc>
                <a:spcPct val="112000"/>
              </a:lnSpc>
              <a:spcAft>
                <a:spcPts val="850"/>
              </a:spcAft>
            </a:pPr>
            <a:r>
              <a:rPr sz="1150" b="0">
                <a:solidFill>
                  <a:srgbClr val="EAF0F7"/>
                </a:solidFill>
                <a:latin typeface="Consolas"/>
              </a:rPr>
              <a:t>25.  Contract_One year</a:t>
            </a:r>
          </a:p>
          <a:p>
            <a:pPr algn="l">
              <a:lnSpc>
                <a:spcPct val="112000"/>
              </a:lnSpc>
              <a:spcAft>
                <a:spcPts val="850"/>
              </a:spcAft>
            </a:pPr>
            <a:r>
              <a:rPr sz="1150" b="0">
                <a:solidFill>
                  <a:srgbClr val="EAF0F7"/>
                </a:solidFill>
                <a:latin typeface="Consolas"/>
              </a:rPr>
              <a:t>26.  Contract_Two year</a:t>
            </a:r>
          </a:p>
          <a:p>
            <a:pPr algn="l">
              <a:lnSpc>
                <a:spcPct val="112000"/>
              </a:lnSpc>
              <a:spcAft>
                <a:spcPts val="850"/>
              </a:spcAft>
            </a:pPr>
            <a:r>
              <a:rPr sz="1150" b="0">
                <a:solidFill>
                  <a:srgbClr val="EAF0F7"/>
                </a:solidFill>
                <a:latin typeface="Consolas"/>
              </a:rPr>
              <a:t>27.  Paperless Billing_Yes</a:t>
            </a:r>
          </a:p>
          <a:p>
            <a:pPr algn="l">
              <a:lnSpc>
                <a:spcPct val="112000"/>
              </a:lnSpc>
              <a:spcAft>
                <a:spcPts val="850"/>
              </a:spcAft>
            </a:pPr>
            <a:r>
              <a:rPr sz="1150" b="0">
                <a:solidFill>
                  <a:srgbClr val="EAF0F7"/>
                </a:solidFill>
                <a:latin typeface="Consolas"/>
              </a:rPr>
              <a:t>28.  Payment Method_Credit card (automatic)</a:t>
            </a:r>
          </a:p>
          <a:p>
            <a:pPr algn="l">
              <a:lnSpc>
                <a:spcPct val="112000"/>
              </a:lnSpc>
              <a:spcAft>
                <a:spcPts val="850"/>
              </a:spcAft>
            </a:pPr>
            <a:r>
              <a:rPr sz="1150" b="0">
                <a:solidFill>
                  <a:srgbClr val="EAF0F7"/>
                </a:solidFill>
                <a:latin typeface="Consolas"/>
              </a:rPr>
              <a:t>29.  Payment Method_Electronic check</a:t>
            </a:r>
          </a:p>
          <a:p>
            <a:pPr algn="l">
              <a:lnSpc>
                <a:spcPct val="112000"/>
              </a:lnSpc>
              <a:spcAft>
                <a:spcPts val="850"/>
              </a:spcAft>
            </a:pPr>
            <a:r>
              <a:rPr sz="1150" b="0">
                <a:solidFill>
                  <a:srgbClr val="EAF0F7"/>
                </a:solidFill>
                <a:latin typeface="Consolas"/>
              </a:rPr>
              <a:t>30.  Payment Method_Mailed check</a:t>
            </a:r>
          </a:p>
        </p:txBody>
      </p:sp>
      <p:sp>
        <p:nvSpPr>
          <p:cNvPr id="9" name="Rectangle 8"/>
          <p:cNvSpPr/>
          <p:nvPr/>
        </p:nvSpPr>
        <p:spPr>
          <a:xfrm>
            <a:off x="566928"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360365"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53803"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947241"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40679"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34117"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327555"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20993"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914431"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07869"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01307"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294745"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088183"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0881621"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Appendix · use only if asked</a:t>
            </a:r>
          </a:p>
        </p:txBody>
      </p:sp>
      <p:sp>
        <p:nvSpPr>
          <p:cNvPr id="25" name="TextBox 24"/>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8CA0BE"/>
                </a:solidFill>
                <a:latin typeface="Consolas"/>
              </a:rPr>
              <a:t>APPENDIX</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Prediction API &amp; where every figure came from</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The same engine, exposed programmatically — and the provenance of this deck</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517904"/>
            <a:ext cx="4846320" cy="2798063"/>
          </a:xfrm>
          <a:prstGeom prst="roundRect">
            <a:avLst>
              <a:gd name="adj" fmla="val 8000"/>
            </a:avLst>
          </a:prstGeom>
          <a:solidFill>
            <a:srgbClr val="162136"/>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682495"/>
            <a:ext cx="4480560" cy="2468879"/>
          </a:xfrm>
          <a:prstGeom prst="rect">
            <a:avLst/>
          </a:prstGeom>
          <a:noFill/>
        </p:spPr>
        <p:txBody>
          <a:bodyPr wrap="square" lIns="0" rIns="0" tIns="0" bIns="0" anchor="t">
            <a:spAutoFit/>
          </a:bodyPr>
          <a:lstStyle/>
          <a:p>
            <a:pPr algn="l">
              <a:lnSpc>
                <a:spcPct val="112000"/>
              </a:lnSpc>
              <a:spcAft>
                <a:spcPts val="700"/>
              </a:spcAft>
            </a:pPr>
            <a:r>
              <a:rPr sz="1100" b="1">
                <a:solidFill>
                  <a:srgbClr val="2FD8B4"/>
                </a:solidFill>
                <a:latin typeface="Consolas"/>
              </a:rPr>
              <a:t>POST /api/predict</a:t>
            </a:r>
          </a:p>
          <a:p>
            <a:pPr algn="l">
              <a:lnSpc>
                <a:spcPct val="112000"/>
              </a:lnSpc>
              <a:spcAft>
                <a:spcPts val="100"/>
              </a:spcAft>
            </a:pPr>
            <a:r>
              <a:rPr sz="960" b="0">
                <a:solidFill>
                  <a:srgbClr val="EAF0F7"/>
                </a:solidFill>
                <a:latin typeface="Consolas"/>
              </a:rPr>
              <a:t>{ "gender": "Male", "SeniorCitizen": 1,</a:t>
            </a:r>
          </a:p>
          <a:p>
            <a:pPr algn="l">
              <a:lnSpc>
                <a:spcPct val="112000"/>
              </a:lnSpc>
              <a:spcAft>
                <a:spcPts val="100"/>
              </a:spcAft>
            </a:pPr>
            <a:r>
              <a:rPr sz="960" b="0">
                <a:solidFill>
                  <a:srgbClr val="EAF0F7"/>
                </a:solidFill>
                <a:latin typeface="Consolas"/>
              </a:rPr>
              <a:t>  "tenure": 8, "Contract": "Month-to-month",</a:t>
            </a:r>
          </a:p>
          <a:p>
            <a:pPr algn="l">
              <a:lnSpc>
                <a:spcPct val="112000"/>
              </a:lnSpc>
              <a:spcAft>
                <a:spcPts val="900"/>
              </a:spcAft>
            </a:pPr>
            <a:r>
              <a:rPr sz="960" b="0">
                <a:solidFill>
                  <a:srgbClr val="EAF0F7"/>
                </a:solidFill>
                <a:latin typeface="Consolas"/>
              </a:rPr>
              <a:t>  "InternetService": "Fiber optic", ... }</a:t>
            </a:r>
          </a:p>
          <a:p>
            <a:pPr algn="l">
              <a:lnSpc>
                <a:spcPct val="112000"/>
              </a:lnSpc>
              <a:spcAft>
                <a:spcPts val="100"/>
              </a:spcAft>
            </a:pPr>
            <a:r>
              <a:rPr sz="980" b="0">
                <a:solidFill>
                  <a:srgbClr val="2FD8B4"/>
                </a:solidFill>
                <a:latin typeface="Consolas"/>
              </a:rPr>
              <a:t>→  probability · prediction · risk_level</a:t>
            </a:r>
          </a:p>
          <a:p>
            <a:pPr algn="l">
              <a:lnSpc>
                <a:spcPct val="112000"/>
              </a:lnSpc>
              <a:spcAft>
                <a:spcPts val="1200"/>
              </a:spcAft>
            </a:pPr>
            <a:r>
              <a:rPr sz="980" b="0">
                <a:solidFill>
                  <a:srgbClr val="2FD8B4"/>
                </a:solidFill>
                <a:latin typeface="Consolas"/>
              </a:rPr>
              <a:t>→  top_drivers · recommendations</a:t>
            </a:r>
          </a:p>
          <a:p>
            <a:pPr algn="l">
              <a:lnSpc>
                <a:spcPct val="112000"/>
              </a:lnSpc>
              <a:spcAft>
                <a:spcPts val="0"/>
              </a:spcAft>
            </a:pPr>
            <a:r>
              <a:rPr sz="980" b="0">
                <a:solidFill>
                  <a:srgbClr val="8CA0BE"/>
                </a:solidFill>
                <a:latin typeface="Consolas"/>
              </a:rPr>
              <a:t>GET /api/health  →  the uptime probe the host checks before it routes traffic</a:t>
            </a:r>
          </a:p>
        </p:txBody>
      </p:sp>
      <p:sp>
        <p:nvSpPr>
          <p:cNvPr id="9" name="Rounded Rectangle 8"/>
          <p:cNvSpPr/>
          <p:nvPr/>
        </p:nvSpPr>
        <p:spPr>
          <a:xfrm>
            <a:off x="5596128" y="1517904"/>
            <a:ext cx="6025896" cy="2798063"/>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79008" y="1682495"/>
            <a:ext cx="5660136" cy="2468879"/>
          </a:xfrm>
          <a:prstGeom prst="rect">
            <a:avLst/>
          </a:prstGeom>
          <a:noFill/>
        </p:spPr>
        <p:txBody>
          <a:bodyPr wrap="square" lIns="0" rIns="0" tIns="0" bIns="0" anchor="t">
            <a:spAutoFit/>
          </a:bodyPr>
          <a:lstStyle/>
          <a:p>
            <a:pPr algn="l">
              <a:lnSpc>
                <a:spcPct val="112000"/>
              </a:lnSpc>
              <a:spcAft>
                <a:spcPts val="700"/>
              </a:spcAft>
            </a:pPr>
            <a:r>
              <a:rPr sz="1100" b="1">
                <a:solidFill>
                  <a:srgbClr val="2FD8B4"/>
                </a:solidFill>
                <a:latin typeface="Consolas"/>
              </a:rPr>
              <a:t>FIGURE PROVENANCE</a:t>
            </a:r>
          </a:p>
          <a:p>
            <a:pPr algn="l">
              <a:lnSpc>
                <a:spcPct val="114000"/>
              </a:lnSpc>
              <a:spcAft>
                <a:spcPts val="400"/>
              </a:spcAft>
            </a:pPr>
            <a:r>
              <a:rPr sz="980" b="0">
                <a:solidFill>
                  <a:srgbClr val="EAF0F7"/>
                </a:solidFill>
                <a:latin typeface="Segoe UI"/>
              </a:rPr>
              <a:t>Churn split, contract, internet, tenure  →  Data/01.Telco_customer_churn_Dataset.csv</a:t>
            </a:r>
          </a:p>
          <a:p>
            <a:pPr algn="l">
              <a:lnSpc>
                <a:spcPct val="114000"/>
              </a:lnSpc>
              <a:spcAft>
                <a:spcPts val="400"/>
              </a:spcAft>
            </a:pPr>
            <a:r>
              <a:rPr sz="980" b="0">
                <a:solidFill>
                  <a:srgbClr val="EAF0F7"/>
                </a:solidFill>
                <a:latin typeface="Segoe UI"/>
              </a:rPr>
              <a:t>Benchmark, confusion matrix, ROC  →  models/*.pkl on the held-out split</a:t>
            </a:r>
          </a:p>
          <a:p>
            <a:pPr algn="l">
              <a:lnSpc>
                <a:spcPct val="114000"/>
              </a:lnSpc>
              <a:spcAft>
                <a:spcPts val="400"/>
              </a:spcAft>
            </a:pPr>
            <a:r>
              <a:rPr sz="980" b="0">
                <a:solidFill>
                  <a:srgbClr val="EAF0F7"/>
                </a:solidFill>
                <a:latin typeface="Segoe UI"/>
              </a:rPr>
              <a:t>Threshold sweep, CV, imbalance  →  presentation/build_assets.py</a:t>
            </a:r>
          </a:p>
          <a:p>
            <a:pPr algn="l">
              <a:lnSpc>
                <a:spcPct val="114000"/>
              </a:lnSpc>
              <a:spcAft>
                <a:spcPts val="400"/>
              </a:spcAft>
            </a:pPr>
            <a:r>
              <a:rPr sz="980" b="0">
                <a:solidFill>
                  <a:srgbClr val="EAF0F7"/>
                </a:solidFill>
                <a:latin typeface="Segoe UI"/>
              </a:rPr>
              <a:t>Risk bands, profile, revenue  →  the production scoring pipeline</a:t>
            </a:r>
          </a:p>
          <a:p>
            <a:pPr algn="l">
              <a:lnSpc>
                <a:spcPct val="114000"/>
              </a:lnSpc>
              <a:spcAft>
                <a:spcPts val="400"/>
              </a:spcAft>
            </a:pPr>
            <a:r>
              <a:rPr sz="980" b="0">
                <a:solidFill>
                  <a:srgbClr val="EAF0F7"/>
                </a:solidFill>
                <a:latin typeface="Segoe UI"/>
              </a:rPr>
              <a:t>QR codes  →  build_qr.py, decoded back to verify</a:t>
            </a:r>
          </a:p>
          <a:p>
            <a:pPr algn="l">
              <a:lnSpc>
                <a:spcPct val="114000"/>
              </a:lnSpc>
              <a:spcAft>
                <a:spcPts val="400"/>
              </a:spcAft>
            </a:pPr>
            <a:r>
              <a:rPr sz="980" b="0">
                <a:solidFill>
                  <a:srgbClr val="EAF0F7"/>
                </a:solidFill>
                <a:latin typeface="Segoe UI"/>
              </a:rPr>
              <a:t>Console screenshots  →  templates/images/ from the running app</a:t>
            </a:r>
          </a:p>
          <a:p>
            <a:pPr algn="l">
              <a:lnSpc>
                <a:spcPct val="114000"/>
              </a:lnSpc>
              <a:spcAft>
                <a:spcPts val="0"/>
              </a:spcAft>
            </a:pPr>
            <a:r>
              <a:rPr sz="980" b="0">
                <a:solidFill>
                  <a:srgbClr val="EAF0F7"/>
                </a:solidFill>
                <a:latin typeface="Segoe UI"/>
              </a:rPr>
              <a:t>Power BI pages  →  Power_BI_dashboard/Screenshots/</a:t>
            </a:r>
          </a:p>
        </p:txBody>
      </p:sp>
      <p:sp>
        <p:nvSpPr>
          <p:cNvPr id="11" name="Rounded Rectangle 10"/>
          <p:cNvSpPr/>
          <p:nvPr/>
        </p:nvSpPr>
        <p:spPr>
          <a:xfrm>
            <a:off x="566928" y="4462272"/>
            <a:ext cx="11057839" cy="1755647"/>
          </a:xfrm>
          <a:prstGeom prst="roundRect">
            <a:avLst>
              <a:gd name="adj" fmla="val 8000"/>
            </a:avLst>
          </a:prstGeom>
          <a:solidFill>
            <a:srgbClr val="162136"/>
          </a:solidFill>
          <a:ln w="15240">
            <a:solidFill>
              <a:srgbClr val="2FD8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4590288"/>
            <a:ext cx="10692079" cy="1517903"/>
          </a:xfrm>
          <a:prstGeom prst="rect">
            <a:avLst/>
          </a:prstGeom>
          <a:noFill/>
        </p:spPr>
        <p:txBody>
          <a:bodyPr wrap="square" lIns="0" rIns="0" tIns="0" bIns="0" anchor="t">
            <a:spAutoFit/>
          </a:bodyPr>
          <a:lstStyle/>
          <a:p>
            <a:pPr algn="l">
              <a:lnSpc>
                <a:spcPct val="112000"/>
              </a:lnSpc>
              <a:spcAft>
                <a:spcPts val="300"/>
              </a:spcAft>
            </a:pPr>
            <a:r>
              <a:rPr sz="1150" b="1">
                <a:solidFill>
                  <a:srgbClr val="2FD8B4"/>
                </a:solidFill>
                <a:latin typeface="Segoe UI"/>
              </a:rPr>
              <a:t>THE POINT</a:t>
            </a:r>
          </a:p>
          <a:p>
            <a:pPr algn="l">
              <a:lnSpc>
                <a:spcPct val="116000"/>
              </a:lnSpc>
              <a:spcAft>
                <a:spcPts val="0"/>
              </a:spcAft>
            </a:pPr>
            <a:r>
              <a:rPr sz="1080" b="0">
                <a:solidFill>
                  <a:srgbClr val="EAF0F7"/>
                </a:solidFill>
                <a:latin typeface="Segoe UI"/>
              </a:rPr>
              <a:t>Nothing in this deck is hand-typed. build_assets.py recomputes every figure from the saved artifacts and the production scoring path, so the deck cannot drift away from the project — retrain a model and the charts and the benchmark table regenerate together.</a:t>
            </a:r>
          </a:p>
        </p:txBody>
      </p:sp>
      <p:sp>
        <p:nvSpPr>
          <p:cNvPr id="13" name="Rectangle 12"/>
          <p:cNvSpPr/>
          <p:nvPr/>
        </p:nvSpPr>
        <p:spPr>
          <a:xfrm>
            <a:off x="566928"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360365"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153803"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947241"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40679"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34117"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327555"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0993"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14431"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07869"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501307"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94745"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088183"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881621"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Appendix · use only if asked</a:t>
            </a:r>
          </a:p>
        </p:txBody>
      </p:sp>
      <p:sp>
        <p:nvSpPr>
          <p:cNvPr id="29" name="TextBox 28"/>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229600" cy="237744"/>
          </a:xfrm>
          <a:prstGeom prst="rect">
            <a:avLst/>
          </a:prstGeom>
          <a:noFill/>
        </p:spPr>
        <p:txBody>
          <a:bodyPr wrap="square" lIns="0" rIns="0" tIns="0" bIns="0" anchor="t">
            <a:spAutoFit/>
          </a:bodyPr>
          <a:lstStyle/>
          <a:p>
            <a:pPr algn="l">
              <a:lnSpc>
                <a:spcPct val="112000"/>
              </a:lnSpc>
              <a:spcAft>
                <a:spcPts val="0"/>
              </a:spcAft>
            </a:pPr>
            <a:r>
              <a:rPr sz="1000" b="1">
                <a:solidFill>
                  <a:srgbClr val="8CA0BE"/>
                </a:solidFill>
                <a:latin typeface="Consolas"/>
              </a:rPr>
              <a:t>APPENDIX</a:t>
            </a:r>
          </a:p>
        </p:txBody>
      </p:sp>
      <p:sp>
        <p:nvSpPr>
          <p:cNvPr id="4" name="TextBox 3"/>
          <p:cNvSpPr txBox="1"/>
          <p:nvPr/>
        </p:nvSpPr>
        <p:spPr>
          <a:xfrm>
            <a:off x="566928" y="576072"/>
            <a:ext cx="11057839" cy="475488"/>
          </a:xfrm>
          <a:prstGeom prst="rect">
            <a:avLst/>
          </a:prstGeom>
          <a:noFill/>
        </p:spPr>
        <p:txBody>
          <a:bodyPr wrap="square" lIns="0" rIns="0" tIns="0" bIns="0" anchor="t">
            <a:spAutoFit/>
          </a:bodyPr>
          <a:lstStyle/>
          <a:p>
            <a:pPr algn="l">
              <a:lnSpc>
                <a:spcPct val="112000"/>
              </a:lnSpc>
              <a:spcAft>
                <a:spcPts val="0"/>
              </a:spcAft>
            </a:pPr>
            <a:r>
              <a:rPr sz="2600" b="1">
                <a:solidFill>
                  <a:srgbClr val="EAF0F7"/>
                </a:solidFill>
                <a:latin typeface="Segoe UI"/>
              </a:rPr>
              <a:t>How the system fits together</a:t>
            </a:r>
          </a:p>
        </p:txBody>
      </p:sp>
      <p:sp>
        <p:nvSpPr>
          <p:cNvPr id="5" name="TextBox 4"/>
          <p:cNvSpPr txBox="1"/>
          <p:nvPr/>
        </p:nvSpPr>
        <p:spPr>
          <a:xfrm>
            <a:off x="566928" y="1060704"/>
            <a:ext cx="11057839" cy="274320"/>
          </a:xfrm>
          <a:prstGeom prst="rect">
            <a:avLst/>
          </a:prstGeom>
          <a:noFill/>
        </p:spPr>
        <p:txBody>
          <a:bodyPr wrap="square" lIns="0" rIns="0" tIns="0" bIns="0" anchor="t">
            <a:spAutoFit/>
          </a:bodyPr>
          <a:lstStyle/>
          <a:p>
            <a:pPr algn="l">
              <a:lnSpc>
                <a:spcPct val="112000"/>
              </a:lnSpc>
              <a:spcAft>
                <a:spcPts val="0"/>
              </a:spcAft>
            </a:pPr>
            <a:r>
              <a:rPr sz="1250" b="0">
                <a:solidFill>
                  <a:srgbClr val="8CA0BE"/>
                </a:solidFill>
                <a:latin typeface="Segoe UI"/>
              </a:rPr>
              <a:t>One shared path from raw customer data to the console, the API and the BI layer</a:t>
            </a:r>
          </a:p>
        </p:txBody>
      </p:sp>
      <p:sp>
        <p:nvSpPr>
          <p:cNvPr id="6" name="Rectangle 5"/>
          <p:cNvSpPr/>
          <p:nvPr/>
        </p:nvSpPr>
        <p:spPr>
          <a:xfrm>
            <a:off x="566928" y="1371600"/>
            <a:ext cx="11057839" cy="12801"/>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rt_architecture.png"/>
          <p:cNvPicPr>
            <a:picLocks noChangeAspect="1"/>
          </p:cNvPicPr>
          <p:nvPr/>
        </p:nvPicPr>
        <p:blipFill>
          <a:blip r:embed="rId2"/>
          <a:stretch>
            <a:fillRect/>
          </a:stretch>
        </p:blipFill>
        <p:spPr>
          <a:xfrm>
            <a:off x="1631322" y="1517904"/>
            <a:ext cx="8929050" cy="3291839"/>
          </a:xfrm>
          <a:prstGeom prst="rect">
            <a:avLst/>
          </a:prstGeom>
        </p:spPr>
      </p:pic>
      <p:sp>
        <p:nvSpPr>
          <p:cNvPr id="8" name="Rounded Rectangle 7"/>
          <p:cNvSpPr/>
          <p:nvPr/>
        </p:nvSpPr>
        <p:spPr>
          <a:xfrm>
            <a:off x="566928" y="4956048"/>
            <a:ext cx="3551834" cy="1261871"/>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5084064"/>
            <a:ext cx="32004" cy="1005839"/>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5102352"/>
            <a:ext cx="3167786" cy="969263"/>
          </a:xfrm>
          <a:prstGeom prst="rect">
            <a:avLst/>
          </a:prstGeom>
          <a:noFill/>
        </p:spPr>
        <p:txBody>
          <a:bodyPr wrap="square" lIns="0" rIns="0" tIns="0" bIns="0" anchor="t">
            <a:spAutoFit/>
          </a:bodyPr>
          <a:lstStyle/>
          <a:p>
            <a:pPr algn="l">
              <a:lnSpc>
                <a:spcPct val="112000"/>
              </a:lnSpc>
              <a:spcAft>
                <a:spcPts val="500"/>
              </a:spcAft>
            </a:pPr>
            <a:r>
              <a:rPr sz="1000" b="1">
                <a:solidFill>
                  <a:srgbClr val="4C8DFF"/>
                </a:solidFill>
                <a:latin typeface="Consolas"/>
              </a:rPr>
              <a:t>ONE PREPROCESSING PATH</a:t>
            </a:r>
          </a:p>
          <a:p>
            <a:pPr algn="l">
              <a:lnSpc>
                <a:spcPct val="116000"/>
              </a:lnSpc>
              <a:spcAft>
                <a:spcPts val="0"/>
              </a:spcAft>
            </a:pPr>
            <a:r>
              <a:rPr sz="1019" b="0">
                <a:solidFill>
                  <a:srgbClr val="EAF0F7"/>
                </a:solidFill>
                <a:latin typeface="Segoe UI"/>
              </a:rPr>
              <a:t>The notebook pipeline and the app import the same transformations, so a score in the console and a metric in this deck come from the same 30 features.</a:t>
            </a:r>
          </a:p>
        </p:txBody>
      </p:sp>
      <p:sp>
        <p:nvSpPr>
          <p:cNvPr id="11" name="Rounded Rectangle 10"/>
          <p:cNvSpPr/>
          <p:nvPr/>
        </p:nvSpPr>
        <p:spPr>
          <a:xfrm>
            <a:off x="4319930" y="4956048"/>
            <a:ext cx="3551834" cy="1261871"/>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19930" y="5084064"/>
            <a:ext cx="32004" cy="1005839"/>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02810" y="5102352"/>
            <a:ext cx="3167786" cy="969263"/>
          </a:xfrm>
          <a:prstGeom prst="rect">
            <a:avLst/>
          </a:prstGeom>
          <a:noFill/>
        </p:spPr>
        <p:txBody>
          <a:bodyPr wrap="square" lIns="0" rIns="0" tIns="0" bIns="0" anchor="t">
            <a:spAutoFit/>
          </a:bodyPr>
          <a:lstStyle/>
          <a:p>
            <a:pPr algn="l">
              <a:lnSpc>
                <a:spcPct val="112000"/>
              </a:lnSpc>
              <a:spcAft>
                <a:spcPts val="500"/>
              </a:spcAft>
            </a:pPr>
            <a:r>
              <a:rPr sz="1000" b="1">
                <a:solidFill>
                  <a:srgbClr val="2FD8B4"/>
                </a:solidFill>
                <a:latin typeface="Consolas"/>
              </a:rPr>
              <a:t>TWO ENTRY POINTS</a:t>
            </a:r>
          </a:p>
          <a:p>
            <a:pPr algn="l">
              <a:lnSpc>
                <a:spcPct val="116000"/>
              </a:lnSpc>
              <a:spcAft>
                <a:spcPts val="0"/>
              </a:spcAft>
            </a:pPr>
            <a:r>
              <a:rPr sz="1019" b="0">
                <a:solidFill>
                  <a:srgbClr val="EAF0F7"/>
                </a:solidFill>
                <a:latin typeface="Segoe UI"/>
              </a:rPr>
              <a:t>The Flask console serves the reviewable UI; the FastAPI wrapper serves the same model to any other client. Both load the frozen feature list.</a:t>
            </a:r>
          </a:p>
        </p:txBody>
      </p:sp>
      <p:sp>
        <p:nvSpPr>
          <p:cNvPr id="14" name="Rounded Rectangle 13"/>
          <p:cNvSpPr/>
          <p:nvPr/>
        </p:nvSpPr>
        <p:spPr>
          <a:xfrm>
            <a:off x="8072932" y="4956048"/>
            <a:ext cx="3551834" cy="1261871"/>
          </a:xfrm>
          <a:prstGeom prst="roundRect">
            <a:avLst>
              <a:gd name="adj" fmla="val 8000"/>
            </a:avLst>
          </a:prstGeom>
          <a:solidFill>
            <a:srgbClr val="111A2C"/>
          </a:solidFill>
          <a:ln w="12700">
            <a:solidFill>
              <a:srgbClr val="2230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72932" y="5084064"/>
            <a:ext cx="32004" cy="100583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55812" y="5102352"/>
            <a:ext cx="3167786" cy="969263"/>
          </a:xfrm>
          <a:prstGeom prst="rect">
            <a:avLst/>
          </a:prstGeom>
          <a:noFill/>
        </p:spPr>
        <p:txBody>
          <a:bodyPr wrap="square" lIns="0" rIns="0" tIns="0" bIns="0" anchor="t">
            <a:spAutoFit/>
          </a:bodyPr>
          <a:lstStyle/>
          <a:p>
            <a:pPr algn="l">
              <a:lnSpc>
                <a:spcPct val="112000"/>
              </a:lnSpc>
              <a:spcAft>
                <a:spcPts val="500"/>
              </a:spcAft>
            </a:pPr>
            <a:r>
              <a:rPr sz="1000" b="1">
                <a:solidFill>
                  <a:srgbClr val="F5A623"/>
                </a:solidFill>
                <a:latin typeface="Consolas"/>
              </a:rPr>
              <a:t>LAYERS ON TOP</a:t>
            </a:r>
          </a:p>
          <a:p>
            <a:pPr algn="l">
              <a:lnSpc>
                <a:spcPct val="116000"/>
              </a:lnSpc>
              <a:spcAft>
                <a:spcPts val="0"/>
              </a:spcAft>
            </a:pPr>
            <a:r>
              <a:rPr sz="1019" b="0">
                <a:solidFill>
                  <a:srgbClr val="EAF0F7"/>
                </a:solidFill>
                <a:latin typeface="Segoe UI"/>
              </a:rPr>
              <a:t>Risk bands and recommendations are rules over the probability, not a second model — which is why they are auditable.</a:t>
            </a:r>
          </a:p>
        </p:txBody>
      </p:sp>
      <p:sp>
        <p:nvSpPr>
          <p:cNvPr id="17" name="Rectangle 16"/>
          <p:cNvSpPr/>
          <p:nvPr/>
        </p:nvSpPr>
        <p:spPr>
          <a:xfrm>
            <a:off x="566928"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360365"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153803"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947241"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740679"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34117"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27555"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0993"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914431"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07869"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501307"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294745"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088183"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0881621" y="6309360"/>
            <a:ext cx="743145" cy="43891"/>
          </a:xfrm>
          <a:prstGeom prst="rect">
            <a:avLst/>
          </a:prstGeom>
          <a:solidFill>
            <a:srgbClr val="2FD8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6455664"/>
            <a:ext cx="11057839" cy="9144"/>
          </a:xfrm>
          <a:prstGeom prst="rect">
            <a:avLst/>
          </a:prstGeom>
          <a:solidFill>
            <a:srgbClr val="2230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8" y="6510528"/>
            <a:ext cx="9509760" cy="219456"/>
          </a:xfrm>
          <a:prstGeom prst="rect">
            <a:avLst/>
          </a:prstGeom>
          <a:noFill/>
        </p:spPr>
        <p:txBody>
          <a:bodyPr wrap="square" lIns="0" rIns="0" tIns="0" bIns="0" anchor="t">
            <a:spAutoFit/>
          </a:bodyPr>
          <a:lstStyle/>
          <a:p>
            <a:pPr algn="l">
              <a:lnSpc>
                <a:spcPct val="112000"/>
              </a:lnSpc>
              <a:spcAft>
                <a:spcPts val="0"/>
              </a:spcAft>
            </a:pPr>
            <a:r>
              <a:rPr sz="900" b="0">
                <a:solidFill>
                  <a:srgbClr val="8CA0BE"/>
                </a:solidFill>
                <a:latin typeface="Segoe UI"/>
              </a:rPr>
              <a:t>Appendix · use only if asked</a:t>
            </a:r>
          </a:p>
        </p:txBody>
      </p:sp>
      <p:sp>
        <p:nvSpPr>
          <p:cNvPr id="33" name="TextBox 32"/>
          <p:cNvSpPr txBox="1"/>
          <p:nvPr/>
        </p:nvSpPr>
        <p:spPr>
          <a:xfrm>
            <a:off x="10527487" y="6510528"/>
            <a:ext cx="1097280" cy="219456"/>
          </a:xfrm>
          <a:prstGeom prst="rect">
            <a:avLst/>
          </a:prstGeom>
          <a:noFill/>
        </p:spPr>
        <p:txBody>
          <a:bodyPr wrap="square" lIns="0" rIns="0" tIns="0" bIns="0" anchor="t">
            <a:spAutoFit/>
          </a:bodyPr>
          <a:lstStyle/>
          <a:p>
            <a:pPr algn="r">
              <a:lnSpc>
                <a:spcPct val="112000"/>
              </a:lnSpc>
              <a:spcAft>
                <a:spcPts val="0"/>
              </a:spcAft>
            </a:pPr>
            <a:r>
              <a:rPr sz="900" b="0">
                <a:solidFill>
                  <a:srgbClr val="8CA0BE"/>
                </a:solidFill>
                <a:latin typeface="Consolas"/>
              </a:rPr>
              <a:t>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