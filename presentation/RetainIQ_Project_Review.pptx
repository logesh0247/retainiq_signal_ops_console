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(0:00–0:30). "Good morning. I'm Logesh, and this is RetainIQ — a churn</a:t>
            </a:r>
          </a:p>
          <a:p>
            <a:r>
              <a:t>prediction platform I built end to end: data cleaning, model training, an</a:t>
            </a:r>
          </a:p>
          <a:p>
            <a:r>
              <a:t>explainability layer, a retention recommendation engine, a Flask web app and a</a:t>
            </a:r>
          </a:p>
          <a:p>
            <a:r>
              <a:t>Power BI layer. The headline: the model predicts churn with 80.34% accuracy and</a:t>
            </a:r>
          </a:p>
          <a:p>
            <a:r>
              <a:t>a ROC-AUC of 84.91%, but the real point is what happens after the prediction —</a:t>
            </a:r>
          </a:p>
          <a:p>
            <a:r>
              <a:t>risk bands, explanations, actions and revenue exposure."</a:t>
            </a:r>
          </a:p>
          <a:p/>
          <a:p>
            <a:r>
              <a:t>Do not read the slides. Land the four KPIs, then move 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(0:30–0:55) Read the thesis line aloud — it is the spine of the whole talk. Then</a:t>
            </a:r>
          </a:p>
          <a:p>
            <a:r>
              <a:t>point at the four quadrants: "I'll move through problem and data, then how the</a:t>
            </a:r>
          </a:p>
          <a:p>
            <a:r>
              <a:t>model was built and chosen, then how a probability becomes an action, and</a:t>
            </a:r>
          </a:p>
          <a:p>
            <a:r>
              <a:t>finally the product itself and what it does and does not deliver."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(0:55–1:45) Frame the business pain, then the four questions — they are the</a:t>
            </a:r>
          </a:p>
          <a:p>
            <a:r>
              <a:t>structure of the entire solution. Finish on the donut: "Notice the trap here.</a:t>
            </a:r>
          </a:p>
          <a:p>
            <a:r>
              <a:t>If I predict nobody churns, I'm 73.46% accurate and completely useless. That</a:t>
            </a:r>
          </a:p>
          <a:p>
            <a:r>
              <a:t>number is why I never selected a model on accuracy alone." That line earns</a:t>
            </a:r>
          </a:p>
          <a:p>
            <a:r>
              <a:t>credibility early and sets up slide 7.</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(1:45–2:30) Quick pass over the tiles. Spend the time on the leakage callout —</a:t>
            </a:r>
          </a:p>
          <a:p>
            <a:r>
              <a:t>reviewers consistently reward this. Say: "Churn Score and Churn Reason are the</a:t>
            </a:r>
          </a:p>
          <a:p>
            <a:r>
              <a:t>dataset's most seductive columns, and they're poison: they exist only after the</a:t>
            </a:r>
          </a:p>
          <a:p>
            <a:r>
              <a:t>customer has left. I dropped them. That is why 80% here is a real 80%."</a:t>
            </a:r>
          </a:p>
          <a:p>
            <a:r>
              <a:t>Then one sentence on train/serve parity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(2:30–3:20) Don't narrate every bar — three takeaways only.</a:t>
            </a:r>
          </a:p>
          <a:p>
            <a:r>
              <a:t>Contract: "month-to-month is a 15× risk multiplier."</a:t>
            </a:r>
          </a:p>
          <a:p>
            <a:r>
              <a:t>Tenure: "risk is front-loaded — year one is where retention money belongs."</a:t>
            </a:r>
          </a:p>
          <a:p>
            <a:r>
              <a:t>Experience: "the churn story is service experience, not price alone: fiber optic,</a:t>
            </a:r>
          </a:p>
          <a:p>
            <a:r>
              <a:t>no security, no support."</a:t>
            </a:r>
          </a:p>
          <a:p>
            <a:r>
              <a:t>Close with the bridge: "these three patterns are what the model later recovered</a:t>
            </a:r>
          </a:p>
          <a:p>
            <a:r>
              <a:t>on its own — and what the recommendation engine acts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(3:20–4:05) Walk the four boxes quickly, then spend the time on the right panel.</a:t>
            </a:r>
          </a:p>
          <a:p>
            <a:r>
              <a:t>"Cleaning, encoding and the split all live in one module that both the training</a:t>
            </a:r>
          </a:p>
          <a:p>
            <a:r>
              <a:t>notebook and the live app call. The 30-column contract is saved next to the</a:t>
            </a:r>
          </a:p>
          <a:p>
            <a:r>
              <a:t>model and tested — so the app can't silently score on the wrong schema."</a:t>
            </a:r>
          </a:p>
          <a:p>
            <a:r>
              <a:t>If asked about scaling: the saved pipeline handles it; note that feature scaling</a:t>
            </a:r>
          </a:p>
          <a:p>
            <a:r>
              <a:t>matters for the linear model and is applied consistently.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(4:05–4:45) "Same features, same split, same code path — the only thing that</a:t>
            </a:r>
          </a:p>
          <a:p>
            <a:r>
              <a:t>changes is the algorithm." Point out that Logistic Regression led on F1 and on</a:t>
            </a:r>
          </a:p>
          <a:p>
            <a:r>
              <a:t>ROC-AUC, with LightGBM a close second. The takeaway to say out loud: "churn here</a:t>
            </a:r>
          </a:p>
          <a:p>
            <a:r>
              <a:t>is largely linear in the encoded features, so the simplest model wins — and that</a:t>
            </a:r>
          </a:p>
          <a:p>
            <a:r>
              <a:t>also buys me explainability for free." That is the transition into slide 8.</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(4:45–5:35) This is the slide to slow down on. "1,409 customers were held back</a:t>
            </a:r>
          </a:p>
          <a:p>
            <a:r>
              <a:t>from training entirely. 919 stayed and were correctly left alone; 116 were</a:t>
            </a:r>
          </a:p>
          <a:p>
            <a:r>
              <a:t>flagged unnecessarily; 161 churners were missed; 213 were caught."</a:t>
            </a:r>
          </a:p>
          <a:p>
            <a:r>
              <a:t>Then the reflection: "56.95% recall is the honest weakness of this model. I would</a:t>
            </a:r>
          </a:p>
          <a:p>
            <a:r>
              <a:t>rather state it than hide it — and it is exactly why threshold tuning and</a:t>
            </a:r>
          </a:p>
          <a:p>
            <a:r>
              <a:t>cost-sensitive learning are on the future-work slide." Reviewers reward this.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(5:35–6:15) "A probability is not something a retention agent can act on, so I</a:t>
            </a:r>
          </a:p>
          <a:p>
            <a:r>
              <a:t>cut it into three bands."</a:t>
            </a:r>
          </a:p>
          <a:p>
            <a:r>
              <a:t>Then the validation, which is the point: "I checked the bands against the real</a:t>
            </a:r>
          </a:p>
          <a:p>
            <a:r>
              <a:t>churn labels. Low risk actually churns 9.5%, medium 42%, high 73%. The band is a</a:t>
            </a:r>
          </a:p>
          <a:p>
            <a:r>
              <a:t>genuine ordering of risk, not a cosmetic split."</a:t>
            </a:r>
          </a:p>
          <a:p>
            <a:r>
              <a:t>Close with the operational line: "the team starts with 1,135 customers instead</a:t>
            </a:r>
          </a:p>
          <a:p>
            <a:r>
              <a:t>of 7,043."</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(6:15–7:00) Left chart: "this is who the high-risk band is — every one of them is</a:t>
            </a:r>
          </a:p>
          <a:p>
            <a:r>
              <a:t>month-to-month, 91% are on fiber optic, 95% have no online security, average</a:t>
            </a:r>
          </a:p>
          <a:p>
            <a:r>
              <a:t>tenure under ten months."</a:t>
            </a:r>
          </a:p>
          <a:p>
            <a:r>
              <a:t>Right: "and for a single customer the app shows which of those factors pushed</a:t>
            </a:r>
          </a:p>
          <a:p>
            <a:r>
              <a:t>this specific score up."</a:t>
            </a:r>
          </a:p>
          <a:p>
            <a:r>
              <a:t>Be upfront on SHAP if asked: "I did the SHAP analysis during experimentation; the</a:t>
            </a:r>
          </a:p>
          <a:p>
            <a:r>
              <a:t>deployed model is linear, so I explain it with coefficients — the same</a:t>
            </a:r>
          </a:p>
          <a:p>
            <a:r>
              <a:t>information without the runtime cost."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(7:00–7:40) "Prediction alone doesn't retain anyone." Show the offer list — note</a:t>
            </a:r>
          </a:p>
          <a:p>
            <a:r>
              <a:t>that the biggest group is a contract-upgrade nudge, which follows directly from</a:t>
            </a:r>
          </a:p>
          <a:p>
            <a:r>
              <a:t>the EDA finding.</a:t>
            </a:r>
          </a:p>
          <a:p>
            <a:r>
              <a:t>Then be careful and precise about the money: "this is monthly revenue at risk,</a:t>
            </a:r>
          </a:p>
          <a:p>
            <a:r>
              <a:t>exposure — $92,539 a month sitting in the high-risk band. I deliberately do not</a:t>
            </a:r>
          </a:p>
          <a:p>
            <a:r>
              <a:t>call it savings."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(7:40–8:20) This is the demo slide — if the live site is up, switch to it here</a:t>
            </a:r>
          </a:p>
          <a:p>
            <a:r>
              <a:t>for 30 seconds; otherwise walk the screenshots.</a:t>
            </a:r>
          </a:p>
          <a:p>
            <a:r>
              <a:t>Say: "bulk upload, validation before scoring, a dashboard with churn rate, risk</a:t>
            </a:r>
          </a:p>
          <a:p>
            <a:r>
              <a:t>distribution and revenue at risk, customer-level drill-down, and downloadable</a:t>
            </a:r>
          </a:p>
          <a:p>
            <a:r>
              <a:t>reports." One engineering detail worth one sentence: "reports are scoped to the</a:t>
            </a:r>
          </a:p>
          <a:p>
            <a:r>
              <a:t>visitor through a signed cookie, so users never see each other's data — that has</a:t>
            </a:r>
          </a:p>
          <a:p>
            <a:r>
              <a:t>its own unit test."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(8:20–8:55) Fast pass — four cards, one sentence each. The Power BI screenshots</a:t>
            </a:r>
          </a:p>
          <a:p>
            <a:r>
              <a:t>on the right show the BI half of the deliverable.</a:t>
            </a:r>
          </a:p>
          <a:p>
            <a:r>
              <a:t>Use the bottom strip as your integrity line: "every number in this deck is</a:t>
            </a:r>
          </a:p>
          <a:p>
            <a:r>
              <a:t>generated by a script in the repository from the project's own artifacts — I can</a:t>
            </a:r>
          </a:p>
          <a:p>
            <a:r>
              <a:t>re-run it live."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(8:20–8:55) Do not read the lists — nobody remembers a tool list. One sentence per</a:t>
            </a:r>
          </a:p>
          <a:p>
            <a:r>
              <a:t>column: "Python and pandas for the data work; scikit-learn with four algorithms,</a:t>
            </a:r>
          </a:p>
          <a:p>
            <a:r>
              <a:t>Logistic Regression deployed; Flask and a hand-built CSS design system for the</a:t>
            </a:r>
          </a:p>
          <a:p>
            <a:r>
              <a:t>product; FastAPI, Docker and Render around it; Power BI for the business layer."</a:t>
            </a:r>
          </a:p>
          <a:p>
            <a:r>
              <a:t>If asked about a tool that is not shown here (Plotly appears in an older README</a:t>
            </a:r>
          </a:p>
          <a:p>
            <a:r>
              <a:t>draft): it is not imported anywhere in the codebase, so it is not claimed. Only</a:t>
            </a:r>
          </a:p>
          <a:p>
            <a:r>
              <a:t>claim what you can open in the repo.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(8:55–9:40) Close deliberately. Left column: what exists and works. Middle: the</a:t>
            </a:r>
          </a:p>
          <a:p>
            <a:r>
              <a:t>limits, stated before anyone asks — especially recall. Right: the roadmap.</a:t>
            </a:r>
          </a:p>
          <a:p>
            <a:r>
              <a:t>Final line, spoken: "The contribution isn't the 80% — it's that a probability</a:t>
            </a:r>
          </a:p>
          <a:p>
            <a:r>
              <a:t>becomes a prioritised, explained, costed action, in a product a retention team</a:t>
            </a:r>
          </a:p>
          <a:p>
            <a:r>
              <a:t>can actually open. Thank you — I'm happy to take questions."</a:t>
            </a:r>
          </a:p>
          <a:p/>
          <a:p>
            <a:r>
              <a:t>LIKELY QUESTIONS</a:t>
            </a:r>
          </a:p>
          <a:p>
            <a:r>
              <a:t>· Why not deep learning? 1,409 test rows and a largely linear signal; a neural</a:t>
            </a:r>
          </a:p>
          <a:p>
            <a:r>
              <a:t>  net would add opacity, not accuracy. Benchmarks support this.</a:t>
            </a:r>
          </a:p>
          <a:p>
            <a:r>
              <a:t>· Why is recall low? Class imbalance plus a default 0.5 threshold; tuning and</a:t>
            </a:r>
          </a:p>
          <a:p>
            <a:r>
              <a:t>  calibration are the fix, and are on the roadmap.</a:t>
            </a:r>
          </a:p>
          <a:p>
            <a:r>
              <a:t>· Isn't "revenue at risk" optimistic? It is exposure, not realised savings — the</a:t>
            </a:r>
          </a:p>
          <a:p>
            <a:r>
              <a:t>  deck and the app both say so; validation would need a live campaign.</a:t>
            </a:r>
          </a:p>
          <a:p>
            <a:r>
              <a:t>· How do you know it isn't leakage? Churn Score / Reason / Category / Status were</a:t>
            </a:r>
          </a:p>
          <a:p>
            <a:r>
              <a:t>  dropped before training — they are post-outcome fields.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(9:40–10:00) Leave this slide up for questions. It does two jobs: it puts</a:t>
            </a:r>
          </a:p>
          <a:p>
            <a:r>
              <a:t>the live URL and a scannable QR in front of the examiner, and it ends on the</a:t>
            </a:r>
          </a:p>
          <a:p>
            <a:r>
              <a:t>thesis line rather than a tools list.</a:t>
            </a:r>
          </a:p>
          <a:p>
            <a:r>
              <a:t>Offer the demo: "if you would like, I can upload a customer file and score it</a:t>
            </a:r>
          </a:p>
          <a:p>
            <a:r>
              <a:t>live right now."</a:t>
            </a:r>
          </a:p>
          <a:p>
            <a:r>
              <a:t>If the venue has no internet, this is still fine — the whole product is</a:t>
            </a:r>
          </a:p>
          <a:p>
            <a:r>
              <a:t>demonstrated in the screenshots on slide 12.</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Use if anyone questions the benchmark or asks for the full metric set.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for API / integration questions.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for reproducibility questions. This is a strong answer to "how do we know the numbers are right?"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70432"/>
            <a:ext cx="8778240" cy="256032"/>
          </a:xfrm>
          <a:prstGeom prst="rect">
            <a:avLst/>
          </a:prstGeom>
          <a:noFill/>
        </p:spPr>
        <p:txBody>
          <a:bodyPr wrap="square" lIns="0" rIns="0" tIns="0" bIns="0" anchor="t">
            <a:spAutoFit/>
          </a:bodyPr>
          <a:lstStyle/>
          <a:p>
            <a:pPr algn="l">
              <a:lnSpc>
                <a:spcPct val="112000"/>
              </a:lnSpc>
              <a:spcAft>
                <a:spcPts val="0"/>
              </a:spcAft>
            </a:pPr>
            <a:r>
              <a:rPr sz="1100" b="1">
                <a:solidFill>
                  <a:srgbClr val="2FD8B4"/>
                </a:solidFill>
                <a:latin typeface="Consolas"/>
              </a:rPr>
              <a:t>FINAL YEAR PROJECT  ·  B.SC. DATA SCIENCE</a:t>
            </a:r>
          </a:p>
        </p:txBody>
      </p:sp>
      <p:sp>
        <p:nvSpPr>
          <p:cNvPr id="5" name="TextBox 4"/>
          <p:cNvSpPr txBox="1"/>
          <p:nvPr/>
        </p:nvSpPr>
        <p:spPr>
          <a:xfrm>
            <a:off x="566928" y="1481328"/>
            <a:ext cx="9509760" cy="1481328"/>
          </a:xfrm>
          <a:prstGeom prst="rect">
            <a:avLst/>
          </a:prstGeom>
          <a:noFill/>
        </p:spPr>
        <p:txBody>
          <a:bodyPr wrap="square" lIns="0" rIns="0" tIns="0" bIns="0" anchor="t">
            <a:spAutoFit/>
          </a:bodyPr>
          <a:lstStyle/>
          <a:p>
            <a:pPr algn="l">
              <a:lnSpc>
                <a:spcPct val="112000"/>
              </a:lnSpc>
              <a:spcAft>
                <a:spcPts val="200"/>
              </a:spcAft>
            </a:pPr>
            <a:r>
              <a:rPr sz="5400" b="1">
                <a:solidFill>
                  <a:srgbClr val="EAF0F7"/>
                </a:solidFill>
                <a:latin typeface="Segoe UI"/>
              </a:rPr>
              <a:t>RetainIQ</a:t>
            </a:r>
          </a:p>
          <a:p>
            <a:pPr algn="l">
              <a:lnSpc>
                <a:spcPct val="112000"/>
              </a:lnSpc>
              <a:spcAft>
                <a:spcPts val="0"/>
              </a:spcAft>
            </a:pPr>
            <a:r>
              <a:rPr sz="2800" b="1">
                <a:solidFill>
                  <a:srgbClr val="2FD8B4"/>
                </a:solidFill>
                <a:latin typeface="Segoe UI"/>
              </a:rPr>
              <a:t>Signal Ops Console</a:t>
            </a:r>
          </a:p>
        </p:txBody>
      </p:sp>
      <p:sp>
        <p:nvSpPr>
          <p:cNvPr id="6" name="Rectangle 5"/>
          <p:cNvSpPr/>
          <p:nvPr/>
        </p:nvSpPr>
        <p:spPr>
          <a:xfrm>
            <a:off x="566928" y="3072384"/>
            <a:ext cx="1920240" cy="32004"/>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3346704"/>
            <a:ext cx="7223760" cy="914400"/>
          </a:xfrm>
          <a:prstGeom prst="rect">
            <a:avLst/>
          </a:prstGeom>
          <a:noFill/>
        </p:spPr>
        <p:txBody>
          <a:bodyPr wrap="square" lIns="0" rIns="0" tIns="0" bIns="0" anchor="t">
            <a:spAutoFit/>
          </a:bodyPr>
          <a:lstStyle/>
          <a:p>
            <a:pPr algn="l">
              <a:lnSpc>
                <a:spcPct val="125000"/>
              </a:lnSpc>
              <a:spcAft>
                <a:spcPts val="0"/>
              </a:spcAft>
            </a:pPr>
            <a:r>
              <a:rPr sz="1450" b="0">
                <a:solidFill>
                  <a:srgbClr val="8CA0BE"/>
                </a:solidFill>
                <a:latin typeface="Segoe UI"/>
              </a:rPr>
              <a:t>An explainable machine learning platform for customer churn prediction, risk intelligence and retention strategy.</a:t>
            </a:r>
          </a:p>
        </p:txBody>
      </p:sp>
      <p:sp>
        <p:nvSpPr>
          <p:cNvPr id="8" name="Rectangle 7"/>
          <p:cNvSpPr/>
          <p:nvPr/>
        </p:nvSpPr>
        <p:spPr>
          <a:xfrm>
            <a:off x="10104120" y="2157984"/>
            <a:ext cx="105156" cy="201168"/>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287000" y="2011680"/>
            <a:ext cx="105156" cy="347472"/>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469880" y="1865376"/>
            <a:ext cx="105156" cy="493776"/>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652760" y="1719072"/>
            <a:ext cx="105156" cy="640080"/>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0835640" y="1572768"/>
            <a:ext cx="105156" cy="78638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0" y="2432304"/>
            <a:ext cx="1371600" cy="219456"/>
          </a:xfrm>
          <a:prstGeom prst="rect">
            <a:avLst/>
          </a:prstGeom>
          <a:noFill/>
        </p:spPr>
        <p:txBody>
          <a:bodyPr wrap="square" lIns="0" rIns="0" tIns="0" bIns="0" anchor="t">
            <a:spAutoFit/>
          </a:bodyPr>
          <a:lstStyle/>
          <a:p>
            <a:pPr algn="l">
              <a:lnSpc>
                <a:spcPct val="112000"/>
              </a:lnSpc>
              <a:spcAft>
                <a:spcPts val="0"/>
              </a:spcAft>
            </a:pPr>
            <a:r>
              <a:rPr sz="850" b="0">
                <a:solidFill>
                  <a:srgbClr val="8CA0BE"/>
                </a:solidFill>
                <a:latin typeface="Consolas"/>
              </a:rPr>
              <a:t>signal strength</a:t>
            </a:r>
          </a:p>
        </p:txBody>
      </p:sp>
      <p:sp>
        <p:nvSpPr>
          <p:cNvPr id="14" name="Rounded Rectangle 13"/>
          <p:cNvSpPr/>
          <p:nvPr/>
        </p:nvSpPr>
        <p:spPr>
          <a:xfrm>
            <a:off x="566928" y="4572000"/>
            <a:ext cx="2157984" cy="932688"/>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3232" y="4700016"/>
            <a:ext cx="1901952" cy="731520"/>
          </a:xfrm>
          <a:prstGeom prst="rect">
            <a:avLst/>
          </a:prstGeom>
          <a:noFill/>
        </p:spPr>
        <p:txBody>
          <a:bodyPr wrap="square" lIns="0" rIns="0" tIns="0" bIns="0" anchor="t">
            <a:spAutoFit/>
          </a:bodyPr>
          <a:lstStyle/>
          <a:p>
            <a:pPr algn="l">
              <a:lnSpc>
                <a:spcPct val="112000"/>
              </a:lnSpc>
              <a:spcAft>
                <a:spcPts val="200"/>
              </a:spcAft>
            </a:pPr>
            <a:r>
              <a:rPr sz="2500" b="1">
                <a:solidFill>
                  <a:srgbClr val="2FD8B4"/>
                </a:solidFill>
                <a:latin typeface="Segoe UI"/>
              </a:rPr>
              <a:t>80.34%</a:t>
            </a:r>
          </a:p>
          <a:p>
            <a:pPr algn="l">
              <a:lnSpc>
                <a:spcPct val="112000"/>
              </a:lnSpc>
              <a:spcAft>
                <a:spcPts val="0"/>
              </a:spcAft>
            </a:pPr>
            <a:r>
              <a:rPr sz="950" b="0">
                <a:solidFill>
                  <a:srgbClr val="8CA0BE"/>
                </a:solidFill>
                <a:latin typeface="Segoe UI"/>
              </a:rPr>
              <a:t>TEST ACCURACY</a:t>
            </a:r>
          </a:p>
        </p:txBody>
      </p:sp>
      <p:sp>
        <p:nvSpPr>
          <p:cNvPr id="16" name="Rounded Rectangle 15"/>
          <p:cNvSpPr/>
          <p:nvPr/>
        </p:nvSpPr>
        <p:spPr>
          <a:xfrm>
            <a:off x="2852928" y="4572000"/>
            <a:ext cx="2157984" cy="932688"/>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99232" y="4700016"/>
            <a:ext cx="1901952" cy="731520"/>
          </a:xfrm>
          <a:prstGeom prst="rect">
            <a:avLst/>
          </a:prstGeom>
          <a:noFill/>
        </p:spPr>
        <p:txBody>
          <a:bodyPr wrap="square" lIns="0" rIns="0" tIns="0" bIns="0" anchor="t">
            <a:spAutoFit/>
          </a:bodyPr>
          <a:lstStyle/>
          <a:p>
            <a:pPr algn="l">
              <a:lnSpc>
                <a:spcPct val="112000"/>
              </a:lnSpc>
              <a:spcAft>
                <a:spcPts val="200"/>
              </a:spcAft>
            </a:pPr>
            <a:r>
              <a:rPr sz="2500" b="1">
                <a:solidFill>
                  <a:srgbClr val="2FD8B4"/>
                </a:solidFill>
                <a:latin typeface="Segoe UI"/>
              </a:rPr>
              <a:t>84.91%</a:t>
            </a:r>
          </a:p>
          <a:p>
            <a:pPr algn="l">
              <a:lnSpc>
                <a:spcPct val="112000"/>
              </a:lnSpc>
              <a:spcAft>
                <a:spcPts val="0"/>
              </a:spcAft>
            </a:pPr>
            <a:r>
              <a:rPr sz="950" b="0">
                <a:solidFill>
                  <a:srgbClr val="8CA0BE"/>
                </a:solidFill>
                <a:latin typeface="Segoe UI"/>
              </a:rPr>
              <a:t>ROC-AUC</a:t>
            </a:r>
          </a:p>
        </p:txBody>
      </p:sp>
      <p:sp>
        <p:nvSpPr>
          <p:cNvPr id="18" name="Rounded Rectangle 17"/>
          <p:cNvSpPr/>
          <p:nvPr/>
        </p:nvSpPr>
        <p:spPr>
          <a:xfrm>
            <a:off x="5138928" y="4572000"/>
            <a:ext cx="2157984" cy="932688"/>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285232" y="4700016"/>
            <a:ext cx="1901952" cy="731520"/>
          </a:xfrm>
          <a:prstGeom prst="rect">
            <a:avLst/>
          </a:prstGeom>
          <a:noFill/>
        </p:spPr>
        <p:txBody>
          <a:bodyPr wrap="square" lIns="0" rIns="0" tIns="0" bIns="0" anchor="t">
            <a:spAutoFit/>
          </a:bodyPr>
          <a:lstStyle/>
          <a:p>
            <a:pPr algn="l">
              <a:lnSpc>
                <a:spcPct val="112000"/>
              </a:lnSpc>
              <a:spcAft>
                <a:spcPts val="200"/>
              </a:spcAft>
            </a:pPr>
            <a:r>
              <a:rPr sz="2500" b="1">
                <a:solidFill>
                  <a:srgbClr val="4C8DFF"/>
                </a:solidFill>
                <a:latin typeface="Segoe UI"/>
              </a:rPr>
              <a:t>7,043</a:t>
            </a:r>
          </a:p>
          <a:p>
            <a:pPr algn="l">
              <a:lnSpc>
                <a:spcPct val="112000"/>
              </a:lnSpc>
              <a:spcAft>
                <a:spcPts val="0"/>
              </a:spcAft>
            </a:pPr>
            <a:r>
              <a:rPr sz="950" b="0">
                <a:solidFill>
                  <a:srgbClr val="8CA0BE"/>
                </a:solidFill>
                <a:latin typeface="Segoe UI"/>
              </a:rPr>
              <a:t>CUSTOMERS SCORED</a:t>
            </a:r>
          </a:p>
        </p:txBody>
      </p:sp>
      <p:sp>
        <p:nvSpPr>
          <p:cNvPr id="20" name="Rounded Rectangle 19"/>
          <p:cNvSpPr/>
          <p:nvPr/>
        </p:nvSpPr>
        <p:spPr>
          <a:xfrm>
            <a:off x="7424927" y="4572000"/>
            <a:ext cx="4197096" cy="932688"/>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71231" y="4700016"/>
            <a:ext cx="3941063" cy="731520"/>
          </a:xfrm>
          <a:prstGeom prst="rect">
            <a:avLst/>
          </a:prstGeom>
          <a:noFill/>
        </p:spPr>
        <p:txBody>
          <a:bodyPr wrap="square" lIns="0" rIns="0" tIns="0" bIns="0" anchor="t">
            <a:spAutoFit/>
          </a:bodyPr>
          <a:lstStyle/>
          <a:p>
            <a:pPr algn="l">
              <a:lnSpc>
                <a:spcPct val="112000"/>
              </a:lnSpc>
              <a:spcAft>
                <a:spcPts val="200"/>
              </a:spcAft>
            </a:pPr>
            <a:r>
              <a:rPr sz="2500" b="1">
                <a:solidFill>
                  <a:srgbClr val="FF5C6C"/>
                </a:solidFill>
                <a:latin typeface="Segoe UI"/>
              </a:rPr>
              <a:t>$92,539</a:t>
            </a:r>
          </a:p>
          <a:p>
            <a:pPr algn="l">
              <a:lnSpc>
                <a:spcPct val="112000"/>
              </a:lnSpc>
              <a:spcAft>
                <a:spcPts val="0"/>
              </a:spcAft>
            </a:pPr>
            <a:r>
              <a:rPr sz="900" b="0">
                <a:solidFill>
                  <a:srgbClr val="8CA0BE"/>
                </a:solidFill>
                <a:latin typeface="Segoe UI"/>
              </a:rPr>
              <a:t>MONTHLY REVENUE EXPOSURE IN HIGH-RISK BAND</a:t>
            </a:r>
          </a:p>
        </p:txBody>
      </p:sp>
      <p:sp>
        <p:nvSpPr>
          <p:cNvPr id="22" name="TextBox 21"/>
          <p:cNvSpPr txBox="1"/>
          <p:nvPr/>
        </p:nvSpPr>
        <p:spPr>
          <a:xfrm>
            <a:off x="566928" y="5779008"/>
            <a:ext cx="11064240" cy="640080"/>
          </a:xfrm>
          <a:prstGeom prst="rect">
            <a:avLst/>
          </a:prstGeom>
          <a:noFill/>
        </p:spPr>
        <p:txBody>
          <a:bodyPr wrap="square" lIns="0" rIns="0" tIns="0" bIns="0" anchor="t">
            <a:spAutoFit/>
          </a:bodyPr>
          <a:lstStyle/>
          <a:p>
            <a:pPr algn="l">
              <a:lnSpc>
                <a:spcPct val="112000"/>
              </a:lnSpc>
              <a:spcAft>
                <a:spcPts val="300"/>
              </a:spcAft>
            </a:pPr>
            <a:r>
              <a:rPr sz="1250" b="1">
                <a:solidFill>
                  <a:srgbClr val="EAF0F7"/>
                </a:solidFill>
                <a:latin typeface="Segoe UI"/>
              </a:rPr>
              <a:t>Logesh S.   ·   B.Sc. Data Science</a:t>
            </a:r>
          </a:p>
          <a:p>
            <a:pPr algn="l">
              <a:lnSpc>
                <a:spcPct val="112000"/>
              </a:lnSpc>
              <a:spcAft>
                <a:spcPts val="0"/>
              </a:spcAft>
            </a:pPr>
            <a:r>
              <a:rPr sz="1050" b="0">
                <a:solidFill>
                  <a:srgbClr val="8CA0BE"/>
                </a:solidFill>
                <a:latin typeface="Consolas"/>
              </a:rPr>
              <a:t>Live application: retainiq-predictive-customer-retention-zq6x.onrender.com     ·     Source: github.com/Logesh0247/RetainIQ_Signal_Ops_Console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7315200" cy="237744"/>
          </a:xfrm>
          <a:prstGeom prst="rect">
            <a:avLst/>
          </a:prstGeom>
          <a:noFill/>
        </p:spPr>
        <p:txBody>
          <a:bodyPr wrap="square" lIns="0" rIns="0" tIns="0" bIns="0" anchor="t">
            <a:spAutoFit/>
          </a:bodyPr>
          <a:lstStyle/>
          <a:p>
            <a:pPr algn="l">
              <a:lnSpc>
                <a:spcPct val="112000"/>
              </a:lnSpc>
              <a:spcAft>
                <a:spcPts val="0"/>
              </a:spcAft>
            </a:pPr>
            <a:r>
              <a:rPr sz="1000" b="1">
                <a:solidFill>
                  <a:srgbClr val="2FD8B4"/>
                </a:solidFill>
                <a:latin typeface="Consolas"/>
              </a:rPr>
              <a:t>OVERVIEW</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What this project does</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The one-line thesis, then the four parts of the talk</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517904"/>
            <a:ext cx="11057839" cy="1060704"/>
          </a:xfrm>
          <a:prstGeom prst="roundRect">
            <a:avLst>
              <a:gd name="adj" fmla="val 8000"/>
            </a:avLst>
          </a:prstGeom>
          <a:solidFill>
            <a:srgbClr val="162136"/>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700784"/>
            <a:ext cx="10545775" cy="731520"/>
          </a:xfrm>
          <a:prstGeom prst="rect">
            <a:avLst/>
          </a:prstGeom>
          <a:noFill/>
        </p:spPr>
        <p:txBody>
          <a:bodyPr wrap="square" lIns="0" rIns="0" tIns="0" bIns="0" anchor="t">
            <a:spAutoFit/>
          </a:bodyPr>
          <a:lstStyle/>
          <a:p>
            <a:pPr algn="l">
              <a:lnSpc>
                <a:spcPct val="122000"/>
              </a:lnSpc>
              <a:spcAft>
                <a:spcPts val="0"/>
              </a:spcAft>
            </a:pPr>
            <a:r>
              <a:rPr sz="1400" b="0">
                <a:solidFill>
                  <a:srgbClr val="EAF0F7"/>
                </a:solidFill>
                <a:latin typeface="Segoe UI"/>
              </a:rPr>
              <a:t>RetainIQ turns churn from a yes/no prediction into an operational workflow: score the portfolio  →  explain the risk  →  recommend the action  →  quantify the revenue at stake.</a:t>
            </a:r>
          </a:p>
        </p:txBody>
      </p:sp>
      <p:sp>
        <p:nvSpPr>
          <p:cNvPr id="9" name="Rounded Rectangle 8"/>
          <p:cNvSpPr/>
          <p:nvPr/>
        </p:nvSpPr>
        <p:spPr>
          <a:xfrm>
            <a:off x="566928" y="2798063"/>
            <a:ext cx="5419191" cy="1207008"/>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944368"/>
            <a:ext cx="640080" cy="457200"/>
          </a:xfrm>
          <a:prstGeom prst="rect">
            <a:avLst/>
          </a:prstGeom>
          <a:noFill/>
        </p:spPr>
        <p:txBody>
          <a:bodyPr wrap="square" lIns="0" rIns="0" tIns="0" bIns="0" anchor="t">
            <a:spAutoFit/>
          </a:bodyPr>
          <a:lstStyle/>
          <a:p>
            <a:pPr algn="l">
              <a:lnSpc>
                <a:spcPct val="112000"/>
              </a:lnSpc>
              <a:spcAft>
                <a:spcPts val="0"/>
              </a:spcAft>
            </a:pPr>
            <a:r>
              <a:rPr sz="2400" b="1">
                <a:solidFill>
                  <a:srgbClr val="4C8DFF"/>
                </a:solidFill>
                <a:latin typeface="Consolas"/>
              </a:rPr>
              <a:t>01</a:t>
            </a:r>
          </a:p>
        </p:txBody>
      </p:sp>
      <p:sp>
        <p:nvSpPr>
          <p:cNvPr id="11" name="TextBox 10"/>
          <p:cNvSpPr txBox="1"/>
          <p:nvPr/>
        </p:nvSpPr>
        <p:spPr>
          <a:xfrm>
            <a:off x="1499616" y="2980944"/>
            <a:ext cx="4267047" cy="822960"/>
          </a:xfrm>
          <a:prstGeom prst="rect">
            <a:avLst/>
          </a:prstGeom>
          <a:noFill/>
        </p:spPr>
        <p:txBody>
          <a:bodyPr wrap="square" lIns="0" rIns="0" tIns="0" bIns="0" anchor="t">
            <a:spAutoFit/>
          </a:bodyPr>
          <a:lstStyle/>
          <a:p>
            <a:pPr algn="l">
              <a:lnSpc>
                <a:spcPct val="112000"/>
              </a:lnSpc>
              <a:spcAft>
                <a:spcPts val="300"/>
              </a:spcAft>
            </a:pPr>
            <a:r>
              <a:rPr sz="1450" b="1">
                <a:solidFill>
                  <a:srgbClr val="EAF0F7"/>
                </a:solidFill>
                <a:latin typeface="Segoe UI"/>
              </a:rPr>
              <a:t>Problem &amp; data</a:t>
            </a:r>
          </a:p>
          <a:p>
            <a:pPr algn="l">
              <a:lnSpc>
                <a:spcPct val="118000"/>
              </a:lnSpc>
              <a:spcAft>
                <a:spcPts val="0"/>
              </a:spcAft>
            </a:pPr>
            <a:r>
              <a:rPr sz="1080" b="0">
                <a:solidFill>
                  <a:srgbClr val="8CA0BE"/>
                </a:solidFill>
                <a:latin typeface="Segoe UI"/>
              </a:rPr>
              <a:t>Why retention is reactive today, and the 7,043-customer Telco dataset behind the model</a:t>
            </a:r>
          </a:p>
        </p:txBody>
      </p:sp>
      <p:sp>
        <p:nvSpPr>
          <p:cNvPr id="12" name="Rounded Rectangle 11"/>
          <p:cNvSpPr/>
          <p:nvPr/>
        </p:nvSpPr>
        <p:spPr>
          <a:xfrm>
            <a:off x="566928" y="4187952"/>
            <a:ext cx="5419191" cy="1207008"/>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4334256"/>
            <a:ext cx="640080" cy="457200"/>
          </a:xfrm>
          <a:prstGeom prst="rect">
            <a:avLst/>
          </a:prstGeom>
          <a:noFill/>
        </p:spPr>
        <p:txBody>
          <a:bodyPr wrap="square" lIns="0" rIns="0" tIns="0" bIns="0" anchor="t">
            <a:spAutoFit/>
          </a:bodyPr>
          <a:lstStyle/>
          <a:p>
            <a:pPr algn="l">
              <a:lnSpc>
                <a:spcPct val="112000"/>
              </a:lnSpc>
              <a:spcAft>
                <a:spcPts val="0"/>
              </a:spcAft>
            </a:pPr>
            <a:r>
              <a:rPr sz="2400" b="1">
                <a:solidFill>
                  <a:srgbClr val="F5A623"/>
                </a:solidFill>
                <a:latin typeface="Consolas"/>
              </a:rPr>
              <a:t>02</a:t>
            </a:r>
          </a:p>
        </p:txBody>
      </p:sp>
      <p:sp>
        <p:nvSpPr>
          <p:cNvPr id="14" name="TextBox 13"/>
          <p:cNvSpPr txBox="1"/>
          <p:nvPr/>
        </p:nvSpPr>
        <p:spPr>
          <a:xfrm>
            <a:off x="1499616" y="4370832"/>
            <a:ext cx="4267047" cy="822960"/>
          </a:xfrm>
          <a:prstGeom prst="rect">
            <a:avLst/>
          </a:prstGeom>
          <a:noFill/>
        </p:spPr>
        <p:txBody>
          <a:bodyPr wrap="square" lIns="0" rIns="0" tIns="0" bIns="0" anchor="t">
            <a:spAutoFit/>
          </a:bodyPr>
          <a:lstStyle/>
          <a:p>
            <a:pPr algn="l">
              <a:lnSpc>
                <a:spcPct val="112000"/>
              </a:lnSpc>
              <a:spcAft>
                <a:spcPts val="300"/>
              </a:spcAft>
            </a:pPr>
            <a:r>
              <a:rPr sz="1450" b="1">
                <a:solidFill>
                  <a:srgbClr val="EAF0F7"/>
                </a:solidFill>
                <a:latin typeface="Segoe UI"/>
              </a:rPr>
              <a:t>Method &amp; model</a:t>
            </a:r>
          </a:p>
          <a:p>
            <a:pPr algn="l">
              <a:lnSpc>
                <a:spcPct val="118000"/>
              </a:lnSpc>
              <a:spcAft>
                <a:spcPts val="0"/>
              </a:spcAft>
            </a:pPr>
            <a:r>
              <a:rPr sz="1080" b="0">
                <a:solidFill>
                  <a:srgbClr val="8CA0BE"/>
                </a:solidFill>
                <a:latin typeface="Segoe UI"/>
              </a:rPr>
              <a:t>Preprocessing, leakage control, feature engineering, four algorithms, one selected</a:t>
            </a:r>
          </a:p>
        </p:txBody>
      </p:sp>
      <p:sp>
        <p:nvSpPr>
          <p:cNvPr id="15" name="Rounded Rectangle 14"/>
          <p:cNvSpPr/>
          <p:nvPr/>
        </p:nvSpPr>
        <p:spPr>
          <a:xfrm>
            <a:off x="6205575" y="2798063"/>
            <a:ext cx="5419191" cy="1207008"/>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25031" y="2944368"/>
            <a:ext cx="640080" cy="457200"/>
          </a:xfrm>
          <a:prstGeom prst="rect">
            <a:avLst/>
          </a:prstGeom>
          <a:noFill/>
        </p:spPr>
        <p:txBody>
          <a:bodyPr wrap="square" lIns="0" rIns="0" tIns="0" bIns="0" anchor="t">
            <a:spAutoFit/>
          </a:bodyPr>
          <a:lstStyle/>
          <a:p>
            <a:pPr algn="l">
              <a:lnSpc>
                <a:spcPct val="112000"/>
              </a:lnSpc>
              <a:spcAft>
                <a:spcPts val="0"/>
              </a:spcAft>
            </a:pPr>
            <a:r>
              <a:rPr sz="2400" b="1">
                <a:solidFill>
                  <a:srgbClr val="2FD8B4"/>
                </a:solidFill>
                <a:latin typeface="Consolas"/>
              </a:rPr>
              <a:t>03</a:t>
            </a:r>
          </a:p>
        </p:txBody>
      </p:sp>
      <p:sp>
        <p:nvSpPr>
          <p:cNvPr id="17" name="TextBox 16"/>
          <p:cNvSpPr txBox="1"/>
          <p:nvPr/>
        </p:nvSpPr>
        <p:spPr>
          <a:xfrm>
            <a:off x="7138263" y="2980944"/>
            <a:ext cx="4267047" cy="822960"/>
          </a:xfrm>
          <a:prstGeom prst="rect">
            <a:avLst/>
          </a:prstGeom>
          <a:noFill/>
        </p:spPr>
        <p:txBody>
          <a:bodyPr wrap="square" lIns="0" rIns="0" tIns="0" bIns="0" anchor="t">
            <a:spAutoFit/>
          </a:bodyPr>
          <a:lstStyle/>
          <a:p>
            <a:pPr algn="l">
              <a:lnSpc>
                <a:spcPct val="112000"/>
              </a:lnSpc>
              <a:spcAft>
                <a:spcPts val="300"/>
              </a:spcAft>
            </a:pPr>
            <a:r>
              <a:rPr sz="1450" b="1">
                <a:solidFill>
                  <a:srgbClr val="EAF0F7"/>
                </a:solidFill>
                <a:latin typeface="Segoe UI"/>
              </a:rPr>
              <a:t>Risk, reason &amp; action</a:t>
            </a:r>
          </a:p>
          <a:p>
            <a:pPr algn="l">
              <a:lnSpc>
                <a:spcPct val="118000"/>
              </a:lnSpc>
              <a:spcAft>
                <a:spcPts val="0"/>
              </a:spcAft>
            </a:pPr>
            <a:r>
              <a:rPr sz="1080" b="0">
                <a:solidFill>
                  <a:srgbClr val="8CA0BE"/>
                </a:solidFill>
                <a:latin typeface="Segoe UI"/>
              </a:rPr>
              <a:t>Probability → risk bands → per-customer explanation → retention recommendation</a:t>
            </a:r>
          </a:p>
        </p:txBody>
      </p:sp>
      <p:sp>
        <p:nvSpPr>
          <p:cNvPr id="18" name="Rounded Rectangle 17"/>
          <p:cNvSpPr/>
          <p:nvPr/>
        </p:nvSpPr>
        <p:spPr>
          <a:xfrm>
            <a:off x="6205575" y="4187952"/>
            <a:ext cx="5419191" cy="1207008"/>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25031" y="4334256"/>
            <a:ext cx="640080" cy="457200"/>
          </a:xfrm>
          <a:prstGeom prst="rect">
            <a:avLst/>
          </a:prstGeom>
          <a:noFill/>
        </p:spPr>
        <p:txBody>
          <a:bodyPr wrap="square" lIns="0" rIns="0" tIns="0" bIns="0" anchor="t">
            <a:spAutoFit/>
          </a:bodyPr>
          <a:lstStyle/>
          <a:p>
            <a:pPr algn="l">
              <a:lnSpc>
                <a:spcPct val="112000"/>
              </a:lnSpc>
              <a:spcAft>
                <a:spcPts val="0"/>
              </a:spcAft>
            </a:pPr>
            <a:r>
              <a:rPr sz="2400" b="1">
                <a:solidFill>
                  <a:srgbClr val="FF5C6C"/>
                </a:solidFill>
                <a:latin typeface="Consolas"/>
              </a:rPr>
              <a:t>04</a:t>
            </a:r>
          </a:p>
        </p:txBody>
      </p:sp>
      <p:sp>
        <p:nvSpPr>
          <p:cNvPr id="20" name="TextBox 19"/>
          <p:cNvSpPr txBox="1"/>
          <p:nvPr/>
        </p:nvSpPr>
        <p:spPr>
          <a:xfrm>
            <a:off x="7138263" y="4370832"/>
            <a:ext cx="4267047" cy="822960"/>
          </a:xfrm>
          <a:prstGeom prst="rect">
            <a:avLst/>
          </a:prstGeom>
          <a:noFill/>
        </p:spPr>
        <p:txBody>
          <a:bodyPr wrap="square" lIns="0" rIns="0" tIns="0" bIns="0" anchor="t">
            <a:spAutoFit/>
          </a:bodyPr>
          <a:lstStyle/>
          <a:p>
            <a:pPr algn="l">
              <a:lnSpc>
                <a:spcPct val="112000"/>
              </a:lnSpc>
              <a:spcAft>
                <a:spcPts val="300"/>
              </a:spcAft>
            </a:pPr>
            <a:r>
              <a:rPr sz="1450" b="1">
                <a:solidFill>
                  <a:srgbClr val="EAF0F7"/>
                </a:solidFill>
                <a:latin typeface="Segoe UI"/>
              </a:rPr>
              <a:t>Product &amp; results</a:t>
            </a:r>
          </a:p>
          <a:p>
            <a:pPr algn="l">
              <a:lnSpc>
                <a:spcPct val="118000"/>
              </a:lnSpc>
              <a:spcAft>
                <a:spcPts val="0"/>
              </a:spcAft>
            </a:pPr>
            <a:r>
              <a:rPr sz="1080" b="0">
                <a:solidFill>
                  <a:srgbClr val="8CA0BE"/>
                </a:solidFill>
                <a:latin typeface="Segoe UI"/>
              </a:rPr>
              <a:t>The live console, dashboard, reports, Power BI layer — and the honest limitations</a:t>
            </a:r>
          </a:p>
        </p:txBody>
      </p:sp>
      <p:sp>
        <p:nvSpPr>
          <p:cNvPr id="21" name="Rectangle 20"/>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6510528"/>
            <a:ext cx="731520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RetainIQ · Signal Ops Console</a:t>
            </a:r>
          </a:p>
        </p:txBody>
      </p:sp>
      <p:sp>
        <p:nvSpPr>
          <p:cNvPr id="23" name="TextBox 22"/>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7315200" cy="237744"/>
          </a:xfrm>
          <a:prstGeom prst="rect">
            <a:avLst/>
          </a:prstGeom>
          <a:noFill/>
        </p:spPr>
        <p:txBody>
          <a:bodyPr wrap="square" lIns="0" rIns="0" tIns="0" bIns="0" anchor="t">
            <a:spAutoFit/>
          </a:bodyPr>
          <a:lstStyle/>
          <a:p>
            <a:pPr algn="l">
              <a:lnSpc>
                <a:spcPct val="112000"/>
              </a:lnSpc>
              <a:spcAft>
                <a:spcPts val="0"/>
              </a:spcAft>
            </a:pPr>
            <a:r>
              <a:rPr sz="1000" b="1">
                <a:solidFill>
                  <a:srgbClr val="2FD8B4"/>
                </a:solidFill>
                <a:latin typeface="Consolas"/>
              </a:rPr>
              <a:t>01  ·  BUSINESS PROBLEM</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The problem: retention is still reactive</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Reports explain what happened. They do not say who leaves next.</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572768"/>
            <a:ext cx="5989320" cy="1920240"/>
          </a:xfrm>
          <a:prstGeom prst="rect">
            <a:avLst/>
          </a:prstGeom>
          <a:noFill/>
        </p:spPr>
        <p:txBody>
          <a:bodyPr wrap="square" lIns="0" rIns="0" tIns="0" bIns="0" anchor="t">
            <a:spAutoFit/>
          </a:bodyPr>
          <a:lstStyle/>
          <a:p>
            <a:pPr algn="l">
              <a:lnSpc>
                <a:spcPct val="112000"/>
              </a:lnSpc>
              <a:spcAft>
                <a:spcPts val="100"/>
              </a:spcAft>
            </a:pPr>
            <a:r>
              <a:rPr sz="1150" b="1">
                <a:solidFill>
                  <a:srgbClr val="2FD8B4"/>
                </a:solidFill>
                <a:latin typeface="Segoe UI"/>
              </a:rPr>
              <a:t>▸  Churn is expensive and it compounds.</a:t>
            </a:r>
          </a:p>
          <a:p>
            <a:pPr algn="l">
              <a:lnSpc>
                <a:spcPct val="118000"/>
              </a:lnSpc>
              <a:spcAft>
                <a:spcPts val="0"/>
              </a:spcAft>
            </a:pPr>
            <a:r>
              <a:rPr sz="1100" b="0">
                <a:solidFill>
                  <a:srgbClr val="EAF0F7"/>
                </a:solidFill>
                <a:latin typeface="Segoe UI"/>
              </a:rPr>
              <a:t>     26.54% of this customer base churned — 1,869 of 7,043 customers.</a:t>
            </a:r>
          </a:p>
          <a:p>
            <a:pPr algn="l">
              <a:lnSpc>
                <a:spcPct val="112000"/>
              </a:lnSpc>
              <a:spcBef>
                <a:spcPts val="800"/>
              </a:spcBef>
              <a:spcAft>
                <a:spcPts val="100"/>
              </a:spcAft>
            </a:pPr>
            <a:r>
              <a:rPr sz="1150" b="1">
                <a:solidFill>
                  <a:srgbClr val="2FD8B4"/>
                </a:solidFill>
                <a:latin typeface="Segoe UI"/>
              </a:rPr>
              <a:t>▸  Dashboards describe, they do not prioritise.</a:t>
            </a:r>
          </a:p>
          <a:p>
            <a:pPr algn="l">
              <a:lnSpc>
                <a:spcPct val="118000"/>
              </a:lnSpc>
              <a:spcAft>
                <a:spcPts val="0"/>
              </a:spcAft>
            </a:pPr>
            <a:r>
              <a:rPr sz="1100" b="0">
                <a:solidFill>
                  <a:srgbClr val="EAF0F7"/>
                </a:solidFill>
                <a:latin typeface="Segoe UI"/>
              </a:rPr>
              <a:t>     Knowing last quarter's churn rate does not tell a retention team whom to call today.</a:t>
            </a:r>
          </a:p>
          <a:p>
            <a:pPr algn="l">
              <a:lnSpc>
                <a:spcPct val="112000"/>
              </a:lnSpc>
              <a:spcBef>
                <a:spcPts val="800"/>
              </a:spcBef>
              <a:spcAft>
                <a:spcPts val="100"/>
              </a:spcAft>
            </a:pPr>
            <a:r>
              <a:rPr sz="1150" b="1">
                <a:solidFill>
                  <a:srgbClr val="2FD8B4"/>
                </a:solidFill>
                <a:latin typeface="Segoe UI"/>
              </a:rPr>
              <a:t>▸  Generic campaigns waste budget.</a:t>
            </a:r>
          </a:p>
          <a:p>
            <a:pPr algn="l">
              <a:lnSpc>
                <a:spcPct val="118000"/>
              </a:lnSpc>
              <a:spcAft>
                <a:spcPts val="0"/>
              </a:spcAft>
            </a:pPr>
            <a:r>
              <a:rPr sz="1100" b="0">
                <a:solidFill>
                  <a:srgbClr val="EAF0F7"/>
                </a:solidFill>
                <a:latin typeface="Segoe UI"/>
              </a:rPr>
              <a:t>     Blanket offers discount loyal customers and still miss the ones about to leave.</a:t>
            </a:r>
          </a:p>
        </p:txBody>
      </p:sp>
      <p:sp>
        <p:nvSpPr>
          <p:cNvPr id="8" name="Rounded Rectangle 7"/>
          <p:cNvSpPr/>
          <p:nvPr/>
        </p:nvSpPr>
        <p:spPr>
          <a:xfrm>
            <a:off x="566928" y="3730752"/>
            <a:ext cx="2889504" cy="1042415"/>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3858768"/>
            <a:ext cx="32004" cy="786384"/>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3877056"/>
            <a:ext cx="2615184" cy="822960"/>
          </a:xfrm>
          <a:prstGeom prst="rect">
            <a:avLst/>
          </a:prstGeom>
          <a:noFill/>
        </p:spPr>
        <p:txBody>
          <a:bodyPr wrap="square" lIns="0" rIns="0" tIns="0" bIns="0" anchor="t">
            <a:spAutoFit/>
          </a:bodyPr>
          <a:lstStyle/>
          <a:p>
            <a:pPr algn="l">
              <a:lnSpc>
                <a:spcPct val="112000"/>
              </a:lnSpc>
              <a:spcAft>
                <a:spcPts val="300"/>
              </a:spcAft>
            </a:pPr>
            <a:r>
              <a:rPr sz="1200" b="1">
                <a:solidFill>
                  <a:srgbClr val="EAF0F7"/>
                </a:solidFill>
                <a:latin typeface="Segoe UI"/>
              </a:rPr>
              <a:t>Who is likely to churn?</a:t>
            </a:r>
          </a:p>
          <a:p>
            <a:pPr algn="l">
              <a:lnSpc>
                <a:spcPct val="114000"/>
              </a:lnSpc>
              <a:spcAft>
                <a:spcPts val="0"/>
              </a:spcAft>
            </a:pPr>
            <a:r>
              <a:rPr sz="980" b="0">
                <a:solidFill>
                  <a:srgbClr val="8CA0BE"/>
                </a:solidFill>
                <a:latin typeface="Segoe UI"/>
              </a:rPr>
              <a:t>Predicted churn probability per customer</a:t>
            </a:r>
          </a:p>
        </p:txBody>
      </p:sp>
      <p:sp>
        <p:nvSpPr>
          <p:cNvPr id="11" name="Rounded Rectangle 10"/>
          <p:cNvSpPr/>
          <p:nvPr/>
        </p:nvSpPr>
        <p:spPr>
          <a:xfrm>
            <a:off x="3621024" y="3730752"/>
            <a:ext cx="2889504" cy="1042415"/>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21024" y="3858768"/>
            <a:ext cx="32004" cy="78638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03904" y="3877056"/>
            <a:ext cx="2615184" cy="822960"/>
          </a:xfrm>
          <a:prstGeom prst="rect">
            <a:avLst/>
          </a:prstGeom>
          <a:noFill/>
        </p:spPr>
        <p:txBody>
          <a:bodyPr wrap="square" lIns="0" rIns="0" tIns="0" bIns="0" anchor="t">
            <a:spAutoFit/>
          </a:bodyPr>
          <a:lstStyle/>
          <a:p>
            <a:pPr algn="l">
              <a:lnSpc>
                <a:spcPct val="112000"/>
              </a:lnSpc>
              <a:spcAft>
                <a:spcPts val="300"/>
              </a:spcAft>
            </a:pPr>
            <a:r>
              <a:rPr sz="1200" b="1">
                <a:solidFill>
                  <a:srgbClr val="EAF0F7"/>
                </a:solidFill>
                <a:latin typeface="Segoe UI"/>
              </a:rPr>
              <a:t>Why are they at risk?</a:t>
            </a:r>
          </a:p>
          <a:p>
            <a:pPr algn="l">
              <a:lnSpc>
                <a:spcPct val="114000"/>
              </a:lnSpc>
              <a:spcAft>
                <a:spcPts val="0"/>
              </a:spcAft>
            </a:pPr>
            <a:r>
              <a:rPr sz="980" b="0">
                <a:solidFill>
                  <a:srgbClr val="8CA0BE"/>
                </a:solidFill>
                <a:latin typeface="Segoe UI"/>
              </a:rPr>
              <a:t>Feature contributions behind each prediction</a:t>
            </a:r>
          </a:p>
        </p:txBody>
      </p:sp>
      <p:sp>
        <p:nvSpPr>
          <p:cNvPr id="14" name="Rounded Rectangle 13"/>
          <p:cNvSpPr/>
          <p:nvPr/>
        </p:nvSpPr>
        <p:spPr>
          <a:xfrm>
            <a:off x="566928" y="4919472"/>
            <a:ext cx="2889504" cy="1042415"/>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5047488"/>
            <a:ext cx="32004" cy="786384"/>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5065776"/>
            <a:ext cx="2615184" cy="822960"/>
          </a:xfrm>
          <a:prstGeom prst="rect">
            <a:avLst/>
          </a:prstGeom>
          <a:noFill/>
        </p:spPr>
        <p:txBody>
          <a:bodyPr wrap="square" lIns="0" rIns="0" tIns="0" bIns="0" anchor="t">
            <a:spAutoFit/>
          </a:bodyPr>
          <a:lstStyle/>
          <a:p>
            <a:pPr algn="l">
              <a:lnSpc>
                <a:spcPct val="112000"/>
              </a:lnSpc>
              <a:spcAft>
                <a:spcPts val="300"/>
              </a:spcAft>
            </a:pPr>
            <a:r>
              <a:rPr sz="1200" b="1">
                <a:solidFill>
                  <a:srgbClr val="EAF0F7"/>
                </a:solidFill>
                <a:latin typeface="Segoe UI"/>
              </a:rPr>
              <a:t>What should we do?</a:t>
            </a:r>
          </a:p>
          <a:p>
            <a:pPr algn="l">
              <a:lnSpc>
                <a:spcPct val="114000"/>
              </a:lnSpc>
              <a:spcAft>
                <a:spcPts val="0"/>
              </a:spcAft>
            </a:pPr>
            <a:r>
              <a:rPr sz="980" b="0">
                <a:solidFill>
                  <a:srgbClr val="8CA0BE"/>
                </a:solidFill>
                <a:latin typeface="Segoe UI"/>
              </a:rPr>
              <a:t>A retention action matched to the risk drivers</a:t>
            </a:r>
          </a:p>
        </p:txBody>
      </p:sp>
      <p:sp>
        <p:nvSpPr>
          <p:cNvPr id="17" name="Rounded Rectangle 16"/>
          <p:cNvSpPr/>
          <p:nvPr/>
        </p:nvSpPr>
        <p:spPr>
          <a:xfrm>
            <a:off x="3621024" y="4919472"/>
            <a:ext cx="2889504" cy="1042415"/>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21024" y="5047488"/>
            <a:ext cx="32004" cy="786384"/>
          </a:xfrm>
          <a:prstGeom prst="rect">
            <a:avLst/>
          </a:prstGeom>
          <a:solidFill>
            <a:srgbClr val="FF5C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03904" y="5065776"/>
            <a:ext cx="2615184" cy="822960"/>
          </a:xfrm>
          <a:prstGeom prst="rect">
            <a:avLst/>
          </a:prstGeom>
          <a:noFill/>
        </p:spPr>
        <p:txBody>
          <a:bodyPr wrap="square" lIns="0" rIns="0" tIns="0" bIns="0" anchor="t">
            <a:spAutoFit/>
          </a:bodyPr>
          <a:lstStyle/>
          <a:p>
            <a:pPr algn="l">
              <a:lnSpc>
                <a:spcPct val="112000"/>
              </a:lnSpc>
              <a:spcAft>
                <a:spcPts val="300"/>
              </a:spcAft>
            </a:pPr>
            <a:r>
              <a:rPr sz="1200" b="1">
                <a:solidFill>
                  <a:srgbClr val="EAF0F7"/>
                </a:solidFill>
                <a:latin typeface="Segoe UI"/>
              </a:rPr>
              <a:t>What is at stake?</a:t>
            </a:r>
          </a:p>
          <a:p>
            <a:pPr algn="l">
              <a:lnSpc>
                <a:spcPct val="114000"/>
              </a:lnSpc>
              <a:spcAft>
                <a:spcPts val="0"/>
              </a:spcAft>
            </a:pPr>
            <a:r>
              <a:rPr sz="980" b="0">
                <a:solidFill>
                  <a:srgbClr val="8CA0BE"/>
                </a:solidFill>
                <a:latin typeface="Segoe UI"/>
              </a:rPr>
              <a:t>Monthly recurring revenue exposed in each risk band</a:t>
            </a:r>
          </a:p>
        </p:txBody>
      </p:sp>
      <p:sp>
        <p:nvSpPr>
          <p:cNvPr id="20" name="Rounded Rectangle 19"/>
          <p:cNvSpPr/>
          <p:nvPr/>
        </p:nvSpPr>
        <p:spPr>
          <a:xfrm>
            <a:off x="6967728" y="1572768"/>
            <a:ext cx="4654296" cy="451713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187184" y="1719072"/>
            <a:ext cx="4206240" cy="274320"/>
          </a:xfrm>
          <a:prstGeom prst="rect">
            <a:avLst/>
          </a:prstGeom>
          <a:noFill/>
        </p:spPr>
        <p:txBody>
          <a:bodyPr wrap="square" lIns="0" rIns="0" tIns="0" bIns="0" anchor="t">
            <a:spAutoFit/>
          </a:bodyPr>
          <a:lstStyle/>
          <a:p>
            <a:pPr algn="l">
              <a:lnSpc>
                <a:spcPct val="112000"/>
              </a:lnSpc>
              <a:spcAft>
                <a:spcPts val="0"/>
              </a:spcAft>
            </a:pPr>
            <a:r>
              <a:rPr sz="1000" b="1">
                <a:solidFill>
                  <a:srgbClr val="8CA0BE"/>
                </a:solidFill>
                <a:latin typeface="Consolas"/>
              </a:rPr>
              <a:t>THE BASE RATE</a:t>
            </a:r>
          </a:p>
        </p:txBody>
      </p:sp>
      <p:pic>
        <p:nvPicPr>
          <p:cNvPr id="22" name="Picture 21" descr="chart_churn_split.png"/>
          <p:cNvPicPr>
            <a:picLocks noChangeAspect="1"/>
          </p:cNvPicPr>
          <p:nvPr/>
        </p:nvPicPr>
        <p:blipFill>
          <a:blip r:embed="rId2"/>
          <a:stretch>
            <a:fillRect/>
          </a:stretch>
        </p:blipFill>
        <p:spPr>
          <a:xfrm>
            <a:off x="7226560" y="1993391"/>
            <a:ext cx="4136630" cy="3657600"/>
          </a:xfrm>
          <a:prstGeom prst="rect">
            <a:avLst/>
          </a:prstGeom>
        </p:spPr>
      </p:pic>
      <p:sp>
        <p:nvSpPr>
          <p:cNvPr id="23" name="TextBox 22"/>
          <p:cNvSpPr txBox="1"/>
          <p:nvPr/>
        </p:nvSpPr>
        <p:spPr>
          <a:xfrm>
            <a:off x="7187184" y="5559552"/>
            <a:ext cx="4206240" cy="457200"/>
          </a:xfrm>
          <a:prstGeom prst="rect">
            <a:avLst/>
          </a:prstGeom>
          <a:noFill/>
        </p:spPr>
        <p:txBody>
          <a:bodyPr wrap="square" lIns="0" rIns="0" tIns="0" bIns="0" anchor="t">
            <a:spAutoFit/>
          </a:bodyPr>
          <a:lstStyle/>
          <a:p>
            <a:pPr algn="l">
              <a:lnSpc>
                <a:spcPct val="116000"/>
              </a:lnSpc>
              <a:spcAft>
                <a:spcPts val="0"/>
              </a:spcAft>
            </a:pPr>
            <a:r>
              <a:rPr sz="1050" b="0">
                <a:solidFill>
                  <a:srgbClr val="8CA0BE"/>
                </a:solidFill>
                <a:latin typeface="Segoe UI"/>
              </a:rPr>
              <a:t>Any model that predicts "nobody churns" is already 73.46% accurate — which is why accuracy alone decides nothing.</a:t>
            </a:r>
          </a:p>
        </p:txBody>
      </p:sp>
      <p:sp>
        <p:nvSpPr>
          <p:cNvPr id="24" name="Rectangle 23"/>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6510528"/>
            <a:ext cx="731520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RetainIQ · Signal Ops Console</a:t>
            </a:r>
          </a:p>
        </p:txBody>
      </p:sp>
      <p:sp>
        <p:nvSpPr>
          <p:cNvPr id="26" name="TextBox 25"/>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7315200" cy="237744"/>
          </a:xfrm>
          <a:prstGeom prst="rect">
            <a:avLst/>
          </a:prstGeom>
          <a:noFill/>
        </p:spPr>
        <p:txBody>
          <a:bodyPr wrap="square" lIns="0" rIns="0" tIns="0" bIns="0" anchor="t">
            <a:spAutoFit/>
          </a:bodyPr>
          <a:lstStyle/>
          <a:p>
            <a:pPr algn="l">
              <a:lnSpc>
                <a:spcPct val="112000"/>
              </a:lnSpc>
              <a:spcAft>
                <a:spcPts val="0"/>
              </a:spcAft>
            </a:pPr>
            <a:r>
              <a:rPr sz="1000" b="1">
                <a:solidFill>
                  <a:srgbClr val="2FD8B4"/>
                </a:solidFill>
                <a:latin typeface="Consolas"/>
              </a:rPr>
              <a:t>01  ·  DATA</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The data behind the model</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IBM Telco Customer Churn — 7,043 customers, 34 raw fields, one binary target · 80/20 stratified split: 5,634 train / 1,409 test</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554480"/>
            <a:ext cx="2094524" cy="969264"/>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682495"/>
            <a:ext cx="1838492" cy="768096"/>
          </a:xfrm>
          <a:prstGeom prst="rect">
            <a:avLst/>
          </a:prstGeom>
          <a:noFill/>
        </p:spPr>
        <p:txBody>
          <a:bodyPr wrap="square" lIns="0" rIns="0" tIns="0" bIns="0" anchor="t">
            <a:spAutoFit/>
          </a:bodyPr>
          <a:lstStyle/>
          <a:p>
            <a:pPr algn="l">
              <a:lnSpc>
                <a:spcPct val="112000"/>
              </a:lnSpc>
              <a:spcAft>
                <a:spcPts val="200"/>
              </a:spcAft>
            </a:pPr>
            <a:r>
              <a:rPr sz="2000" b="1">
                <a:solidFill>
                  <a:srgbClr val="EAF0F7"/>
                </a:solidFill>
                <a:latin typeface="Segoe UI"/>
              </a:rPr>
              <a:t>7,043</a:t>
            </a:r>
          </a:p>
          <a:p>
            <a:pPr algn="l">
              <a:lnSpc>
                <a:spcPct val="112000"/>
              </a:lnSpc>
              <a:spcAft>
                <a:spcPts val="0"/>
              </a:spcAft>
            </a:pPr>
            <a:r>
              <a:rPr sz="900" b="0">
                <a:solidFill>
                  <a:srgbClr val="8CA0BE"/>
                </a:solidFill>
                <a:latin typeface="Segoe UI"/>
              </a:rPr>
              <a:t>CUSTOMERS</a:t>
            </a:r>
          </a:p>
        </p:txBody>
      </p:sp>
      <p:sp>
        <p:nvSpPr>
          <p:cNvPr id="9" name="Rounded Rectangle 8"/>
          <p:cNvSpPr/>
          <p:nvPr/>
        </p:nvSpPr>
        <p:spPr>
          <a:xfrm>
            <a:off x="2807756" y="1554480"/>
            <a:ext cx="2094524" cy="969264"/>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54060" y="1682495"/>
            <a:ext cx="1838492" cy="768096"/>
          </a:xfrm>
          <a:prstGeom prst="rect">
            <a:avLst/>
          </a:prstGeom>
          <a:noFill/>
        </p:spPr>
        <p:txBody>
          <a:bodyPr wrap="square" lIns="0" rIns="0" tIns="0" bIns="0" anchor="t">
            <a:spAutoFit/>
          </a:bodyPr>
          <a:lstStyle/>
          <a:p>
            <a:pPr algn="l">
              <a:lnSpc>
                <a:spcPct val="112000"/>
              </a:lnSpc>
              <a:spcAft>
                <a:spcPts val="200"/>
              </a:spcAft>
            </a:pPr>
            <a:r>
              <a:rPr sz="2000" b="1">
                <a:solidFill>
                  <a:srgbClr val="EAF0F7"/>
                </a:solidFill>
                <a:latin typeface="Segoe UI"/>
              </a:rPr>
              <a:t>34</a:t>
            </a:r>
          </a:p>
          <a:p>
            <a:pPr algn="l">
              <a:lnSpc>
                <a:spcPct val="112000"/>
              </a:lnSpc>
              <a:spcAft>
                <a:spcPts val="0"/>
              </a:spcAft>
            </a:pPr>
            <a:r>
              <a:rPr sz="900" b="0">
                <a:solidFill>
                  <a:srgbClr val="8CA0BE"/>
                </a:solidFill>
                <a:latin typeface="Segoe UI"/>
              </a:rPr>
              <a:t>RAW FEATURES</a:t>
            </a:r>
          </a:p>
        </p:txBody>
      </p:sp>
      <p:sp>
        <p:nvSpPr>
          <p:cNvPr id="11" name="Rounded Rectangle 10"/>
          <p:cNvSpPr/>
          <p:nvPr/>
        </p:nvSpPr>
        <p:spPr>
          <a:xfrm>
            <a:off x="5048585" y="1554480"/>
            <a:ext cx="2094524" cy="969264"/>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94889" y="1682495"/>
            <a:ext cx="1838492" cy="768096"/>
          </a:xfrm>
          <a:prstGeom prst="rect">
            <a:avLst/>
          </a:prstGeom>
          <a:noFill/>
        </p:spPr>
        <p:txBody>
          <a:bodyPr wrap="square" lIns="0" rIns="0" tIns="0" bIns="0" anchor="t">
            <a:spAutoFit/>
          </a:bodyPr>
          <a:lstStyle/>
          <a:p>
            <a:pPr algn="l">
              <a:lnSpc>
                <a:spcPct val="112000"/>
              </a:lnSpc>
              <a:spcAft>
                <a:spcPts val="200"/>
              </a:spcAft>
            </a:pPr>
            <a:r>
              <a:rPr sz="2000" b="1">
                <a:solidFill>
                  <a:srgbClr val="EAF0F7"/>
                </a:solidFill>
                <a:latin typeface="Segoe UI"/>
              </a:rPr>
              <a:t>30</a:t>
            </a:r>
          </a:p>
          <a:p>
            <a:pPr algn="l">
              <a:lnSpc>
                <a:spcPct val="112000"/>
              </a:lnSpc>
              <a:spcAft>
                <a:spcPts val="0"/>
              </a:spcAft>
            </a:pPr>
            <a:r>
              <a:rPr sz="900" b="0">
                <a:solidFill>
                  <a:srgbClr val="8CA0BE"/>
                </a:solidFill>
                <a:latin typeface="Segoe UI"/>
              </a:rPr>
              <a:t>ML FEATURES</a:t>
            </a:r>
          </a:p>
        </p:txBody>
      </p:sp>
      <p:sp>
        <p:nvSpPr>
          <p:cNvPr id="13" name="Rounded Rectangle 12"/>
          <p:cNvSpPr/>
          <p:nvPr/>
        </p:nvSpPr>
        <p:spPr>
          <a:xfrm>
            <a:off x="7289413" y="1554480"/>
            <a:ext cx="2094524" cy="969264"/>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35717" y="1682495"/>
            <a:ext cx="1838492" cy="768096"/>
          </a:xfrm>
          <a:prstGeom prst="rect">
            <a:avLst/>
          </a:prstGeom>
          <a:noFill/>
        </p:spPr>
        <p:txBody>
          <a:bodyPr wrap="square" lIns="0" rIns="0" tIns="0" bIns="0" anchor="t">
            <a:spAutoFit/>
          </a:bodyPr>
          <a:lstStyle/>
          <a:p>
            <a:pPr algn="l">
              <a:lnSpc>
                <a:spcPct val="112000"/>
              </a:lnSpc>
              <a:spcAft>
                <a:spcPts val="200"/>
              </a:spcAft>
            </a:pPr>
            <a:r>
              <a:rPr sz="2000" b="1">
                <a:solidFill>
                  <a:srgbClr val="FF5C6C"/>
                </a:solidFill>
                <a:latin typeface="Segoe UI"/>
              </a:rPr>
              <a:t>26.54%</a:t>
            </a:r>
          </a:p>
          <a:p>
            <a:pPr algn="l">
              <a:lnSpc>
                <a:spcPct val="112000"/>
              </a:lnSpc>
              <a:spcAft>
                <a:spcPts val="0"/>
              </a:spcAft>
            </a:pPr>
            <a:r>
              <a:rPr sz="900" b="0">
                <a:solidFill>
                  <a:srgbClr val="8CA0BE"/>
                </a:solidFill>
                <a:latin typeface="Segoe UI"/>
              </a:rPr>
              <a:t>CHURN RATE</a:t>
            </a:r>
          </a:p>
        </p:txBody>
      </p:sp>
      <p:sp>
        <p:nvSpPr>
          <p:cNvPr id="15" name="Rounded Rectangle 14"/>
          <p:cNvSpPr/>
          <p:nvPr/>
        </p:nvSpPr>
        <p:spPr>
          <a:xfrm>
            <a:off x="9530242" y="1554480"/>
            <a:ext cx="2094524" cy="969264"/>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546" y="1682495"/>
            <a:ext cx="1838492" cy="768096"/>
          </a:xfrm>
          <a:prstGeom prst="rect">
            <a:avLst/>
          </a:prstGeom>
          <a:noFill/>
        </p:spPr>
        <p:txBody>
          <a:bodyPr wrap="square" lIns="0" rIns="0" tIns="0" bIns="0" anchor="t">
            <a:spAutoFit/>
          </a:bodyPr>
          <a:lstStyle/>
          <a:p>
            <a:pPr algn="l">
              <a:lnSpc>
                <a:spcPct val="112000"/>
              </a:lnSpc>
              <a:spcAft>
                <a:spcPts val="200"/>
              </a:spcAft>
            </a:pPr>
            <a:r>
              <a:rPr sz="2000" b="1">
                <a:solidFill>
                  <a:srgbClr val="4C8DFF"/>
                </a:solidFill>
                <a:latin typeface="Segoe UI"/>
              </a:rPr>
              <a:t>80 / 20</a:t>
            </a:r>
          </a:p>
          <a:p>
            <a:pPr algn="l">
              <a:lnSpc>
                <a:spcPct val="112000"/>
              </a:lnSpc>
              <a:spcAft>
                <a:spcPts val="0"/>
              </a:spcAft>
            </a:pPr>
            <a:r>
              <a:rPr sz="900" b="0">
                <a:solidFill>
                  <a:srgbClr val="8CA0BE"/>
                </a:solidFill>
                <a:latin typeface="Segoe UI"/>
              </a:rPr>
              <a:t>TRAIN / TEST SPLIT</a:t>
            </a:r>
          </a:p>
        </p:txBody>
      </p:sp>
      <p:sp>
        <p:nvSpPr>
          <p:cNvPr id="17" name="TextBox 16"/>
          <p:cNvSpPr txBox="1"/>
          <p:nvPr/>
        </p:nvSpPr>
        <p:spPr>
          <a:xfrm>
            <a:off x="566928" y="2706624"/>
            <a:ext cx="5394960" cy="2377440"/>
          </a:xfrm>
          <a:prstGeom prst="rect">
            <a:avLst/>
          </a:prstGeom>
          <a:noFill/>
        </p:spPr>
        <p:txBody>
          <a:bodyPr wrap="square" lIns="0" rIns="0" tIns="0" bIns="0" anchor="t">
            <a:spAutoFit/>
          </a:bodyPr>
          <a:lstStyle/>
          <a:p>
            <a:pPr algn="l">
              <a:lnSpc>
                <a:spcPct val="112000"/>
              </a:lnSpc>
              <a:spcAft>
                <a:spcPts val="600"/>
              </a:spcAft>
            </a:pPr>
            <a:r>
              <a:rPr sz="1300" b="1">
                <a:solidFill>
                  <a:srgbClr val="2FD8B4"/>
                </a:solidFill>
                <a:latin typeface="Segoe UI"/>
              </a:rPr>
              <a:t>What a row contains</a:t>
            </a:r>
          </a:p>
          <a:p>
            <a:pPr algn="l">
              <a:lnSpc>
                <a:spcPct val="112000"/>
              </a:lnSpc>
              <a:spcAft>
                <a:spcPts val="400"/>
              </a:spcAft>
            </a:pPr>
            <a:r>
              <a:rPr sz="1130" b="0">
                <a:solidFill>
                  <a:srgbClr val="EAF0F7"/>
                </a:solidFill>
                <a:latin typeface="Segoe UI"/>
              </a:rPr>
              <a:t>  ▸  Customer profile — gender, senior citizen, partner, dependents</a:t>
            </a:r>
          </a:p>
          <a:p>
            <a:pPr algn="l">
              <a:lnSpc>
                <a:spcPct val="116000"/>
              </a:lnSpc>
              <a:spcAft>
                <a:spcPts val="400"/>
              </a:spcAft>
            </a:pPr>
            <a:r>
              <a:rPr sz="1130" b="0">
                <a:solidFill>
                  <a:srgbClr val="EAF0F7"/>
                </a:solidFill>
                <a:latin typeface="Segoe UI"/>
              </a:rPr>
              <a:t>  ▸  Services — phone, internet, security, backup, protection, support, streaming</a:t>
            </a:r>
          </a:p>
          <a:p>
            <a:pPr algn="l">
              <a:lnSpc>
                <a:spcPct val="112000"/>
              </a:lnSpc>
              <a:spcAft>
                <a:spcPts val="400"/>
              </a:spcAft>
            </a:pPr>
            <a:r>
              <a:rPr sz="1130" b="0">
                <a:solidFill>
                  <a:srgbClr val="EAF0F7"/>
                </a:solidFill>
                <a:latin typeface="Segoe UI"/>
              </a:rPr>
              <a:t>  ▸  Contract &amp; billing — contract type, payment method, paperless, charges</a:t>
            </a:r>
          </a:p>
          <a:p>
            <a:pPr algn="l">
              <a:lnSpc>
                <a:spcPct val="112000"/>
              </a:lnSpc>
              <a:spcAft>
                <a:spcPts val="400"/>
              </a:spcAft>
            </a:pPr>
            <a:r>
              <a:rPr sz="1130" b="0">
                <a:solidFill>
                  <a:srgbClr val="EAF0F7"/>
                </a:solidFill>
                <a:latin typeface="Segoe UI"/>
              </a:rPr>
              <a:t>  ▸  Value — tenure, monthly charges, total charges, CLTV</a:t>
            </a:r>
          </a:p>
          <a:p>
            <a:pPr algn="l">
              <a:lnSpc>
                <a:spcPct val="112000"/>
              </a:lnSpc>
              <a:spcBef>
                <a:spcPts val="800"/>
              </a:spcBef>
              <a:spcAft>
                <a:spcPts val="0"/>
              </a:spcAft>
            </a:pPr>
            <a:r>
              <a:rPr sz="1130" b="0">
                <a:solidFill>
                  <a:srgbClr val="8CA0BE"/>
                </a:solidFill>
                <a:latin typeface="Segoe UI"/>
              </a:rPr>
              <a:t>Target: Churn Label (Yes / No), converted to 1 / 0.</a:t>
            </a:r>
          </a:p>
        </p:txBody>
      </p:sp>
      <p:sp>
        <p:nvSpPr>
          <p:cNvPr id="18" name="Rounded Rectangle 17"/>
          <p:cNvSpPr/>
          <p:nvPr/>
        </p:nvSpPr>
        <p:spPr>
          <a:xfrm>
            <a:off x="6263640" y="2706624"/>
            <a:ext cx="5358384" cy="1591056"/>
          </a:xfrm>
          <a:prstGeom prst="roundRect">
            <a:avLst>
              <a:gd name="adj" fmla="val 8000"/>
            </a:avLst>
          </a:prstGeom>
          <a:solidFill>
            <a:srgbClr val="162136"/>
          </a:solidFill>
          <a:ln w="15240">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6520" y="2834640"/>
            <a:ext cx="4992624" cy="1353312"/>
          </a:xfrm>
          <a:prstGeom prst="rect">
            <a:avLst/>
          </a:prstGeom>
          <a:noFill/>
        </p:spPr>
        <p:txBody>
          <a:bodyPr wrap="square" lIns="0" rIns="0" tIns="0" bIns="0" anchor="t">
            <a:spAutoFit/>
          </a:bodyPr>
          <a:lstStyle/>
          <a:p>
            <a:pPr algn="l">
              <a:lnSpc>
                <a:spcPct val="112000"/>
              </a:lnSpc>
              <a:spcAft>
                <a:spcPts val="300"/>
              </a:spcAft>
            </a:pPr>
            <a:r>
              <a:rPr sz="1150" b="1">
                <a:solidFill>
                  <a:srgbClr val="F5A623"/>
                </a:solidFill>
                <a:latin typeface="Segoe UI"/>
              </a:rPr>
              <a:t>LEAKAGE PREVENTION — the detail that makes the results believable</a:t>
            </a:r>
          </a:p>
          <a:p>
            <a:pPr algn="l">
              <a:lnSpc>
                <a:spcPct val="116000"/>
              </a:lnSpc>
              <a:spcAft>
                <a:spcPts val="0"/>
              </a:spcAft>
            </a:pPr>
            <a:r>
              <a:rPr sz="1080" b="0">
                <a:solidFill>
                  <a:srgbClr val="EAF0F7"/>
                </a:solidFill>
                <a:latin typeface="Segoe UI"/>
              </a:rPr>
              <a:t>Churn Score, Churn Reason, Churn Category and Customer Status were removed before training. All four are only known after a customer has already churned, so keeping them would inflate the metrics and break the model in production.</a:t>
            </a:r>
          </a:p>
        </p:txBody>
      </p:sp>
      <p:sp>
        <p:nvSpPr>
          <p:cNvPr id="20" name="Rounded Rectangle 19"/>
          <p:cNvSpPr/>
          <p:nvPr/>
        </p:nvSpPr>
        <p:spPr>
          <a:xfrm>
            <a:off x="6263640" y="4443983"/>
            <a:ext cx="5358384" cy="1243584"/>
          </a:xfrm>
          <a:prstGeom prst="roundRect">
            <a:avLst>
              <a:gd name="adj" fmla="val 8000"/>
            </a:avLst>
          </a:prstGeom>
          <a:solidFill>
            <a:srgbClr val="162136"/>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46520" y="4571999"/>
            <a:ext cx="4992624" cy="1005840"/>
          </a:xfrm>
          <a:prstGeom prst="rect">
            <a:avLst/>
          </a:prstGeom>
          <a:noFill/>
        </p:spPr>
        <p:txBody>
          <a:bodyPr wrap="square" lIns="0" rIns="0" tIns="0" bIns="0" anchor="t">
            <a:spAutoFit/>
          </a:bodyPr>
          <a:lstStyle/>
          <a:p>
            <a:pPr algn="l">
              <a:lnSpc>
                <a:spcPct val="112000"/>
              </a:lnSpc>
              <a:spcAft>
                <a:spcPts val="300"/>
              </a:spcAft>
            </a:pPr>
            <a:r>
              <a:rPr sz="1150" b="1">
                <a:solidFill>
                  <a:srgbClr val="2FD8B4"/>
                </a:solidFill>
                <a:latin typeface="Segoe UI"/>
              </a:rPr>
              <a:t>TRAIN / SERVE PARITY</a:t>
            </a:r>
          </a:p>
          <a:p>
            <a:pPr algn="l">
              <a:lnSpc>
                <a:spcPct val="116000"/>
              </a:lnSpc>
              <a:spcAft>
                <a:spcPts val="0"/>
              </a:spcAft>
            </a:pPr>
            <a:r>
              <a:rPr sz="1080" b="0">
                <a:solidFill>
                  <a:srgbClr val="EAF0F7"/>
                </a:solidFill>
                <a:latin typeface="Segoe UI"/>
              </a:rPr>
              <a:t>The 30 encoded columns are frozen in feature_columns.pkl and rebuilt by the same preprocessing code for every upload — training and live scoring cannot drift apart. There is a unit test for exactly this.</a:t>
            </a:r>
          </a:p>
        </p:txBody>
      </p:sp>
      <p:sp>
        <p:nvSpPr>
          <p:cNvPr id="22" name="Rectangle 21"/>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6510528"/>
            <a:ext cx="731520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RetainIQ · Signal Ops Console</a:t>
            </a:r>
          </a:p>
        </p:txBody>
      </p:sp>
      <p:sp>
        <p:nvSpPr>
          <p:cNvPr id="24" name="TextBox 23"/>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7315200" cy="237744"/>
          </a:xfrm>
          <a:prstGeom prst="rect">
            <a:avLst/>
          </a:prstGeom>
          <a:noFill/>
        </p:spPr>
        <p:txBody>
          <a:bodyPr wrap="square" lIns="0" rIns="0" tIns="0" bIns="0" anchor="t">
            <a:spAutoFit/>
          </a:bodyPr>
          <a:lstStyle/>
          <a:p>
            <a:pPr algn="l">
              <a:lnSpc>
                <a:spcPct val="112000"/>
              </a:lnSpc>
              <a:spcAft>
                <a:spcPts val="0"/>
              </a:spcAft>
            </a:pPr>
            <a:r>
              <a:rPr sz="1000" b="1">
                <a:solidFill>
                  <a:srgbClr val="2FD8B4"/>
                </a:solidFill>
                <a:latin typeface="Consolas"/>
              </a:rPr>
              <a:t>01  ·  EXPLORATORY ANALYSIS</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What the data said</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Three patterns that shaped the model — and the retention strategy</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rt_contract.png"/>
          <p:cNvPicPr>
            <a:picLocks noChangeAspect="1"/>
          </p:cNvPicPr>
          <p:nvPr/>
        </p:nvPicPr>
        <p:blipFill>
          <a:blip r:embed="rId2"/>
          <a:stretch>
            <a:fillRect/>
          </a:stretch>
        </p:blipFill>
        <p:spPr>
          <a:xfrm>
            <a:off x="566928" y="1559659"/>
            <a:ext cx="5440680" cy="3007160"/>
          </a:xfrm>
          <a:prstGeom prst="rect">
            <a:avLst/>
          </a:prstGeom>
        </p:spPr>
      </p:pic>
      <p:pic>
        <p:nvPicPr>
          <p:cNvPr id="8" name="Picture 7" descr="chart_tenure.png"/>
          <p:cNvPicPr>
            <a:picLocks noChangeAspect="1"/>
          </p:cNvPicPr>
          <p:nvPr/>
        </p:nvPicPr>
        <p:blipFill>
          <a:blip r:embed="rId3"/>
          <a:stretch>
            <a:fillRect/>
          </a:stretch>
        </p:blipFill>
        <p:spPr>
          <a:xfrm>
            <a:off x="6662943" y="1554480"/>
            <a:ext cx="4486625" cy="3017519"/>
          </a:xfrm>
          <a:prstGeom prst="rect">
            <a:avLst/>
          </a:prstGeom>
        </p:spPr>
      </p:pic>
      <p:sp>
        <p:nvSpPr>
          <p:cNvPr id="9" name="Rounded Rectangle 8"/>
          <p:cNvSpPr/>
          <p:nvPr/>
        </p:nvSpPr>
        <p:spPr>
          <a:xfrm>
            <a:off x="566928" y="4681728"/>
            <a:ext cx="3576218" cy="1572768"/>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4828032"/>
            <a:ext cx="32004" cy="1280160"/>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4846320"/>
            <a:ext cx="3210458" cy="1280160"/>
          </a:xfrm>
          <a:prstGeom prst="rect">
            <a:avLst/>
          </a:prstGeom>
          <a:noFill/>
        </p:spPr>
        <p:txBody>
          <a:bodyPr wrap="square" lIns="0" rIns="0" tIns="0" bIns="0" anchor="t">
            <a:spAutoFit/>
          </a:bodyPr>
          <a:lstStyle/>
          <a:p>
            <a:pPr algn="l">
              <a:lnSpc>
                <a:spcPct val="112000"/>
              </a:lnSpc>
              <a:spcAft>
                <a:spcPts val="400"/>
              </a:spcAft>
            </a:pPr>
            <a:r>
              <a:rPr sz="1150" b="1">
                <a:solidFill>
                  <a:srgbClr val="2FD8B4"/>
                </a:solidFill>
                <a:latin typeface="Segoe UI"/>
              </a:rPr>
              <a:t>Contract is the strongest signal</a:t>
            </a:r>
          </a:p>
          <a:p>
            <a:pPr algn="l">
              <a:lnSpc>
                <a:spcPct val="118000"/>
              </a:lnSpc>
              <a:spcAft>
                <a:spcPts val="0"/>
              </a:spcAft>
            </a:pPr>
            <a:r>
              <a:rPr sz="1019" b="0">
                <a:solidFill>
                  <a:srgbClr val="EAF0F7"/>
                </a:solidFill>
                <a:latin typeface="Segoe UI"/>
              </a:rPr>
              <a:t>42.7% churn on month-to-month vs 2.8% on two-year contracts — a 15× gap.</a:t>
            </a:r>
          </a:p>
        </p:txBody>
      </p:sp>
      <p:sp>
        <p:nvSpPr>
          <p:cNvPr id="12" name="Rounded Rectangle 11"/>
          <p:cNvSpPr/>
          <p:nvPr/>
        </p:nvSpPr>
        <p:spPr>
          <a:xfrm>
            <a:off x="4307738" y="4681728"/>
            <a:ext cx="3576218" cy="1572768"/>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4828032"/>
            <a:ext cx="32004" cy="128016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90618" y="4846320"/>
            <a:ext cx="3210458" cy="1280160"/>
          </a:xfrm>
          <a:prstGeom prst="rect">
            <a:avLst/>
          </a:prstGeom>
          <a:noFill/>
        </p:spPr>
        <p:txBody>
          <a:bodyPr wrap="square" lIns="0" rIns="0" tIns="0" bIns="0" anchor="t">
            <a:spAutoFit/>
          </a:bodyPr>
          <a:lstStyle/>
          <a:p>
            <a:pPr algn="l">
              <a:lnSpc>
                <a:spcPct val="112000"/>
              </a:lnSpc>
              <a:spcAft>
                <a:spcPts val="400"/>
              </a:spcAft>
            </a:pPr>
            <a:r>
              <a:rPr sz="1150" b="1">
                <a:solidFill>
                  <a:srgbClr val="F5A623"/>
                </a:solidFill>
                <a:latin typeface="Segoe UI"/>
              </a:rPr>
              <a:t>Churn is front-loaded</a:t>
            </a:r>
          </a:p>
          <a:p>
            <a:pPr algn="l">
              <a:lnSpc>
                <a:spcPct val="118000"/>
              </a:lnSpc>
              <a:spcAft>
                <a:spcPts val="0"/>
              </a:spcAft>
            </a:pPr>
            <a:r>
              <a:rPr sz="1019" b="0">
                <a:solidFill>
                  <a:srgbClr val="EAF0F7"/>
                </a:solidFill>
                <a:latin typeface="Segoe UI"/>
              </a:rPr>
              <a:t>47.4% of first-year customers churn; 55.5% of all churners are in year one. Churned customers average 18.0 months of tenure vs 37.6.</a:t>
            </a:r>
          </a:p>
        </p:txBody>
      </p:sp>
      <p:sp>
        <p:nvSpPr>
          <p:cNvPr id="15" name="Rounded Rectangle 14"/>
          <p:cNvSpPr/>
          <p:nvPr/>
        </p:nvSpPr>
        <p:spPr>
          <a:xfrm>
            <a:off x="8048548" y="4681728"/>
            <a:ext cx="3576218" cy="1572768"/>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48548" y="4828032"/>
            <a:ext cx="32004" cy="128016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31428" y="4846320"/>
            <a:ext cx="3210458" cy="1280160"/>
          </a:xfrm>
          <a:prstGeom prst="rect">
            <a:avLst/>
          </a:prstGeom>
          <a:noFill/>
        </p:spPr>
        <p:txBody>
          <a:bodyPr wrap="square" lIns="0" rIns="0" tIns="0" bIns="0" anchor="t">
            <a:spAutoFit/>
          </a:bodyPr>
          <a:lstStyle/>
          <a:p>
            <a:pPr algn="l">
              <a:lnSpc>
                <a:spcPct val="112000"/>
              </a:lnSpc>
              <a:spcAft>
                <a:spcPts val="400"/>
              </a:spcAft>
            </a:pPr>
            <a:r>
              <a:rPr sz="1150" b="1">
                <a:solidFill>
                  <a:srgbClr val="4C8DFF"/>
                </a:solidFill>
                <a:latin typeface="Segoe UI"/>
              </a:rPr>
              <a:t>It is a service-experience story</a:t>
            </a:r>
          </a:p>
          <a:p>
            <a:pPr algn="l">
              <a:lnSpc>
                <a:spcPct val="118000"/>
              </a:lnSpc>
              <a:spcAft>
                <a:spcPts val="0"/>
              </a:spcAft>
            </a:pPr>
            <a:r>
              <a:rPr sz="1019" b="0">
                <a:solidFill>
                  <a:srgbClr val="EAF0F7"/>
                </a:solidFill>
                <a:latin typeface="Segoe UI"/>
              </a:rPr>
              <a:t>Fiber optic churns at 41.9% vs 7.4% with no internet; customers without tech support or online security churn at 41.6% / 41.8%.</a:t>
            </a:r>
          </a:p>
        </p:txBody>
      </p:sp>
      <p:sp>
        <p:nvSpPr>
          <p:cNvPr id="18" name="Rectangle 17"/>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6510528"/>
            <a:ext cx="731520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RetainIQ · Signal Ops Console</a:t>
            </a:r>
          </a:p>
        </p:txBody>
      </p:sp>
      <p:sp>
        <p:nvSpPr>
          <p:cNvPr id="20" name="TextBox 19"/>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7315200" cy="237744"/>
          </a:xfrm>
          <a:prstGeom prst="rect">
            <a:avLst/>
          </a:prstGeom>
          <a:noFill/>
        </p:spPr>
        <p:txBody>
          <a:bodyPr wrap="square" lIns="0" rIns="0" tIns="0" bIns="0" anchor="t">
            <a:spAutoFit/>
          </a:bodyPr>
          <a:lstStyle/>
          <a:p>
            <a:pPr algn="l">
              <a:lnSpc>
                <a:spcPct val="112000"/>
              </a:lnSpc>
              <a:spcAft>
                <a:spcPts val="0"/>
              </a:spcAft>
            </a:pPr>
            <a:r>
              <a:rPr sz="1000" b="1">
                <a:solidFill>
                  <a:srgbClr val="2FD8B4"/>
                </a:solidFill>
                <a:latin typeface="Consolas"/>
              </a:rPr>
              <a:t>02  ·  PREPROCESSING &amp; FEATURES</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From raw records to 30 model-ready features</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One reproducible pipeline, used identically in training and in the live app</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572768"/>
            <a:ext cx="2558719" cy="1005840"/>
          </a:xfrm>
          <a:prstGeom prst="roundRect">
            <a:avLst>
              <a:gd name="adj" fmla="val 8000"/>
            </a:avLst>
          </a:prstGeom>
          <a:solidFill>
            <a:srgbClr val="162136"/>
          </a:solidFill>
          <a:ln w="15240">
            <a:solidFill>
              <a:srgbClr val="4C8D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700784"/>
            <a:ext cx="2229535" cy="786384"/>
          </a:xfrm>
          <a:prstGeom prst="rect">
            <a:avLst/>
          </a:prstGeom>
          <a:noFill/>
        </p:spPr>
        <p:txBody>
          <a:bodyPr wrap="square" lIns="0" rIns="0" tIns="0" bIns="0" anchor="t">
            <a:spAutoFit/>
          </a:bodyPr>
          <a:lstStyle/>
          <a:p>
            <a:pPr algn="l">
              <a:lnSpc>
                <a:spcPct val="112000"/>
              </a:lnSpc>
              <a:spcAft>
                <a:spcPts val="300"/>
              </a:spcAft>
            </a:pPr>
            <a:r>
              <a:rPr sz="1300" b="1">
                <a:solidFill>
                  <a:srgbClr val="EAF0F7"/>
                </a:solidFill>
                <a:latin typeface="Segoe UI"/>
              </a:rPr>
              <a:t>Raw upload</a:t>
            </a:r>
          </a:p>
          <a:p>
            <a:pPr algn="l">
              <a:lnSpc>
                <a:spcPct val="114000"/>
              </a:lnSpc>
              <a:spcAft>
                <a:spcPts val="0"/>
              </a:spcAft>
            </a:pPr>
            <a:r>
              <a:rPr sz="980" b="0">
                <a:solidFill>
                  <a:srgbClr val="8CA0BE"/>
                </a:solidFill>
                <a:latin typeface="Segoe UI"/>
              </a:rPr>
              <a:t>7,043 records · 34 columns</a:t>
            </a:r>
          </a:p>
        </p:txBody>
      </p:sp>
      <p:sp>
        <p:nvSpPr>
          <p:cNvPr id="9" name="TextBox 8"/>
          <p:cNvSpPr txBox="1"/>
          <p:nvPr/>
        </p:nvSpPr>
        <p:spPr>
          <a:xfrm>
            <a:off x="3143935" y="1847088"/>
            <a:ext cx="256032" cy="365760"/>
          </a:xfrm>
          <a:prstGeom prst="rect">
            <a:avLst/>
          </a:prstGeom>
          <a:noFill/>
        </p:spPr>
        <p:txBody>
          <a:bodyPr wrap="square" lIns="0" rIns="0" tIns="0" bIns="0" anchor="t">
            <a:spAutoFit/>
          </a:bodyPr>
          <a:lstStyle/>
          <a:p>
            <a:pPr algn="ctr">
              <a:lnSpc>
                <a:spcPct val="112000"/>
              </a:lnSpc>
              <a:spcAft>
                <a:spcPts val="0"/>
              </a:spcAft>
            </a:pPr>
            <a:r>
              <a:rPr sz="1700" b="1">
                <a:solidFill>
                  <a:srgbClr val="2FD8B4"/>
                </a:solidFill>
                <a:latin typeface="Segoe UI"/>
              </a:rPr>
              <a:t>→</a:t>
            </a:r>
          </a:p>
        </p:txBody>
      </p:sp>
      <p:sp>
        <p:nvSpPr>
          <p:cNvPr id="10" name="Rounded Rectangle 9"/>
          <p:cNvSpPr/>
          <p:nvPr/>
        </p:nvSpPr>
        <p:spPr>
          <a:xfrm>
            <a:off x="3399967" y="1572768"/>
            <a:ext cx="2558719" cy="1005840"/>
          </a:xfrm>
          <a:prstGeom prst="roundRect">
            <a:avLst>
              <a:gd name="adj" fmla="val 8000"/>
            </a:avLst>
          </a:prstGeom>
          <a:solidFill>
            <a:srgbClr val="162136"/>
          </a:solidFill>
          <a:ln w="15240">
            <a:solidFill>
              <a:srgbClr val="4C8D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64559" y="1700784"/>
            <a:ext cx="2229535" cy="786384"/>
          </a:xfrm>
          <a:prstGeom prst="rect">
            <a:avLst/>
          </a:prstGeom>
          <a:noFill/>
        </p:spPr>
        <p:txBody>
          <a:bodyPr wrap="square" lIns="0" rIns="0" tIns="0" bIns="0" anchor="t">
            <a:spAutoFit/>
          </a:bodyPr>
          <a:lstStyle/>
          <a:p>
            <a:pPr algn="l">
              <a:lnSpc>
                <a:spcPct val="112000"/>
              </a:lnSpc>
              <a:spcAft>
                <a:spcPts val="300"/>
              </a:spcAft>
            </a:pPr>
            <a:r>
              <a:rPr sz="1300" b="1">
                <a:solidFill>
                  <a:srgbClr val="EAF0F7"/>
                </a:solidFill>
                <a:latin typeface="Segoe UI"/>
              </a:rPr>
              <a:t>Clean</a:t>
            </a:r>
          </a:p>
          <a:p>
            <a:pPr algn="l">
              <a:lnSpc>
                <a:spcPct val="114000"/>
              </a:lnSpc>
              <a:spcAft>
                <a:spcPts val="0"/>
              </a:spcAft>
            </a:pPr>
            <a:r>
              <a:rPr sz="980" b="0">
                <a:solidFill>
                  <a:srgbClr val="8CA0BE"/>
                </a:solidFill>
                <a:latin typeface="Segoe UI"/>
              </a:rPr>
              <a:t>types, blanks, duplicates, category names</a:t>
            </a:r>
          </a:p>
        </p:txBody>
      </p:sp>
      <p:sp>
        <p:nvSpPr>
          <p:cNvPr id="12" name="TextBox 11"/>
          <p:cNvSpPr txBox="1"/>
          <p:nvPr/>
        </p:nvSpPr>
        <p:spPr>
          <a:xfrm>
            <a:off x="5976975" y="1847088"/>
            <a:ext cx="256032" cy="365760"/>
          </a:xfrm>
          <a:prstGeom prst="rect">
            <a:avLst/>
          </a:prstGeom>
          <a:noFill/>
        </p:spPr>
        <p:txBody>
          <a:bodyPr wrap="square" lIns="0" rIns="0" tIns="0" bIns="0" anchor="t">
            <a:spAutoFit/>
          </a:bodyPr>
          <a:lstStyle/>
          <a:p>
            <a:pPr algn="ctr">
              <a:lnSpc>
                <a:spcPct val="112000"/>
              </a:lnSpc>
              <a:spcAft>
                <a:spcPts val="0"/>
              </a:spcAft>
            </a:pPr>
            <a:r>
              <a:rPr sz="1700" b="1">
                <a:solidFill>
                  <a:srgbClr val="2FD8B4"/>
                </a:solidFill>
                <a:latin typeface="Segoe UI"/>
              </a:rPr>
              <a:t>→</a:t>
            </a:r>
          </a:p>
        </p:txBody>
      </p:sp>
      <p:sp>
        <p:nvSpPr>
          <p:cNvPr id="13" name="Rounded Rectangle 12"/>
          <p:cNvSpPr/>
          <p:nvPr/>
        </p:nvSpPr>
        <p:spPr>
          <a:xfrm>
            <a:off x="6233007" y="1572768"/>
            <a:ext cx="2558719" cy="1005840"/>
          </a:xfrm>
          <a:prstGeom prst="roundRect">
            <a:avLst>
              <a:gd name="adj" fmla="val 8000"/>
            </a:avLst>
          </a:prstGeom>
          <a:solidFill>
            <a:srgbClr val="162136"/>
          </a:solidFill>
          <a:ln w="15240">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97599" y="1700784"/>
            <a:ext cx="2229535" cy="786384"/>
          </a:xfrm>
          <a:prstGeom prst="rect">
            <a:avLst/>
          </a:prstGeom>
          <a:noFill/>
        </p:spPr>
        <p:txBody>
          <a:bodyPr wrap="square" lIns="0" rIns="0" tIns="0" bIns="0" anchor="t">
            <a:spAutoFit/>
          </a:bodyPr>
          <a:lstStyle/>
          <a:p>
            <a:pPr algn="l">
              <a:lnSpc>
                <a:spcPct val="112000"/>
              </a:lnSpc>
              <a:spcAft>
                <a:spcPts val="300"/>
              </a:spcAft>
            </a:pPr>
            <a:r>
              <a:rPr sz="1300" b="1">
                <a:solidFill>
                  <a:srgbClr val="EAF0F7"/>
                </a:solidFill>
                <a:latin typeface="Segoe UI"/>
              </a:rPr>
              <a:t>Encode</a:t>
            </a:r>
          </a:p>
          <a:p>
            <a:pPr algn="l">
              <a:lnSpc>
                <a:spcPct val="114000"/>
              </a:lnSpc>
              <a:spcAft>
                <a:spcPts val="0"/>
              </a:spcAft>
            </a:pPr>
            <a:r>
              <a:rPr sz="980" b="0">
                <a:solidFill>
                  <a:srgbClr val="8CA0BE"/>
                </a:solidFill>
                <a:latin typeface="Segoe UI"/>
              </a:rPr>
              <a:t>16 categoricals → 27 flags</a:t>
            </a:r>
          </a:p>
        </p:txBody>
      </p:sp>
      <p:sp>
        <p:nvSpPr>
          <p:cNvPr id="15" name="TextBox 14"/>
          <p:cNvSpPr txBox="1"/>
          <p:nvPr/>
        </p:nvSpPr>
        <p:spPr>
          <a:xfrm>
            <a:off x="8810015" y="1847088"/>
            <a:ext cx="256032" cy="365760"/>
          </a:xfrm>
          <a:prstGeom prst="rect">
            <a:avLst/>
          </a:prstGeom>
          <a:noFill/>
        </p:spPr>
        <p:txBody>
          <a:bodyPr wrap="square" lIns="0" rIns="0" tIns="0" bIns="0" anchor="t">
            <a:spAutoFit/>
          </a:bodyPr>
          <a:lstStyle/>
          <a:p>
            <a:pPr algn="ctr">
              <a:lnSpc>
                <a:spcPct val="112000"/>
              </a:lnSpc>
              <a:spcAft>
                <a:spcPts val="0"/>
              </a:spcAft>
            </a:pPr>
            <a:r>
              <a:rPr sz="1700" b="1">
                <a:solidFill>
                  <a:srgbClr val="2FD8B4"/>
                </a:solidFill>
                <a:latin typeface="Segoe UI"/>
              </a:rPr>
              <a:t>→</a:t>
            </a:r>
          </a:p>
        </p:txBody>
      </p:sp>
      <p:sp>
        <p:nvSpPr>
          <p:cNvPr id="16" name="Rounded Rectangle 15"/>
          <p:cNvSpPr/>
          <p:nvPr/>
        </p:nvSpPr>
        <p:spPr>
          <a:xfrm>
            <a:off x="9066047" y="1572768"/>
            <a:ext cx="2558719" cy="1005840"/>
          </a:xfrm>
          <a:prstGeom prst="roundRect">
            <a:avLst>
              <a:gd name="adj" fmla="val 8000"/>
            </a:avLst>
          </a:prstGeom>
          <a:solidFill>
            <a:srgbClr val="162136"/>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30639" y="1700784"/>
            <a:ext cx="2229535" cy="786384"/>
          </a:xfrm>
          <a:prstGeom prst="rect">
            <a:avLst/>
          </a:prstGeom>
          <a:noFill/>
        </p:spPr>
        <p:txBody>
          <a:bodyPr wrap="square" lIns="0" rIns="0" tIns="0" bIns="0" anchor="t">
            <a:spAutoFit/>
          </a:bodyPr>
          <a:lstStyle/>
          <a:p>
            <a:pPr algn="l">
              <a:lnSpc>
                <a:spcPct val="112000"/>
              </a:lnSpc>
              <a:spcAft>
                <a:spcPts val="300"/>
              </a:spcAft>
            </a:pPr>
            <a:r>
              <a:rPr sz="1300" b="1">
                <a:solidFill>
                  <a:srgbClr val="EAF0F7"/>
                </a:solidFill>
                <a:latin typeface="Segoe UI"/>
              </a:rPr>
              <a:t>30 features</a:t>
            </a:r>
          </a:p>
          <a:p>
            <a:pPr algn="l">
              <a:lnSpc>
                <a:spcPct val="114000"/>
              </a:lnSpc>
              <a:spcAft>
                <a:spcPts val="0"/>
              </a:spcAft>
            </a:pPr>
            <a:r>
              <a:rPr sz="980" b="0">
                <a:solidFill>
                  <a:srgbClr val="8CA0BE"/>
                </a:solidFill>
                <a:latin typeface="Segoe UI"/>
              </a:rPr>
              <a:t>frozen column contract</a:t>
            </a:r>
          </a:p>
        </p:txBody>
      </p:sp>
      <p:sp>
        <p:nvSpPr>
          <p:cNvPr id="18" name="TextBox 17"/>
          <p:cNvSpPr txBox="1"/>
          <p:nvPr/>
        </p:nvSpPr>
        <p:spPr>
          <a:xfrm>
            <a:off x="566928" y="2834639"/>
            <a:ext cx="5440680" cy="2651760"/>
          </a:xfrm>
          <a:prstGeom prst="rect">
            <a:avLst/>
          </a:prstGeom>
          <a:noFill/>
        </p:spPr>
        <p:txBody>
          <a:bodyPr wrap="square" lIns="0" rIns="0" tIns="0" bIns="0" anchor="t">
            <a:spAutoFit/>
          </a:bodyPr>
          <a:lstStyle/>
          <a:p>
            <a:pPr algn="l">
              <a:lnSpc>
                <a:spcPct val="112000"/>
              </a:lnSpc>
              <a:spcAft>
                <a:spcPts val="100"/>
              </a:spcAft>
            </a:pPr>
            <a:r>
              <a:rPr sz="1120" b="1">
                <a:solidFill>
                  <a:srgbClr val="2FD8B4"/>
                </a:solidFill>
                <a:latin typeface="Segoe UI"/>
              </a:rPr>
              <a:t>▸  Cleaning</a:t>
            </a:r>
          </a:p>
          <a:p>
            <a:pPr algn="l">
              <a:lnSpc>
                <a:spcPct val="118000"/>
              </a:lnSpc>
              <a:spcAft>
                <a:spcPts val="0"/>
              </a:spcAft>
            </a:pPr>
            <a:r>
              <a:rPr sz="1070" b="0">
                <a:solidFill>
                  <a:srgbClr val="EAF0F7"/>
                </a:solidFill>
                <a:latin typeface="Segoe UI"/>
              </a:rPr>
              <a:t>     Data-type correction, blank TotalCharges for new customers, duplicate checks, categorical normalisation, and removal of ID and geographic columns that carry no predictive value.</a:t>
            </a:r>
          </a:p>
          <a:p>
            <a:pPr algn="l">
              <a:lnSpc>
                <a:spcPct val="112000"/>
              </a:lnSpc>
              <a:spcBef>
                <a:spcPts val="900"/>
              </a:spcBef>
              <a:spcAft>
                <a:spcPts val="100"/>
              </a:spcAft>
            </a:pPr>
            <a:r>
              <a:rPr sz="1120" b="1">
                <a:solidFill>
                  <a:srgbClr val="2FD8B4"/>
                </a:solidFill>
                <a:latin typeface="Segoe UI"/>
              </a:rPr>
              <a:t>▸  Encoding</a:t>
            </a:r>
          </a:p>
          <a:p>
            <a:pPr algn="l">
              <a:lnSpc>
                <a:spcPct val="118000"/>
              </a:lnSpc>
              <a:spcAft>
                <a:spcPts val="0"/>
              </a:spcAft>
            </a:pPr>
            <a:r>
              <a:rPr sz="1070" b="0">
                <a:solidFill>
                  <a:srgbClr val="EAF0F7"/>
                </a:solidFill>
                <a:latin typeface="Segoe UI"/>
              </a:rPr>
              <a:t>     Every service column becomes an explicit flag (Contract_Two year, Tech Support_Yes, Internet Service_Fiber optic …) so no ordering is invented where none exists.</a:t>
            </a:r>
          </a:p>
          <a:p>
            <a:pPr algn="l">
              <a:lnSpc>
                <a:spcPct val="112000"/>
              </a:lnSpc>
              <a:spcBef>
                <a:spcPts val="900"/>
              </a:spcBef>
              <a:spcAft>
                <a:spcPts val="100"/>
              </a:spcAft>
            </a:pPr>
            <a:r>
              <a:rPr sz="1120" b="1">
                <a:solidFill>
                  <a:srgbClr val="2FD8B4"/>
                </a:solidFill>
                <a:latin typeface="Segoe UI"/>
              </a:rPr>
              <a:t>▸  Scaling &amp; split</a:t>
            </a:r>
          </a:p>
          <a:p>
            <a:pPr algn="l">
              <a:lnSpc>
                <a:spcPct val="118000"/>
              </a:lnSpc>
              <a:spcAft>
                <a:spcPts val="0"/>
              </a:spcAft>
            </a:pPr>
            <a:r>
              <a:rPr sz="1070" b="0">
                <a:solidFill>
                  <a:srgbClr val="EAF0F7"/>
                </a:solidFill>
                <a:latin typeface="Segoe UI"/>
              </a:rPr>
              <a:t>     An 80/20 stratified split keeps the 26.54% churn rate identical in train (5,634) and test (1,409).</a:t>
            </a:r>
          </a:p>
        </p:txBody>
      </p:sp>
      <p:sp>
        <p:nvSpPr>
          <p:cNvPr id="19" name="Rounded Rectangle 18"/>
          <p:cNvSpPr/>
          <p:nvPr/>
        </p:nvSpPr>
        <p:spPr>
          <a:xfrm>
            <a:off x="6263640" y="2834639"/>
            <a:ext cx="5358384" cy="2139696"/>
          </a:xfrm>
          <a:prstGeom prst="roundRect">
            <a:avLst>
              <a:gd name="adj" fmla="val 8000"/>
            </a:avLst>
          </a:prstGeom>
          <a:solidFill>
            <a:srgbClr val="111A2C"/>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64808" y="2999232"/>
            <a:ext cx="4956048" cy="1828800"/>
          </a:xfrm>
          <a:prstGeom prst="rect">
            <a:avLst/>
          </a:prstGeom>
          <a:noFill/>
        </p:spPr>
        <p:txBody>
          <a:bodyPr wrap="square" lIns="0" rIns="0" tIns="0" bIns="0" anchor="t">
            <a:spAutoFit/>
          </a:bodyPr>
          <a:lstStyle/>
          <a:p>
            <a:pPr algn="l">
              <a:lnSpc>
                <a:spcPct val="112000"/>
              </a:lnSpc>
              <a:spcAft>
                <a:spcPts val="700"/>
              </a:spcAft>
            </a:pPr>
            <a:r>
              <a:rPr sz="1050" b="1">
                <a:solidFill>
                  <a:srgbClr val="2FD8B4"/>
                </a:solidFill>
                <a:latin typeface="Consolas"/>
              </a:rPr>
              <a:t>WHY THIS SLIDE MATTERS</a:t>
            </a:r>
          </a:p>
          <a:p>
            <a:pPr algn="l">
              <a:lnSpc>
                <a:spcPct val="120000"/>
              </a:lnSpc>
              <a:spcAft>
                <a:spcPts val="0"/>
              </a:spcAft>
            </a:pPr>
            <a:r>
              <a:rPr sz="1100" b="0">
                <a:solidFill>
                  <a:srgbClr val="EAF0F7"/>
                </a:solidFill>
                <a:latin typeface="Segoe UI"/>
              </a:rPr>
              <a:t>The single most common failure in student ML projects is a notebook that scores well and an app that scores differently. Here the same preprocessing module builds the feature frame for training, for the test-set evaluation, for the live upload — and a unit test asserts the saved column list matches what the model expects.</a:t>
            </a:r>
          </a:p>
        </p:txBody>
      </p:sp>
      <p:sp>
        <p:nvSpPr>
          <p:cNvPr id="21" name="Rectangle 20"/>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6510528"/>
            <a:ext cx="731520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RetainIQ · Signal Ops Console</a:t>
            </a:r>
          </a:p>
        </p:txBody>
      </p:sp>
      <p:sp>
        <p:nvSpPr>
          <p:cNvPr id="23" name="TextBox 22"/>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7315200" cy="237744"/>
          </a:xfrm>
          <a:prstGeom prst="rect">
            <a:avLst/>
          </a:prstGeom>
          <a:noFill/>
        </p:spPr>
        <p:txBody>
          <a:bodyPr wrap="square" lIns="0" rIns="0" tIns="0" bIns="0" anchor="t">
            <a:spAutoFit/>
          </a:bodyPr>
          <a:lstStyle/>
          <a:p>
            <a:pPr algn="l">
              <a:lnSpc>
                <a:spcPct val="112000"/>
              </a:lnSpc>
              <a:spcAft>
                <a:spcPts val="0"/>
              </a:spcAft>
            </a:pPr>
            <a:r>
              <a:rPr sz="1000" b="1">
                <a:solidFill>
                  <a:srgbClr val="2FD8B4"/>
                </a:solidFill>
                <a:latin typeface="Consolas"/>
              </a:rPr>
              <a:t>02  ·  MODELLING</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Four algorithms, one pipeline</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Same features, same split, same scoring code — only the algorithm changes</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rt_models.png"/>
          <p:cNvPicPr>
            <a:picLocks noChangeAspect="1"/>
          </p:cNvPicPr>
          <p:nvPr/>
        </p:nvPicPr>
        <p:blipFill>
          <a:blip r:embed="rId2"/>
          <a:stretch>
            <a:fillRect/>
          </a:stretch>
        </p:blipFill>
        <p:spPr>
          <a:xfrm>
            <a:off x="1379187" y="1554480"/>
            <a:ext cx="5553521" cy="3145536"/>
          </a:xfrm>
          <a:prstGeom prst="rect">
            <a:avLst/>
          </a:prstGeom>
        </p:spPr>
      </p:pic>
      <p:sp>
        <p:nvSpPr>
          <p:cNvPr id="8" name="TextBox 7"/>
          <p:cNvSpPr txBox="1"/>
          <p:nvPr/>
        </p:nvSpPr>
        <p:spPr>
          <a:xfrm>
            <a:off x="8001000" y="1609344"/>
            <a:ext cx="3621024" cy="3017520"/>
          </a:xfrm>
          <a:prstGeom prst="rect">
            <a:avLst/>
          </a:prstGeom>
          <a:noFill/>
        </p:spPr>
        <p:txBody>
          <a:bodyPr wrap="square" lIns="0" rIns="0" tIns="0" bIns="0" anchor="t">
            <a:spAutoFit/>
          </a:bodyPr>
          <a:lstStyle/>
          <a:p>
            <a:pPr algn="l">
              <a:lnSpc>
                <a:spcPct val="112000"/>
              </a:lnSpc>
              <a:spcAft>
                <a:spcPts val="100"/>
              </a:spcAft>
            </a:pPr>
            <a:r>
              <a:rPr sz="1080" b="1">
                <a:solidFill>
                  <a:srgbClr val="2FD8B4"/>
                </a:solidFill>
                <a:latin typeface="Segoe UI"/>
              </a:rPr>
              <a:t>▸  Logistic Regression</a:t>
            </a:r>
          </a:p>
          <a:p>
            <a:pPr algn="l">
              <a:lnSpc>
                <a:spcPct val="118000"/>
              </a:lnSpc>
              <a:spcAft>
                <a:spcPts val="0"/>
              </a:spcAft>
            </a:pPr>
            <a:r>
              <a:rPr sz="1030" b="0">
                <a:solidFill>
                  <a:srgbClr val="EAF0F7"/>
                </a:solidFill>
                <a:latin typeface="Segoe UI"/>
              </a:rPr>
              <a:t>     linear baseline; interpretable coefficients</a:t>
            </a:r>
          </a:p>
          <a:p>
            <a:pPr algn="l">
              <a:lnSpc>
                <a:spcPct val="112000"/>
              </a:lnSpc>
              <a:spcBef>
                <a:spcPts val="800"/>
              </a:spcBef>
              <a:spcAft>
                <a:spcPts val="100"/>
              </a:spcAft>
            </a:pPr>
            <a:r>
              <a:rPr sz="1080" b="1">
                <a:solidFill>
                  <a:srgbClr val="2FD8B4"/>
                </a:solidFill>
                <a:latin typeface="Segoe UI"/>
              </a:rPr>
              <a:t>▸  Random Forest</a:t>
            </a:r>
          </a:p>
          <a:p>
            <a:pPr algn="l">
              <a:lnSpc>
                <a:spcPct val="118000"/>
              </a:lnSpc>
              <a:spcAft>
                <a:spcPts val="0"/>
              </a:spcAft>
            </a:pPr>
            <a:r>
              <a:rPr sz="1030" b="0">
                <a:solidFill>
                  <a:srgbClr val="EAF0F7"/>
                </a:solidFill>
                <a:latin typeface="Segoe UI"/>
              </a:rPr>
              <a:t>     bagged trees; captures non-linearity</a:t>
            </a:r>
          </a:p>
          <a:p>
            <a:pPr algn="l">
              <a:lnSpc>
                <a:spcPct val="112000"/>
              </a:lnSpc>
              <a:spcBef>
                <a:spcPts val="800"/>
              </a:spcBef>
              <a:spcAft>
                <a:spcPts val="100"/>
              </a:spcAft>
            </a:pPr>
            <a:r>
              <a:rPr sz="1080" b="1">
                <a:solidFill>
                  <a:srgbClr val="2FD8B4"/>
                </a:solidFill>
                <a:latin typeface="Segoe UI"/>
              </a:rPr>
              <a:t>▸  XGBoost &amp; LightGBM</a:t>
            </a:r>
          </a:p>
          <a:p>
            <a:pPr algn="l">
              <a:lnSpc>
                <a:spcPct val="118000"/>
              </a:lnSpc>
              <a:spcAft>
                <a:spcPts val="0"/>
              </a:spcAft>
            </a:pPr>
            <a:r>
              <a:rPr sz="1030" b="0">
                <a:solidFill>
                  <a:srgbClr val="EAF0F7"/>
                </a:solidFill>
                <a:latin typeface="Segoe UI"/>
              </a:rPr>
              <a:t>     gradient boosting; strong tabular performers</a:t>
            </a:r>
          </a:p>
        </p:txBody>
      </p:sp>
      <p:sp>
        <p:nvSpPr>
          <p:cNvPr id="9" name="Rounded Rectangle 8"/>
          <p:cNvSpPr/>
          <p:nvPr/>
        </p:nvSpPr>
        <p:spPr>
          <a:xfrm>
            <a:off x="8001000" y="3730752"/>
            <a:ext cx="3621024" cy="969264"/>
          </a:xfrm>
          <a:prstGeom prst="roundRect">
            <a:avLst>
              <a:gd name="adj" fmla="val 8000"/>
            </a:avLst>
          </a:prstGeom>
          <a:solidFill>
            <a:srgbClr val="162136"/>
          </a:solidFill>
          <a:ln w="15240">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65592" y="3840480"/>
            <a:ext cx="3291840" cy="786384"/>
          </a:xfrm>
          <a:prstGeom prst="rect">
            <a:avLst/>
          </a:prstGeom>
          <a:noFill/>
        </p:spPr>
        <p:txBody>
          <a:bodyPr wrap="square" lIns="0" rIns="0" tIns="0" bIns="0" anchor="t">
            <a:spAutoFit/>
          </a:bodyPr>
          <a:lstStyle/>
          <a:p>
            <a:pPr algn="l">
              <a:lnSpc>
                <a:spcPct val="112000"/>
              </a:lnSpc>
              <a:spcAft>
                <a:spcPts val="300"/>
              </a:spcAft>
            </a:pPr>
            <a:r>
              <a:rPr sz="1019" b="1">
                <a:solidFill>
                  <a:srgbClr val="F5A623"/>
                </a:solidFill>
                <a:latin typeface="Segoe UI"/>
              </a:rPr>
              <a:t>Benchmark ladder (F1)</a:t>
            </a:r>
          </a:p>
          <a:p>
            <a:pPr algn="l">
              <a:lnSpc>
                <a:spcPct val="112000"/>
              </a:lnSpc>
              <a:spcAft>
                <a:spcPts val="0"/>
              </a:spcAft>
            </a:pPr>
            <a:r>
              <a:rPr sz="1019" b="0">
                <a:solidFill>
                  <a:srgbClr val="EAF0F7"/>
                </a:solidFill>
                <a:latin typeface="Consolas"/>
              </a:rPr>
              <a:t>LR 60.6  ·  LightGBM 59.6  ·  XGBoost 58.5  ·  RF 57.1</a:t>
            </a:r>
          </a:p>
        </p:txBody>
      </p:sp>
      <p:sp>
        <p:nvSpPr>
          <p:cNvPr id="11" name="Rounded Rectangle 10"/>
          <p:cNvSpPr/>
          <p:nvPr/>
        </p:nvSpPr>
        <p:spPr>
          <a:xfrm>
            <a:off x="566928" y="4828032"/>
            <a:ext cx="11057839" cy="932688"/>
          </a:xfrm>
          <a:prstGeom prst="roundRect">
            <a:avLst>
              <a:gd name="adj" fmla="val 8000"/>
            </a:avLst>
          </a:prstGeom>
          <a:solidFill>
            <a:srgbClr val="162136"/>
          </a:solidFill>
          <a:ln w="15240">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4956048"/>
            <a:ext cx="10692079" cy="694944"/>
          </a:xfrm>
          <a:prstGeom prst="rect">
            <a:avLst/>
          </a:prstGeom>
          <a:noFill/>
        </p:spPr>
        <p:txBody>
          <a:bodyPr wrap="square" lIns="0" rIns="0" tIns="0" bIns="0" anchor="t">
            <a:spAutoFit/>
          </a:bodyPr>
          <a:lstStyle/>
          <a:p>
            <a:pPr algn="l">
              <a:lnSpc>
                <a:spcPct val="112000"/>
              </a:lnSpc>
              <a:spcAft>
                <a:spcPts val="300"/>
              </a:spcAft>
            </a:pPr>
            <a:r>
              <a:rPr sz="1150" b="1">
                <a:solidFill>
                  <a:srgbClr val="F5A623"/>
                </a:solidFill>
                <a:latin typeface="Segoe UI"/>
              </a:rPr>
              <a:t>WHY FOUR MODELS AND NOT ONE</a:t>
            </a:r>
          </a:p>
          <a:p>
            <a:pPr algn="l">
              <a:lnSpc>
                <a:spcPct val="116000"/>
              </a:lnSpc>
              <a:spcAft>
                <a:spcPts val="0"/>
              </a:spcAft>
            </a:pPr>
            <a:r>
              <a:rPr sz="1080" b="0">
                <a:solidFill>
                  <a:srgbClr val="EAF0F7"/>
                </a:solidFill>
                <a:latin typeface="Segoe UI"/>
              </a:rPr>
              <a:t>A single model proves nothing. Four algorithms on the same pipeline show the result is a property of the features and the problem — not of one lucky configuration. Accuracy, precision, recall, F1 and ROC-AUC were all recorded, and the winner was chosen on F1 and ROC-AUC, not accuracy.</a:t>
            </a:r>
          </a:p>
        </p:txBody>
      </p:sp>
      <p:sp>
        <p:nvSpPr>
          <p:cNvPr id="13" name="Rectangle 12"/>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6510528"/>
            <a:ext cx="731520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RetainIQ · Signal Ops Console</a:t>
            </a:r>
          </a:p>
        </p:txBody>
      </p:sp>
      <p:sp>
        <p:nvSpPr>
          <p:cNvPr id="15" name="TextBox 14"/>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7315200" cy="237744"/>
          </a:xfrm>
          <a:prstGeom prst="rect">
            <a:avLst/>
          </a:prstGeom>
          <a:noFill/>
        </p:spPr>
        <p:txBody>
          <a:bodyPr wrap="square" lIns="0" rIns="0" tIns="0" bIns="0" anchor="t">
            <a:spAutoFit/>
          </a:bodyPr>
          <a:lstStyle/>
          <a:p>
            <a:pPr algn="l">
              <a:lnSpc>
                <a:spcPct val="112000"/>
              </a:lnSpc>
              <a:spcAft>
                <a:spcPts val="0"/>
              </a:spcAft>
            </a:pPr>
            <a:r>
              <a:rPr sz="1000" b="1">
                <a:solidFill>
                  <a:srgbClr val="2FD8B4"/>
                </a:solidFill>
                <a:latin typeface="Consolas"/>
              </a:rPr>
              <a:t>02  ·  EVALUATION</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Why Logistic Regression ships</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Held-out test set, 1,409 customers the model never saw in training</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rt_confusion.png"/>
          <p:cNvPicPr>
            <a:picLocks noChangeAspect="1"/>
          </p:cNvPicPr>
          <p:nvPr/>
        </p:nvPicPr>
        <p:blipFill>
          <a:blip r:embed="rId2"/>
          <a:stretch>
            <a:fillRect/>
          </a:stretch>
        </p:blipFill>
        <p:spPr>
          <a:xfrm>
            <a:off x="1169393" y="1536192"/>
            <a:ext cx="3687109" cy="2761488"/>
          </a:xfrm>
          <a:prstGeom prst="rect">
            <a:avLst/>
          </a:prstGeom>
        </p:spPr>
      </p:pic>
      <p:pic>
        <p:nvPicPr>
          <p:cNvPr id="8" name="Picture 7" descr="chart_roc.png"/>
          <p:cNvPicPr>
            <a:picLocks noChangeAspect="1"/>
          </p:cNvPicPr>
          <p:nvPr/>
        </p:nvPicPr>
        <p:blipFill>
          <a:blip r:embed="rId3"/>
          <a:stretch>
            <a:fillRect/>
          </a:stretch>
        </p:blipFill>
        <p:spPr>
          <a:xfrm>
            <a:off x="6321302" y="1536192"/>
            <a:ext cx="3213090" cy="2761488"/>
          </a:xfrm>
          <a:prstGeom prst="rect">
            <a:avLst/>
          </a:prstGeom>
        </p:spPr>
      </p:pic>
      <p:sp>
        <p:nvSpPr>
          <p:cNvPr id="9" name="Rounded Rectangle 8"/>
          <p:cNvSpPr/>
          <p:nvPr/>
        </p:nvSpPr>
        <p:spPr>
          <a:xfrm>
            <a:off x="566928" y="4425696"/>
            <a:ext cx="2094524" cy="85953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4553712"/>
            <a:ext cx="1838492" cy="658368"/>
          </a:xfrm>
          <a:prstGeom prst="rect">
            <a:avLst/>
          </a:prstGeom>
          <a:noFill/>
        </p:spPr>
        <p:txBody>
          <a:bodyPr wrap="square" lIns="0" rIns="0" tIns="0" bIns="0" anchor="t">
            <a:spAutoFit/>
          </a:bodyPr>
          <a:lstStyle/>
          <a:p>
            <a:pPr algn="l">
              <a:lnSpc>
                <a:spcPct val="112000"/>
              </a:lnSpc>
              <a:spcAft>
                <a:spcPts val="200"/>
              </a:spcAft>
            </a:pPr>
            <a:r>
              <a:rPr sz="1900" b="1">
                <a:solidFill>
                  <a:srgbClr val="EAF0F7"/>
                </a:solidFill>
                <a:latin typeface="Segoe UI"/>
              </a:rPr>
              <a:t>80.34%</a:t>
            </a:r>
          </a:p>
          <a:p>
            <a:pPr algn="l">
              <a:lnSpc>
                <a:spcPct val="112000"/>
              </a:lnSpc>
              <a:spcAft>
                <a:spcPts val="0"/>
              </a:spcAft>
            </a:pPr>
            <a:r>
              <a:rPr sz="900" b="0">
                <a:solidFill>
                  <a:srgbClr val="8CA0BE"/>
                </a:solidFill>
                <a:latin typeface="Segoe UI"/>
              </a:rPr>
              <a:t>ACCURACY</a:t>
            </a:r>
          </a:p>
        </p:txBody>
      </p:sp>
      <p:sp>
        <p:nvSpPr>
          <p:cNvPr id="11" name="Rounded Rectangle 10"/>
          <p:cNvSpPr/>
          <p:nvPr/>
        </p:nvSpPr>
        <p:spPr>
          <a:xfrm>
            <a:off x="2807756" y="4425696"/>
            <a:ext cx="2094524" cy="85953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54060" y="4553712"/>
            <a:ext cx="1838492" cy="658368"/>
          </a:xfrm>
          <a:prstGeom prst="rect">
            <a:avLst/>
          </a:prstGeom>
          <a:noFill/>
        </p:spPr>
        <p:txBody>
          <a:bodyPr wrap="square" lIns="0" rIns="0" tIns="0" bIns="0" anchor="t">
            <a:spAutoFit/>
          </a:bodyPr>
          <a:lstStyle/>
          <a:p>
            <a:pPr algn="l">
              <a:lnSpc>
                <a:spcPct val="112000"/>
              </a:lnSpc>
              <a:spcAft>
                <a:spcPts val="200"/>
              </a:spcAft>
            </a:pPr>
            <a:r>
              <a:rPr sz="1900" b="1">
                <a:solidFill>
                  <a:srgbClr val="EAF0F7"/>
                </a:solidFill>
                <a:latin typeface="Segoe UI"/>
              </a:rPr>
              <a:t>64.74%</a:t>
            </a:r>
          </a:p>
          <a:p>
            <a:pPr algn="l">
              <a:lnSpc>
                <a:spcPct val="112000"/>
              </a:lnSpc>
              <a:spcAft>
                <a:spcPts val="0"/>
              </a:spcAft>
            </a:pPr>
            <a:r>
              <a:rPr sz="900" b="0">
                <a:solidFill>
                  <a:srgbClr val="8CA0BE"/>
                </a:solidFill>
                <a:latin typeface="Segoe UI"/>
              </a:rPr>
              <a:t>PRECISION</a:t>
            </a:r>
          </a:p>
        </p:txBody>
      </p:sp>
      <p:sp>
        <p:nvSpPr>
          <p:cNvPr id="13" name="Rounded Rectangle 12"/>
          <p:cNvSpPr/>
          <p:nvPr/>
        </p:nvSpPr>
        <p:spPr>
          <a:xfrm>
            <a:off x="5048585" y="4425696"/>
            <a:ext cx="2094524" cy="85953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94889" y="4553712"/>
            <a:ext cx="1838492" cy="658368"/>
          </a:xfrm>
          <a:prstGeom prst="rect">
            <a:avLst/>
          </a:prstGeom>
          <a:noFill/>
        </p:spPr>
        <p:txBody>
          <a:bodyPr wrap="square" lIns="0" rIns="0" tIns="0" bIns="0" anchor="t">
            <a:spAutoFit/>
          </a:bodyPr>
          <a:lstStyle/>
          <a:p>
            <a:pPr algn="l">
              <a:lnSpc>
                <a:spcPct val="112000"/>
              </a:lnSpc>
              <a:spcAft>
                <a:spcPts val="200"/>
              </a:spcAft>
            </a:pPr>
            <a:r>
              <a:rPr sz="1900" b="1">
                <a:solidFill>
                  <a:srgbClr val="F5A623"/>
                </a:solidFill>
                <a:latin typeface="Segoe UI"/>
              </a:rPr>
              <a:t>56.95%</a:t>
            </a:r>
          </a:p>
          <a:p>
            <a:pPr algn="l">
              <a:lnSpc>
                <a:spcPct val="112000"/>
              </a:lnSpc>
              <a:spcAft>
                <a:spcPts val="0"/>
              </a:spcAft>
            </a:pPr>
            <a:r>
              <a:rPr sz="900" b="0">
                <a:solidFill>
                  <a:srgbClr val="8CA0BE"/>
                </a:solidFill>
                <a:latin typeface="Segoe UI"/>
              </a:rPr>
              <a:t>RECALL</a:t>
            </a:r>
          </a:p>
        </p:txBody>
      </p:sp>
      <p:sp>
        <p:nvSpPr>
          <p:cNvPr id="15" name="Rounded Rectangle 14"/>
          <p:cNvSpPr/>
          <p:nvPr/>
        </p:nvSpPr>
        <p:spPr>
          <a:xfrm>
            <a:off x="7289413" y="4425696"/>
            <a:ext cx="2094524" cy="85953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35717" y="4553712"/>
            <a:ext cx="1838492" cy="658368"/>
          </a:xfrm>
          <a:prstGeom prst="rect">
            <a:avLst/>
          </a:prstGeom>
          <a:noFill/>
        </p:spPr>
        <p:txBody>
          <a:bodyPr wrap="square" lIns="0" rIns="0" tIns="0" bIns="0" anchor="t">
            <a:spAutoFit/>
          </a:bodyPr>
          <a:lstStyle/>
          <a:p>
            <a:pPr algn="l">
              <a:lnSpc>
                <a:spcPct val="112000"/>
              </a:lnSpc>
              <a:spcAft>
                <a:spcPts val="200"/>
              </a:spcAft>
            </a:pPr>
            <a:r>
              <a:rPr sz="1900" b="1">
                <a:solidFill>
                  <a:srgbClr val="2FD8B4"/>
                </a:solidFill>
                <a:latin typeface="Segoe UI"/>
              </a:rPr>
              <a:t>60.60%</a:t>
            </a:r>
          </a:p>
          <a:p>
            <a:pPr algn="l">
              <a:lnSpc>
                <a:spcPct val="112000"/>
              </a:lnSpc>
              <a:spcAft>
                <a:spcPts val="0"/>
              </a:spcAft>
            </a:pPr>
            <a:r>
              <a:rPr sz="900" b="0">
                <a:solidFill>
                  <a:srgbClr val="8CA0BE"/>
                </a:solidFill>
                <a:latin typeface="Segoe UI"/>
              </a:rPr>
              <a:t>F1 SCORE</a:t>
            </a:r>
          </a:p>
        </p:txBody>
      </p:sp>
      <p:sp>
        <p:nvSpPr>
          <p:cNvPr id="17" name="Rounded Rectangle 16"/>
          <p:cNvSpPr/>
          <p:nvPr/>
        </p:nvSpPr>
        <p:spPr>
          <a:xfrm>
            <a:off x="9530242" y="4425696"/>
            <a:ext cx="2094524" cy="85953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76546" y="4553712"/>
            <a:ext cx="1838492" cy="658368"/>
          </a:xfrm>
          <a:prstGeom prst="rect">
            <a:avLst/>
          </a:prstGeom>
          <a:noFill/>
        </p:spPr>
        <p:txBody>
          <a:bodyPr wrap="square" lIns="0" rIns="0" tIns="0" bIns="0" anchor="t">
            <a:spAutoFit/>
          </a:bodyPr>
          <a:lstStyle/>
          <a:p>
            <a:pPr algn="l">
              <a:lnSpc>
                <a:spcPct val="112000"/>
              </a:lnSpc>
              <a:spcAft>
                <a:spcPts val="200"/>
              </a:spcAft>
            </a:pPr>
            <a:r>
              <a:rPr sz="1900" b="1">
                <a:solidFill>
                  <a:srgbClr val="2FD8B4"/>
                </a:solidFill>
                <a:latin typeface="Segoe UI"/>
              </a:rPr>
              <a:t>84.91%</a:t>
            </a:r>
          </a:p>
          <a:p>
            <a:pPr algn="l">
              <a:lnSpc>
                <a:spcPct val="112000"/>
              </a:lnSpc>
              <a:spcAft>
                <a:spcPts val="0"/>
              </a:spcAft>
            </a:pPr>
            <a:r>
              <a:rPr sz="900" b="0">
                <a:solidFill>
                  <a:srgbClr val="8CA0BE"/>
                </a:solidFill>
                <a:latin typeface="Segoe UI"/>
              </a:rPr>
              <a:t>ROC-AUC</a:t>
            </a:r>
          </a:p>
        </p:txBody>
      </p:sp>
      <p:sp>
        <p:nvSpPr>
          <p:cNvPr id="19" name="TextBox 18"/>
          <p:cNvSpPr txBox="1"/>
          <p:nvPr/>
        </p:nvSpPr>
        <p:spPr>
          <a:xfrm>
            <a:off x="566928" y="5376672"/>
            <a:ext cx="11057839" cy="457200"/>
          </a:xfrm>
          <a:prstGeom prst="rect">
            <a:avLst/>
          </a:prstGeom>
          <a:noFill/>
        </p:spPr>
        <p:txBody>
          <a:bodyPr wrap="square" lIns="0" rIns="0" tIns="0" bIns="0" anchor="t">
            <a:spAutoFit/>
          </a:bodyPr>
          <a:lstStyle/>
          <a:p>
            <a:pPr algn="l">
              <a:lnSpc>
                <a:spcPct val="116000"/>
              </a:lnSpc>
              <a:spcAft>
                <a:spcPts val="0"/>
              </a:spcAft>
            </a:pPr>
            <a:r>
              <a:rPr sz="1080" b="0">
                <a:solidFill>
                  <a:srgbClr val="8CA0BE"/>
                </a:solidFill>
                <a:latin typeface="Segoe UI"/>
              </a:rPr>
              <a:t>Honest reading: the model catches 213 of 374 churners in the test set (56.95% recall) and is right 64.74% of the time when it raises a flag. For a retention team that is a usable work queue — and the missed half is the number one item in the future-work slide.</a:t>
            </a:r>
          </a:p>
        </p:txBody>
      </p:sp>
      <p:sp>
        <p:nvSpPr>
          <p:cNvPr id="20" name="Rectangle 19"/>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6510528"/>
            <a:ext cx="731520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RetainIQ · Signal Ops Console</a:t>
            </a:r>
          </a:p>
        </p:txBody>
      </p:sp>
      <p:sp>
        <p:nvSpPr>
          <p:cNvPr id="22" name="TextBox 21"/>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7315200" cy="237744"/>
          </a:xfrm>
          <a:prstGeom prst="rect">
            <a:avLst/>
          </a:prstGeom>
          <a:noFill/>
        </p:spPr>
        <p:txBody>
          <a:bodyPr wrap="square" lIns="0" rIns="0" tIns="0" bIns="0" anchor="t">
            <a:spAutoFit/>
          </a:bodyPr>
          <a:lstStyle/>
          <a:p>
            <a:pPr algn="l">
              <a:lnSpc>
                <a:spcPct val="112000"/>
              </a:lnSpc>
              <a:spcAft>
                <a:spcPts val="0"/>
              </a:spcAft>
            </a:pPr>
            <a:r>
              <a:rPr sz="1000" b="1">
                <a:solidFill>
                  <a:srgbClr val="2FD8B4"/>
                </a:solidFill>
                <a:latin typeface="Consolas"/>
              </a:rPr>
              <a:t>03  ·  RISK SEGMENTATION</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Turning a probability into a work queue</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Every scored customer lands in one of three operational bands</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536192"/>
            <a:ext cx="3539642" cy="859536"/>
          </a:xfrm>
          <a:prstGeom prst="roundRect">
            <a:avLst>
              <a:gd name="adj" fmla="val 8000"/>
            </a:avLst>
          </a:prstGeom>
          <a:solidFill>
            <a:srgbClr val="111A2C"/>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 y="1645919"/>
            <a:ext cx="3137306" cy="658368"/>
          </a:xfrm>
          <a:prstGeom prst="rect">
            <a:avLst/>
          </a:prstGeom>
          <a:noFill/>
        </p:spPr>
        <p:txBody>
          <a:bodyPr wrap="square" lIns="0" rIns="0" tIns="0" bIns="0" anchor="t">
            <a:spAutoFit/>
          </a:bodyPr>
          <a:lstStyle/>
          <a:p>
            <a:pPr algn="l">
              <a:lnSpc>
                <a:spcPct val="112000"/>
              </a:lnSpc>
              <a:spcAft>
                <a:spcPts val="200"/>
              </a:spcAft>
            </a:pPr>
            <a:r>
              <a:rPr sz="1150" b="1">
                <a:solidFill>
                  <a:srgbClr val="2FD8B4"/>
                </a:solidFill>
                <a:latin typeface="Consolas"/>
              </a:rPr>
              <a:t>&lt; 30%   LOW RISK</a:t>
            </a:r>
          </a:p>
          <a:p>
            <a:pPr algn="l">
              <a:lnSpc>
                <a:spcPct val="112000"/>
              </a:lnSpc>
              <a:spcAft>
                <a:spcPts val="0"/>
              </a:spcAft>
            </a:pPr>
            <a:r>
              <a:rPr sz="1250" b="0">
                <a:solidFill>
                  <a:srgbClr val="EAF0F7"/>
                </a:solidFill>
                <a:latin typeface="Segoe UI"/>
              </a:rPr>
              <a:t>4,435 customers</a:t>
            </a:r>
          </a:p>
        </p:txBody>
      </p:sp>
      <p:sp>
        <p:nvSpPr>
          <p:cNvPr id="9" name="Rounded Rectangle 8"/>
          <p:cNvSpPr/>
          <p:nvPr/>
        </p:nvSpPr>
        <p:spPr>
          <a:xfrm>
            <a:off x="4326026" y="1536192"/>
            <a:ext cx="3539642" cy="859536"/>
          </a:xfrm>
          <a:prstGeom prst="roundRect">
            <a:avLst>
              <a:gd name="adj" fmla="val 8000"/>
            </a:avLst>
          </a:prstGeom>
          <a:solidFill>
            <a:srgbClr val="111A2C"/>
          </a:solidFill>
          <a:ln w="15240">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7194" y="1645919"/>
            <a:ext cx="3137306" cy="658368"/>
          </a:xfrm>
          <a:prstGeom prst="rect">
            <a:avLst/>
          </a:prstGeom>
          <a:noFill/>
        </p:spPr>
        <p:txBody>
          <a:bodyPr wrap="square" lIns="0" rIns="0" tIns="0" bIns="0" anchor="t">
            <a:spAutoFit/>
          </a:bodyPr>
          <a:lstStyle/>
          <a:p>
            <a:pPr algn="l">
              <a:lnSpc>
                <a:spcPct val="112000"/>
              </a:lnSpc>
              <a:spcAft>
                <a:spcPts val="200"/>
              </a:spcAft>
            </a:pPr>
            <a:r>
              <a:rPr sz="1150" b="1">
                <a:solidFill>
                  <a:srgbClr val="F5A623"/>
                </a:solidFill>
                <a:latin typeface="Consolas"/>
              </a:rPr>
              <a:t>30 – 60%   MEDIUM RISK</a:t>
            </a:r>
          </a:p>
          <a:p>
            <a:pPr algn="l">
              <a:lnSpc>
                <a:spcPct val="112000"/>
              </a:lnSpc>
              <a:spcAft>
                <a:spcPts val="0"/>
              </a:spcAft>
            </a:pPr>
            <a:r>
              <a:rPr sz="1250" b="0">
                <a:solidFill>
                  <a:srgbClr val="EAF0F7"/>
                </a:solidFill>
                <a:latin typeface="Segoe UI"/>
              </a:rPr>
              <a:t>1,473 customers</a:t>
            </a:r>
          </a:p>
        </p:txBody>
      </p:sp>
      <p:sp>
        <p:nvSpPr>
          <p:cNvPr id="11" name="Rounded Rectangle 10"/>
          <p:cNvSpPr/>
          <p:nvPr/>
        </p:nvSpPr>
        <p:spPr>
          <a:xfrm>
            <a:off x="8085124" y="1536192"/>
            <a:ext cx="3539642" cy="859536"/>
          </a:xfrm>
          <a:prstGeom prst="roundRect">
            <a:avLst>
              <a:gd name="adj" fmla="val 8000"/>
            </a:avLst>
          </a:prstGeom>
          <a:solidFill>
            <a:srgbClr val="111A2C"/>
          </a:solidFill>
          <a:ln w="15240">
            <a:solidFill>
              <a:srgbClr val="FF5C6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6292" y="1645919"/>
            <a:ext cx="3137306" cy="658368"/>
          </a:xfrm>
          <a:prstGeom prst="rect">
            <a:avLst/>
          </a:prstGeom>
          <a:noFill/>
        </p:spPr>
        <p:txBody>
          <a:bodyPr wrap="square" lIns="0" rIns="0" tIns="0" bIns="0" anchor="t">
            <a:spAutoFit/>
          </a:bodyPr>
          <a:lstStyle/>
          <a:p>
            <a:pPr algn="l">
              <a:lnSpc>
                <a:spcPct val="112000"/>
              </a:lnSpc>
              <a:spcAft>
                <a:spcPts val="200"/>
              </a:spcAft>
            </a:pPr>
            <a:r>
              <a:rPr sz="1150" b="1">
                <a:solidFill>
                  <a:srgbClr val="FF5C6C"/>
                </a:solidFill>
                <a:latin typeface="Consolas"/>
              </a:rPr>
              <a:t>≥ 60%   HIGH RISK</a:t>
            </a:r>
          </a:p>
          <a:p>
            <a:pPr algn="l">
              <a:lnSpc>
                <a:spcPct val="112000"/>
              </a:lnSpc>
              <a:spcAft>
                <a:spcPts val="0"/>
              </a:spcAft>
            </a:pPr>
            <a:r>
              <a:rPr sz="1250" b="0">
                <a:solidFill>
                  <a:srgbClr val="EAF0F7"/>
                </a:solidFill>
                <a:latin typeface="Segoe UI"/>
              </a:rPr>
              <a:t>1,135 customers</a:t>
            </a:r>
          </a:p>
        </p:txBody>
      </p:sp>
      <p:pic>
        <p:nvPicPr>
          <p:cNvPr id="13" name="Picture 12" descr="chart_risk_bands.png"/>
          <p:cNvPicPr>
            <a:picLocks noChangeAspect="1"/>
          </p:cNvPicPr>
          <p:nvPr/>
        </p:nvPicPr>
        <p:blipFill>
          <a:blip r:embed="rId2"/>
          <a:stretch>
            <a:fillRect/>
          </a:stretch>
        </p:blipFill>
        <p:spPr>
          <a:xfrm>
            <a:off x="1002067" y="2487168"/>
            <a:ext cx="6188889" cy="3127248"/>
          </a:xfrm>
          <a:prstGeom prst="rect">
            <a:avLst/>
          </a:prstGeom>
        </p:spPr>
      </p:pic>
      <p:sp>
        <p:nvSpPr>
          <p:cNvPr id="14" name="Rounded Rectangle 13"/>
          <p:cNvSpPr/>
          <p:nvPr/>
        </p:nvSpPr>
        <p:spPr>
          <a:xfrm>
            <a:off x="7882127" y="2523744"/>
            <a:ext cx="3739896" cy="1463040"/>
          </a:xfrm>
          <a:prstGeom prst="roundRect">
            <a:avLst>
              <a:gd name="adj" fmla="val 8000"/>
            </a:avLst>
          </a:prstGeom>
          <a:solidFill>
            <a:srgbClr val="162136"/>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65008" y="2651760"/>
            <a:ext cx="3410712" cy="1243584"/>
          </a:xfrm>
          <a:prstGeom prst="rect">
            <a:avLst/>
          </a:prstGeom>
          <a:noFill/>
        </p:spPr>
        <p:txBody>
          <a:bodyPr wrap="square" lIns="0" rIns="0" tIns="0" bIns="0" anchor="t">
            <a:spAutoFit/>
          </a:bodyPr>
          <a:lstStyle/>
          <a:p>
            <a:pPr algn="l">
              <a:lnSpc>
                <a:spcPct val="112000"/>
              </a:lnSpc>
              <a:spcAft>
                <a:spcPts val="500"/>
              </a:spcAft>
            </a:pPr>
            <a:r>
              <a:rPr sz="1050" b="1">
                <a:solidFill>
                  <a:srgbClr val="2FD8B4"/>
                </a:solidFill>
                <a:latin typeface="Consolas"/>
              </a:rPr>
              <a:t>VALIDATION</a:t>
            </a:r>
          </a:p>
          <a:p>
            <a:pPr algn="l">
              <a:lnSpc>
                <a:spcPct val="118000"/>
              </a:lnSpc>
              <a:spcAft>
                <a:spcPts val="0"/>
              </a:spcAft>
            </a:pPr>
            <a:r>
              <a:rPr sz="1060" b="0">
                <a:solidFill>
                  <a:srgbClr val="EAF0F7"/>
                </a:solidFill>
                <a:latin typeface="Segoe UI"/>
              </a:rPr>
              <a:t>The bands track reality: actual churn is 9.5% in low risk, 42.0% in medium and 73.0% in high risk. The segmentation is not decoration — it orders the portfolio correctly.</a:t>
            </a:r>
          </a:p>
        </p:txBody>
      </p:sp>
      <p:sp>
        <p:nvSpPr>
          <p:cNvPr id="16" name="Rounded Rectangle 15"/>
          <p:cNvSpPr/>
          <p:nvPr/>
        </p:nvSpPr>
        <p:spPr>
          <a:xfrm>
            <a:off x="7882127" y="4096511"/>
            <a:ext cx="3739896" cy="1499616"/>
          </a:xfrm>
          <a:prstGeom prst="roundRect">
            <a:avLst>
              <a:gd name="adj" fmla="val 8000"/>
            </a:avLst>
          </a:prstGeom>
          <a:solidFill>
            <a:srgbClr val="111A2C"/>
          </a:solidFill>
          <a:ln w="15240">
            <a:solidFill>
              <a:srgbClr val="FF5C6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65008" y="4224528"/>
            <a:ext cx="3410712" cy="1280160"/>
          </a:xfrm>
          <a:prstGeom prst="rect">
            <a:avLst/>
          </a:prstGeom>
          <a:noFill/>
        </p:spPr>
        <p:txBody>
          <a:bodyPr wrap="square" lIns="0" rIns="0" tIns="0" bIns="0" anchor="t">
            <a:spAutoFit/>
          </a:bodyPr>
          <a:lstStyle/>
          <a:p>
            <a:pPr algn="l">
              <a:lnSpc>
                <a:spcPct val="112000"/>
              </a:lnSpc>
              <a:spcAft>
                <a:spcPts val="500"/>
              </a:spcAft>
            </a:pPr>
            <a:r>
              <a:rPr sz="1050" b="1">
                <a:solidFill>
                  <a:srgbClr val="FF5C6C"/>
                </a:solidFill>
                <a:latin typeface="Consolas"/>
              </a:rPr>
              <a:t>THE OPERATIONAL PAYOFF</a:t>
            </a:r>
          </a:p>
          <a:p>
            <a:pPr algn="l">
              <a:lnSpc>
                <a:spcPct val="118000"/>
              </a:lnSpc>
              <a:spcAft>
                <a:spcPts val="0"/>
              </a:spcAft>
            </a:pPr>
            <a:r>
              <a:rPr sz="1060" b="0">
                <a:solidFill>
                  <a:srgbClr val="EAF0F7"/>
                </a:solidFill>
                <a:latin typeface="Segoe UI"/>
              </a:rPr>
              <a:t>Instead of calling 7,043 customers, the team starts with 1,135 (16.1% of the base) where 73% will actually leave — carrying $92,539 of recurring monthly charges.</a:t>
            </a:r>
          </a:p>
        </p:txBody>
      </p:sp>
      <p:sp>
        <p:nvSpPr>
          <p:cNvPr id="18" name="Rectangle 17"/>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6510528"/>
            <a:ext cx="731520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RetainIQ · Signal Ops Console</a:t>
            </a:r>
          </a:p>
        </p:txBody>
      </p:sp>
      <p:sp>
        <p:nvSpPr>
          <p:cNvPr id="20" name="TextBox 19"/>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7315200" cy="237744"/>
          </a:xfrm>
          <a:prstGeom prst="rect">
            <a:avLst/>
          </a:prstGeom>
          <a:noFill/>
        </p:spPr>
        <p:txBody>
          <a:bodyPr wrap="square" lIns="0" rIns="0" tIns="0" bIns="0" anchor="t">
            <a:spAutoFit/>
          </a:bodyPr>
          <a:lstStyle/>
          <a:p>
            <a:pPr algn="l">
              <a:lnSpc>
                <a:spcPct val="112000"/>
              </a:lnSpc>
              <a:spcAft>
                <a:spcPts val="0"/>
              </a:spcAft>
            </a:pPr>
            <a:r>
              <a:rPr sz="1000" b="1">
                <a:solidFill>
                  <a:srgbClr val="2FD8B4"/>
                </a:solidFill>
                <a:latin typeface="Consolas"/>
              </a:rPr>
              <a:t>03  ·  EXPLAINABILITY</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Why the model flags a customer</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A profile of the high-risk band, and a per-customer explanation in the app</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rt_high_risk_profile.png"/>
          <p:cNvPicPr>
            <a:picLocks noChangeAspect="1"/>
          </p:cNvPicPr>
          <p:nvPr/>
        </p:nvPicPr>
        <p:blipFill>
          <a:blip r:embed="rId2"/>
          <a:stretch>
            <a:fillRect/>
          </a:stretch>
        </p:blipFill>
        <p:spPr>
          <a:xfrm>
            <a:off x="599159" y="1536191"/>
            <a:ext cx="6839256" cy="3529584"/>
          </a:xfrm>
          <a:prstGeom prst="rect">
            <a:avLst/>
          </a:prstGeom>
        </p:spPr>
      </p:pic>
      <p:sp>
        <p:nvSpPr>
          <p:cNvPr id="8" name="Rounded Rectangle 7"/>
          <p:cNvSpPr/>
          <p:nvPr/>
        </p:nvSpPr>
        <p:spPr>
          <a:xfrm>
            <a:off x="7680960" y="1554480"/>
            <a:ext cx="3941063" cy="177393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0" y="1682495"/>
            <a:ext cx="3611880" cy="1554480"/>
          </a:xfrm>
          <a:prstGeom prst="rect">
            <a:avLst/>
          </a:prstGeom>
          <a:noFill/>
        </p:spPr>
        <p:txBody>
          <a:bodyPr wrap="square" lIns="0" rIns="0" tIns="0" bIns="0" anchor="t">
            <a:spAutoFit/>
          </a:bodyPr>
          <a:lstStyle/>
          <a:p>
            <a:pPr algn="l">
              <a:lnSpc>
                <a:spcPct val="112000"/>
              </a:lnSpc>
              <a:spcAft>
                <a:spcPts val="600"/>
              </a:spcAft>
            </a:pPr>
            <a:r>
              <a:rPr sz="1050" b="1">
                <a:solidFill>
                  <a:srgbClr val="2FD8B4"/>
                </a:solidFill>
                <a:latin typeface="Consolas"/>
              </a:rPr>
              <a:t>PER-CUSTOMER EXPLANATION</a:t>
            </a:r>
          </a:p>
          <a:p>
            <a:pPr algn="l">
              <a:lnSpc>
                <a:spcPct val="118000"/>
              </a:lnSpc>
              <a:spcAft>
                <a:spcPts val="0"/>
              </a:spcAft>
            </a:pPr>
            <a:r>
              <a:rPr sz="1060" b="0">
                <a:solidFill>
                  <a:srgbClr val="EAF0F7"/>
                </a:solidFill>
                <a:latin typeface="Segoe UI"/>
              </a:rPr>
              <a:t>For each prediction the console shows the top drivers, computed as coefficient × customer value — the honest linear explanation for a logistic model, with human labels like "Fiber optic internet service" or "Account tenure".</a:t>
            </a:r>
          </a:p>
        </p:txBody>
      </p:sp>
      <p:sp>
        <p:nvSpPr>
          <p:cNvPr id="10" name="Rounded Rectangle 9"/>
          <p:cNvSpPr/>
          <p:nvPr/>
        </p:nvSpPr>
        <p:spPr>
          <a:xfrm>
            <a:off x="7680960" y="3438144"/>
            <a:ext cx="3941063" cy="1645920"/>
          </a:xfrm>
          <a:prstGeom prst="roundRect">
            <a:avLst>
              <a:gd name="adj" fmla="val 8000"/>
            </a:avLst>
          </a:prstGeom>
          <a:solidFill>
            <a:srgbClr val="162136"/>
          </a:solidFill>
          <a:ln w="15240">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0" y="3566160"/>
            <a:ext cx="3575303" cy="1408176"/>
          </a:xfrm>
          <a:prstGeom prst="rect">
            <a:avLst/>
          </a:prstGeom>
          <a:noFill/>
        </p:spPr>
        <p:txBody>
          <a:bodyPr wrap="square" lIns="0" rIns="0" tIns="0" bIns="0" anchor="t">
            <a:spAutoFit/>
          </a:bodyPr>
          <a:lstStyle/>
          <a:p>
            <a:pPr algn="l">
              <a:lnSpc>
                <a:spcPct val="112000"/>
              </a:lnSpc>
              <a:spcAft>
                <a:spcPts val="300"/>
              </a:spcAft>
            </a:pPr>
            <a:r>
              <a:rPr sz="1150" b="1">
                <a:solidFill>
                  <a:srgbClr val="F5A623"/>
                </a:solidFill>
                <a:latin typeface="Segoe UI"/>
              </a:rPr>
              <a:t>ON SHAP — INTELLECTUALLY HONEST</a:t>
            </a:r>
          </a:p>
          <a:p>
            <a:pPr algn="l">
              <a:lnSpc>
                <a:spcPct val="116000"/>
              </a:lnSpc>
              <a:spcAft>
                <a:spcPts val="0"/>
              </a:spcAft>
            </a:pPr>
            <a:r>
              <a:rPr sz="1080" b="0">
                <a:solidFill>
                  <a:srgbClr val="EAF0F7"/>
                </a:solidFill>
                <a:latin typeface="Segoe UI"/>
              </a:rPr>
              <a:t>SHAP was explored during the project (summary, bar, dependence and waterfall plots are in the repository). Production explanation is aligned to the deployed Logistic Regression model instead — accurate for a linear model, and it costs nothing at request time.</a:t>
            </a:r>
          </a:p>
        </p:txBody>
      </p:sp>
      <p:sp>
        <p:nvSpPr>
          <p:cNvPr id="12" name="Rectangle 11"/>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6510528"/>
            <a:ext cx="731520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RetainIQ · Signal Ops Console</a:t>
            </a:r>
          </a:p>
        </p:txBody>
      </p:sp>
      <p:sp>
        <p:nvSpPr>
          <p:cNvPr id="14" name="TextBox 13"/>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7315200" cy="237744"/>
          </a:xfrm>
          <a:prstGeom prst="rect">
            <a:avLst/>
          </a:prstGeom>
          <a:noFill/>
        </p:spPr>
        <p:txBody>
          <a:bodyPr wrap="square" lIns="0" rIns="0" tIns="0" bIns="0" anchor="t">
            <a:spAutoFit/>
          </a:bodyPr>
          <a:lstStyle/>
          <a:p>
            <a:pPr algn="l">
              <a:lnSpc>
                <a:spcPct val="112000"/>
              </a:lnSpc>
              <a:spcAft>
                <a:spcPts val="0"/>
              </a:spcAft>
            </a:pPr>
            <a:r>
              <a:rPr sz="1000" b="1">
                <a:solidFill>
                  <a:srgbClr val="2FD8B4"/>
                </a:solidFill>
                <a:latin typeface="Consolas"/>
              </a:rPr>
              <a:t>03  ·  RETENTION INTELLIGENCE</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From risk to action — and to money</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2,608 at-risk customers (high + medium) each received a specific recommendation</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rt_revenue.png"/>
          <p:cNvPicPr>
            <a:picLocks noChangeAspect="1"/>
          </p:cNvPicPr>
          <p:nvPr/>
        </p:nvPicPr>
        <p:blipFill>
          <a:blip r:embed="rId2"/>
          <a:stretch>
            <a:fillRect/>
          </a:stretch>
        </p:blipFill>
        <p:spPr>
          <a:xfrm>
            <a:off x="655029" y="1554479"/>
            <a:ext cx="6316036" cy="2834640"/>
          </a:xfrm>
          <a:prstGeom prst="rect">
            <a:avLst/>
          </a:prstGeom>
        </p:spPr>
      </p:pic>
      <p:sp>
        <p:nvSpPr>
          <p:cNvPr id="8" name="Rounded Rectangle 7"/>
          <p:cNvSpPr/>
          <p:nvPr/>
        </p:nvSpPr>
        <p:spPr>
          <a:xfrm>
            <a:off x="7269480" y="1536192"/>
            <a:ext cx="4352544" cy="287121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52360" y="1664207"/>
            <a:ext cx="4023360" cy="2651760"/>
          </a:xfrm>
          <a:prstGeom prst="rect">
            <a:avLst/>
          </a:prstGeom>
          <a:noFill/>
        </p:spPr>
        <p:txBody>
          <a:bodyPr wrap="square" lIns="0" rIns="0" tIns="0" bIns="0" anchor="t">
            <a:spAutoFit/>
          </a:bodyPr>
          <a:lstStyle/>
          <a:p>
            <a:pPr algn="l">
              <a:lnSpc>
                <a:spcPct val="112000"/>
              </a:lnSpc>
              <a:spcAft>
                <a:spcPts val="700"/>
              </a:spcAft>
            </a:pPr>
            <a:r>
              <a:rPr sz="1050" b="1">
                <a:solidFill>
                  <a:srgbClr val="2FD8B4"/>
                </a:solidFill>
                <a:latin typeface="Consolas"/>
              </a:rPr>
              <a:t>RECOMMENDATIONS ISSUED (FULL PORTFOLIO)</a:t>
            </a:r>
          </a:p>
          <a:p>
            <a:pPr algn="l">
              <a:lnSpc>
                <a:spcPct val="112000"/>
              </a:lnSpc>
              <a:spcAft>
                <a:spcPts val="300"/>
              </a:spcAft>
            </a:pPr>
            <a:r>
              <a:rPr sz="1040" b="0">
                <a:solidFill>
                  <a:srgbClr val="EAF0F7"/>
                </a:solidFill>
                <a:latin typeface="Consolas"/>
              </a:rPr>
              <a:t>Promote Long-Term Contract            792</a:t>
            </a:r>
          </a:p>
          <a:p>
            <a:pPr algn="l">
              <a:lnSpc>
                <a:spcPct val="112000"/>
              </a:lnSpc>
              <a:spcAft>
                <a:spcPts val="300"/>
              </a:spcAft>
            </a:pPr>
            <a:r>
              <a:rPr sz="1040" b="0">
                <a:solidFill>
                  <a:srgbClr val="EAF0F7"/>
                </a:solidFill>
                <a:latin typeface="Consolas"/>
              </a:rPr>
              <a:t>5% Discount Offer                            663</a:t>
            </a:r>
          </a:p>
          <a:p>
            <a:pPr algn="l">
              <a:lnSpc>
                <a:spcPct val="112000"/>
              </a:lnSpc>
              <a:spcAft>
                <a:spcPts val="300"/>
              </a:spcAft>
            </a:pPr>
            <a:r>
              <a:rPr sz="1040" b="0">
                <a:solidFill>
                  <a:srgbClr val="EAF0F7"/>
                </a:solidFill>
                <a:latin typeface="Consolas"/>
              </a:rPr>
              <a:t>Offer 15% Discount                          658</a:t>
            </a:r>
          </a:p>
          <a:p>
            <a:pPr algn="l">
              <a:lnSpc>
                <a:spcPct val="112000"/>
              </a:lnSpc>
              <a:spcAft>
                <a:spcPts val="300"/>
              </a:spcAft>
            </a:pPr>
            <a:r>
              <a:rPr sz="1040" b="0">
                <a:solidFill>
                  <a:srgbClr val="EAF0F7"/>
                </a:solidFill>
                <a:latin typeface="Consolas"/>
              </a:rPr>
              <a:t>Welcome Retention Package          430</a:t>
            </a:r>
          </a:p>
          <a:p>
            <a:pPr algn="l">
              <a:lnSpc>
                <a:spcPct val="112000"/>
              </a:lnSpc>
              <a:spcAft>
                <a:spcPts val="300"/>
              </a:spcAft>
            </a:pPr>
            <a:r>
              <a:rPr sz="1040" b="0">
                <a:solidFill>
                  <a:srgbClr val="EAF0F7"/>
                </a:solidFill>
                <a:latin typeface="Consolas"/>
              </a:rPr>
              <a:t>Free Online Security                       45</a:t>
            </a:r>
          </a:p>
          <a:p>
            <a:pPr algn="l">
              <a:lnSpc>
                <a:spcPct val="112000"/>
              </a:lnSpc>
              <a:spcAft>
                <a:spcPts val="300"/>
              </a:spcAft>
            </a:pPr>
            <a:r>
              <a:rPr sz="1040" b="0">
                <a:solidFill>
                  <a:srgbClr val="EAF0F7"/>
                </a:solidFill>
                <a:latin typeface="Consolas"/>
              </a:rPr>
              <a:t>Switch to Autopay / Check-in          18</a:t>
            </a:r>
          </a:p>
          <a:p>
            <a:pPr algn="l">
              <a:lnSpc>
                <a:spcPct val="112000"/>
              </a:lnSpc>
              <a:spcAft>
                <a:spcPts val="800"/>
              </a:spcAft>
            </a:pPr>
            <a:r>
              <a:rPr sz="1040" b="0">
                <a:solidFill>
                  <a:srgbClr val="EAF0F7"/>
                </a:solidFill>
                <a:latin typeface="Consolas"/>
              </a:rPr>
              <a:t>Free Premium Support                      2</a:t>
            </a:r>
          </a:p>
          <a:p>
            <a:pPr algn="l">
              <a:lnSpc>
                <a:spcPct val="116000"/>
              </a:lnSpc>
              <a:spcAft>
                <a:spcPts val="0"/>
              </a:spcAft>
            </a:pPr>
            <a:r>
              <a:rPr sz="1019" b="0">
                <a:solidFill>
                  <a:srgbClr val="8CA0BE"/>
                </a:solidFill>
                <a:latin typeface="Segoe UI"/>
              </a:rPr>
              <a:t>Rules are driven by the customer's own risk factors — a month-to-month customer with no security gets a different offer than a loyal high-value one.</a:t>
            </a:r>
          </a:p>
        </p:txBody>
      </p:sp>
      <p:sp>
        <p:nvSpPr>
          <p:cNvPr id="10" name="Rounded Rectangle 9"/>
          <p:cNvSpPr/>
          <p:nvPr/>
        </p:nvSpPr>
        <p:spPr>
          <a:xfrm>
            <a:off x="566928" y="4535424"/>
            <a:ext cx="6492240" cy="1115568"/>
          </a:xfrm>
          <a:prstGeom prst="roundRect">
            <a:avLst>
              <a:gd name="adj" fmla="val 8000"/>
            </a:avLst>
          </a:prstGeom>
          <a:solidFill>
            <a:srgbClr val="162136"/>
          </a:solidFill>
          <a:ln w="15240">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4663440"/>
            <a:ext cx="6126479" cy="877824"/>
          </a:xfrm>
          <a:prstGeom prst="rect">
            <a:avLst/>
          </a:prstGeom>
          <a:noFill/>
        </p:spPr>
        <p:txBody>
          <a:bodyPr wrap="square" lIns="0" rIns="0" tIns="0" bIns="0" anchor="t">
            <a:spAutoFit/>
          </a:bodyPr>
          <a:lstStyle/>
          <a:p>
            <a:pPr algn="l">
              <a:lnSpc>
                <a:spcPct val="112000"/>
              </a:lnSpc>
              <a:spcAft>
                <a:spcPts val="300"/>
              </a:spcAft>
            </a:pPr>
            <a:r>
              <a:rPr sz="1150" b="1">
                <a:solidFill>
                  <a:srgbClr val="F5A623"/>
                </a:solidFill>
                <a:latin typeface="Segoe UI"/>
              </a:rPr>
              <a:t>SPEAK PRECISELY ABOUT THIS NUMBER</a:t>
            </a:r>
          </a:p>
          <a:p>
            <a:pPr algn="l">
              <a:lnSpc>
                <a:spcPct val="116000"/>
              </a:lnSpc>
              <a:spcAft>
                <a:spcPts val="0"/>
              </a:spcAft>
            </a:pPr>
            <a:r>
              <a:rPr sz="1080" b="0">
                <a:solidFill>
                  <a:srgbClr val="EAF0F7"/>
                </a:solidFill>
                <a:latin typeface="Segoe UI"/>
              </a:rPr>
              <a:t>RetainIQ reports monthly revenue at risk — the recurring charges sitting in flagged customers. $92,539/month in high risk, $200,302 including medium. It is exposure, not money already saved.</a:t>
            </a:r>
          </a:p>
        </p:txBody>
      </p:sp>
      <p:sp>
        <p:nvSpPr>
          <p:cNvPr id="12" name="Rounded Rectangle 11"/>
          <p:cNvSpPr/>
          <p:nvPr/>
        </p:nvSpPr>
        <p:spPr>
          <a:xfrm>
            <a:off x="7269480" y="4535424"/>
            <a:ext cx="4352544" cy="1115568"/>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4663440"/>
            <a:ext cx="4023360" cy="914400"/>
          </a:xfrm>
          <a:prstGeom prst="rect">
            <a:avLst/>
          </a:prstGeom>
          <a:noFill/>
        </p:spPr>
        <p:txBody>
          <a:bodyPr wrap="square" lIns="0" rIns="0" tIns="0" bIns="0" anchor="t">
            <a:spAutoFit/>
          </a:bodyPr>
          <a:lstStyle/>
          <a:p>
            <a:pPr algn="l">
              <a:lnSpc>
                <a:spcPct val="112000"/>
              </a:lnSpc>
              <a:spcAft>
                <a:spcPts val="500"/>
              </a:spcAft>
            </a:pPr>
            <a:r>
              <a:rPr sz="1050" b="1">
                <a:solidFill>
                  <a:srgbClr val="2FD8B4"/>
                </a:solidFill>
                <a:latin typeface="Consolas"/>
              </a:rPr>
              <a:t>DECISION FRAMEWORK</a:t>
            </a:r>
          </a:p>
          <a:p>
            <a:pPr algn="l">
              <a:lnSpc>
                <a:spcPct val="118000"/>
              </a:lnSpc>
              <a:spcAft>
                <a:spcPts val="0"/>
              </a:spcAft>
            </a:pPr>
            <a:r>
              <a:rPr sz="1040" b="0">
                <a:solidFill>
                  <a:srgbClr val="EAF0F7"/>
                </a:solidFill>
                <a:latin typeface="Segoe UI"/>
              </a:rPr>
              <a:t>Data → insight → prediction → explanation → action → business value. The platform deliberately does not stop at step three.</a:t>
            </a:r>
          </a:p>
        </p:txBody>
      </p:sp>
      <p:sp>
        <p:nvSpPr>
          <p:cNvPr id="14" name="Rectangle 13"/>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6510528"/>
            <a:ext cx="731520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RetainIQ · Signal Ops Console</a:t>
            </a:r>
          </a:p>
        </p:txBody>
      </p:sp>
      <p:sp>
        <p:nvSpPr>
          <p:cNvPr id="16" name="TextBox 15"/>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7315200" cy="237744"/>
          </a:xfrm>
          <a:prstGeom prst="rect">
            <a:avLst/>
          </a:prstGeom>
          <a:noFill/>
        </p:spPr>
        <p:txBody>
          <a:bodyPr wrap="square" lIns="0" rIns="0" tIns="0" bIns="0" anchor="t">
            <a:spAutoFit/>
          </a:bodyPr>
          <a:lstStyle/>
          <a:p>
            <a:pPr algn="l">
              <a:lnSpc>
                <a:spcPct val="112000"/>
              </a:lnSpc>
              <a:spcAft>
                <a:spcPts val="0"/>
              </a:spcAft>
            </a:pPr>
            <a:r>
              <a:rPr sz="1000" b="1">
                <a:solidFill>
                  <a:srgbClr val="2FD8B4"/>
                </a:solidFill>
                <a:latin typeface="Consolas"/>
              </a:rPr>
              <a:t>04  ·  THE PRODUCT</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The product: a Signal Ops Console</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Flask application, deployed and publicly reachable — not a notebook</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rt_architecture.png"/>
          <p:cNvPicPr>
            <a:picLocks noChangeAspect="1"/>
          </p:cNvPicPr>
          <p:nvPr/>
        </p:nvPicPr>
        <p:blipFill>
          <a:blip r:embed="rId2"/>
          <a:stretch>
            <a:fillRect/>
          </a:stretch>
        </p:blipFill>
        <p:spPr>
          <a:xfrm>
            <a:off x="3700191" y="1499616"/>
            <a:ext cx="4791313" cy="2084831"/>
          </a:xfrm>
          <a:prstGeom prst="rect">
            <a:avLst/>
          </a:prstGeom>
        </p:spPr>
      </p:pic>
      <p:pic>
        <p:nvPicPr>
          <p:cNvPr id="8" name="Picture 7" descr="01.Home.png"/>
          <p:cNvPicPr>
            <a:picLocks noChangeAspect="1"/>
          </p:cNvPicPr>
          <p:nvPr/>
        </p:nvPicPr>
        <p:blipFill>
          <a:blip r:embed="rId3"/>
          <a:stretch>
            <a:fillRect/>
          </a:stretch>
        </p:blipFill>
        <p:spPr>
          <a:xfrm>
            <a:off x="1037732" y="3675887"/>
            <a:ext cx="3282919" cy="2103120"/>
          </a:xfrm>
          <a:prstGeom prst="rect">
            <a:avLst/>
          </a:prstGeom>
        </p:spPr>
      </p:pic>
      <p:pic>
        <p:nvPicPr>
          <p:cNvPr id="9" name="Picture 8" descr="04.Bulk_prediction.png"/>
          <p:cNvPicPr>
            <a:picLocks noChangeAspect="1"/>
          </p:cNvPicPr>
          <p:nvPr/>
        </p:nvPicPr>
        <p:blipFill>
          <a:blip r:embed="rId4"/>
          <a:stretch>
            <a:fillRect/>
          </a:stretch>
        </p:blipFill>
        <p:spPr>
          <a:xfrm>
            <a:off x="5118126" y="3675887"/>
            <a:ext cx="3699202" cy="2103120"/>
          </a:xfrm>
          <a:prstGeom prst="rect">
            <a:avLst/>
          </a:prstGeom>
        </p:spPr>
      </p:pic>
      <p:sp>
        <p:nvSpPr>
          <p:cNvPr id="10" name="Rounded Rectangle 9"/>
          <p:cNvSpPr/>
          <p:nvPr/>
        </p:nvSpPr>
        <p:spPr>
          <a:xfrm>
            <a:off x="9125711" y="3675887"/>
            <a:ext cx="2496312" cy="2103120"/>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290303" y="3803903"/>
            <a:ext cx="2167128" cy="1847087"/>
          </a:xfrm>
          <a:prstGeom prst="rect">
            <a:avLst/>
          </a:prstGeom>
          <a:noFill/>
        </p:spPr>
        <p:txBody>
          <a:bodyPr wrap="square" lIns="0" rIns="0" tIns="0" bIns="0" anchor="t">
            <a:spAutoFit/>
          </a:bodyPr>
          <a:lstStyle/>
          <a:p>
            <a:pPr algn="l">
              <a:lnSpc>
                <a:spcPct val="112000"/>
              </a:lnSpc>
              <a:spcAft>
                <a:spcPts val="600"/>
              </a:spcAft>
            </a:pPr>
            <a:r>
              <a:rPr sz="1000" b="1">
                <a:solidFill>
                  <a:srgbClr val="2FD8B4"/>
                </a:solidFill>
                <a:latin typeface="Consolas"/>
              </a:rPr>
              <a:t>WHAT A USER DOES</a:t>
            </a:r>
          </a:p>
          <a:p>
            <a:pPr algn="l">
              <a:lnSpc>
                <a:spcPct val="112000"/>
              </a:lnSpc>
              <a:spcAft>
                <a:spcPts val="200"/>
              </a:spcAft>
            </a:pPr>
            <a:r>
              <a:rPr sz="950" b="0">
                <a:solidFill>
                  <a:srgbClr val="EAF0F7"/>
                </a:solidFill>
                <a:latin typeface="Segoe UI"/>
              </a:rPr>
              <a:t>1  Upload a customer CSV</a:t>
            </a:r>
          </a:p>
          <a:p>
            <a:pPr algn="l">
              <a:lnSpc>
                <a:spcPct val="112000"/>
              </a:lnSpc>
              <a:spcAft>
                <a:spcPts val="200"/>
              </a:spcAft>
            </a:pPr>
            <a:r>
              <a:rPr sz="950" b="0">
                <a:solidFill>
                  <a:srgbClr val="EAF0F7"/>
                </a:solidFill>
                <a:latin typeface="Segoe UI"/>
              </a:rPr>
              <a:t>2  Validate the file first</a:t>
            </a:r>
          </a:p>
          <a:p>
            <a:pPr algn="l">
              <a:lnSpc>
                <a:spcPct val="112000"/>
              </a:lnSpc>
              <a:spcAft>
                <a:spcPts val="200"/>
              </a:spcAft>
            </a:pPr>
            <a:r>
              <a:rPr sz="950" b="0">
                <a:solidFill>
                  <a:srgbClr val="EAF0F7"/>
                </a:solidFill>
                <a:latin typeface="Segoe UI"/>
              </a:rPr>
              <a:t>3  Score the portfolio</a:t>
            </a:r>
          </a:p>
          <a:p>
            <a:pPr algn="l">
              <a:lnSpc>
                <a:spcPct val="110000"/>
              </a:lnSpc>
              <a:spcAft>
                <a:spcPts val="200"/>
              </a:spcAft>
            </a:pPr>
            <a:r>
              <a:rPr sz="950" b="0">
                <a:solidFill>
                  <a:srgbClr val="EAF0F7"/>
                </a:solidFill>
                <a:latin typeface="Segoe UI"/>
              </a:rPr>
              <a:t>4  Read KPIs, drill into a customer</a:t>
            </a:r>
          </a:p>
          <a:p>
            <a:pPr algn="l">
              <a:lnSpc>
                <a:spcPct val="112000"/>
              </a:lnSpc>
              <a:spcAft>
                <a:spcPts val="700"/>
              </a:spcAft>
            </a:pPr>
            <a:r>
              <a:rPr sz="950" b="0">
                <a:solidFill>
                  <a:srgbClr val="EAF0F7"/>
                </a:solidFill>
                <a:latin typeface="Segoe UI"/>
              </a:rPr>
              <a:t>5  Download the report</a:t>
            </a:r>
          </a:p>
          <a:p>
            <a:pPr algn="l">
              <a:lnSpc>
                <a:spcPct val="114000"/>
              </a:lnSpc>
              <a:spcAft>
                <a:spcPts val="0"/>
              </a:spcAft>
            </a:pPr>
            <a:r>
              <a:rPr sz="919" b="0">
                <a:solidFill>
                  <a:srgbClr val="8CA0BE"/>
                </a:solidFill>
                <a:latin typeface="Segoe UI"/>
              </a:rPr>
              <a:t>Reports are private per visitor — a cookie-scoped run, not a shared folder.</a:t>
            </a:r>
          </a:p>
        </p:txBody>
      </p:sp>
      <p:sp>
        <p:nvSpPr>
          <p:cNvPr id="12" name="Rectangle 11"/>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6510528"/>
            <a:ext cx="731520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RetainIQ · Signal Ops Console</a:t>
            </a:r>
          </a:p>
        </p:txBody>
      </p:sp>
      <p:sp>
        <p:nvSpPr>
          <p:cNvPr id="14" name="TextBox 13"/>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7315200" cy="237744"/>
          </a:xfrm>
          <a:prstGeom prst="rect">
            <a:avLst/>
          </a:prstGeom>
          <a:noFill/>
        </p:spPr>
        <p:txBody>
          <a:bodyPr wrap="square" lIns="0" rIns="0" tIns="0" bIns="0" anchor="t">
            <a:spAutoFit/>
          </a:bodyPr>
          <a:lstStyle/>
          <a:p>
            <a:pPr algn="l">
              <a:lnSpc>
                <a:spcPct val="112000"/>
              </a:lnSpc>
              <a:spcAft>
                <a:spcPts val="0"/>
              </a:spcAft>
            </a:pPr>
            <a:r>
              <a:rPr sz="1000" b="1">
                <a:solidFill>
                  <a:srgbClr val="2FD8B4"/>
                </a:solidFill>
                <a:latin typeface="Consolas"/>
              </a:rPr>
              <a:t>04  ·  ENGINEERING &amp; DEPLOYMENT</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Engineering beyond the notebook</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Business intelligence, an API, automated tests and a tuned deployment</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554480"/>
            <a:ext cx="5400903" cy="1426464"/>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82495"/>
            <a:ext cx="32004" cy="1170432"/>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700784"/>
            <a:ext cx="4980279" cy="1152144"/>
          </a:xfrm>
          <a:prstGeom prst="rect">
            <a:avLst/>
          </a:prstGeom>
          <a:noFill/>
        </p:spPr>
        <p:txBody>
          <a:bodyPr wrap="square" lIns="0" rIns="0" tIns="0" bIns="0" anchor="t">
            <a:spAutoFit/>
          </a:bodyPr>
          <a:lstStyle/>
          <a:p>
            <a:pPr algn="l">
              <a:lnSpc>
                <a:spcPct val="112000"/>
              </a:lnSpc>
              <a:spcAft>
                <a:spcPts val="400"/>
              </a:spcAft>
            </a:pPr>
            <a:r>
              <a:rPr sz="1250" b="1">
                <a:solidFill>
                  <a:srgbClr val="2FD8B4"/>
                </a:solidFill>
                <a:latin typeface="Segoe UI"/>
              </a:rPr>
              <a:t>Power BI layer</a:t>
            </a:r>
          </a:p>
          <a:p>
            <a:pPr algn="l">
              <a:lnSpc>
                <a:spcPct val="118000"/>
              </a:lnSpc>
              <a:spcAft>
                <a:spcPts val="0"/>
              </a:spcAft>
            </a:pPr>
            <a:r>
              <a:rPr sz="1030" b="0">
                <a:solidFill>
                  <a:srgbClr val="EAF0F7"/>
                </a:solidFill>
                <a:latin typeface="Segoe UI"/>
              </a:rPr>
              <a:t>A four-page dashboard — executive overview, customer insights, risk intelligence, retention strategy — built on the exported scoring dataset. The ML app is predictive; Power BI is descriptive and diagnostic.</a:t>
            </a:r>
          </a:p>
        </p:txBody>
      </p:sp>
      <p:sp>
        <p:nvSpPr>
          <p:cNvPr id="10" name="Rounded Rectangle 9"/>
          <p:cNvSpPr/>
          <p:nvPr/>
        </p:nvSpPr>
        <p:spPr>
          <a:xfrm>
            <a:off x="6223863" y="1554480"/>
            <a:ext cx="5400903" cy="1426464"/>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23863" y="1682495"/>
            <a:ext cx="32004" cy="117043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5031" y="1700784"/>
            <a:ext cx="4980279" cy="1152144"/>
          </a:xfrm>
          <a:prstGeom prst="rect">
            <a:avLst/>
          </a:prstGeom>
          <a:noFill/>
        </p:spPr>
        <p:txBody>
          <a:bodyPr wrap="square" lIns="0" rIns="0" tIns="0" bIns="0" anchor="t">
            <a:spAutoFit/>
          </a:bodyPr>
          <a:lstStyle/>
          <a:p>
            <a:pPr algn="l">
              <a:lnSpc>
                <a:spcPct val="112000"/>
              </a:lnSpc>
              <a:spcAft>
                <a:spcPts val="400"/>
              </a:spcAft>
            </a:pPr>
            <a:r>
              <a:rPr sz="1250" b="1">
                <a:solidFill>
                  <a:srgbClr val="4C8DFF"/>
                </a:solidFill>
                <a:latin typeface="Segoe UI"/>
              </a:rPr>
              <a:t>Prediction API</a:t>
            </a:r>
          </a:p>
          <a:p>
            <a:pPr algn="l">
              <a:lnSpc>
                <a:spcPct val="118000"/>
              </a:lnSpc>
              <a:spcAft>
                <a:spcPts val="0"/>
              </a:spcAft>
            </a:pPr>
            <a:r>
              <a:rPr sz="1030" b="0">
                <a:solidFill>
                  <a:srgbClr val="EAF0F7"/>
                </a:solidFill>
                <a:latin typeface="Segoe UI"/>
              </a:rPr>
              <a:t>The Flask app exposes /api/health and /api/predict, and a FastAPI wrapper serves the same engine with Pydantic-validated payloads for programmatic use.</a:t>
            </a:r>
          </a:p>
        </p:txBody>
      </p:sp>
      <p:sp>
        <p:nvSpPr>
          <p:cNvPr id="13" name="Rounded Rectangle 12"/>
          <p:cNvSpPr/>
          <p:nvPr/>
        </p:nvSpPr>
        <p:spPr>
          <a:xfrm>
            <a:off x="566928" y="3127248"/>
            <a:ext cx="5400903" cy="1426464"/>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255264"/>
            <a:ext cx="32004" cy="11704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8096" y="3273552"/>
            <a:ext cx="4980279" cy="1152144"/>
          </a:xfrm>
          <a:prstGeom prst="rect">
            <a:avLst/>
          </a:prstGeom>
          <a:noFill/>
        </p:spPr>
        <p:txBody>
          <a:bodyPr wrap="square" lIns="0" rIns="0" tIns="0" bIns="0" anchor="t">
            <a:spAutoFit/>
          </a:bodyPr>
          <a:lstStyle/>
          <a:p>
            <a:pPr algn="l">
              <a:lnSpc>
                <a:spcPct val="112000"/>
              </a:lnSpc>
              <a:spcAft>
                <a:spcPts val="400"/>
              </a:spcAft>
            </a:pPr>
            <a:r>
              <a:rPr sz="1250" b="1">
                <a:solidFill>
                  <a:srgbClr val="F5A623"/>
                </a:solidFill>
                <a:latin typeface="Segoe UI"/>
              </a:rPr>
              <a:t>Automated tests</a:t>
            </a:r>
          </a:p>
          <a:p>
            <a:pPr algn="l">
              <a:lnSpc>
                <a:spcPct val="118000"/>
              </a:lnSpc>
              <a:spcAft>
                <a:spcPts val="0"/>
              </a:spcAft>
            </a:pPr>
            <a:r>
              <a:rPr sz="1030" b="0">
                <a:solidFill>
                  <a:srgbClr val="EAF0F7"/>
                </a:solidFill>
                <a:latin typeface="Segoe UI"/>
              </a:rPr>
              <a:t>Nine unit tests cover encoding, model loading, scoring, risk classification, recommendation generation, CSV validation and report privacy.</a:t>
            </a:r>
          </a:p>
        </p:txBody>
      </p:sp>
      <p:sp>
        <p:nvSpPr>
          <p:cNvPr id="16" name="Rounded Rectangle 15"/>
          <p:cNvSpPr/>
          <p:nvPr/>
        </p:nvSpPr>
        <p:spPr>
          <a:xfrm>
            <a:off x="6223863" y="3127248"/>
            <a:ext cx="5400903" cy="1426464"/>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23863" y="3255264"/>
            <a:ext cx="32004" cy="1170432"/>
          </a:xfrm>
          <a:prstGeom prst="rect">
            <a:avLst/>
          </a:prstGeom>
          <a:solidFill>
            <a:srgbClr val="FF5C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25031" y="3273552"/>
            <a:ext cx="4980279" cy="1152144"/>
          </a:xfrm>
          <a:prstGeom prst="rect">
            <a:avLst/>
          </a:prstGeom>
          <a:noFill/>
        </p:spPr>
        <p:txBody>
          <a:bodyPr wrap="square" lIns="0" rIns="0" tIns="0" bIns="0" anchor="t">
            <a:spAutoFit/>
          </a:bodyPr>
          <a:lstStyle/>
          <a:p>
            <a:pPr algn="l">
              <a:lnSpc>
                <a:spcPct val="112000"/>
              </a:lnSpc>
              <a:spcAft>
                <a:spcPts val="400"/>
              </a:spcAft>
            </a:pPr>
            <a:r>
              <a:rPr sz="1250" b="1">
                <a:solidFill>
                  <a:srgbClr val="FF5C6C"/>
                </a:solidFill>
                <a:latin typeface="Segoe UI"/>
              </a:rPr>
              <a:t>Production deployment</a:t>
            </a:r>
          </a:p>
          <a:p>
            <a:pPr algn="l">
              <a:lnSpc>
                <a:spcPct val="118000"/>
              </a:lnSpc>
              <a:spcAft>
                <a:spcPts val="0"/>
              </a:spcAft>
            </a:pPr>
            <a:r>
              <a:rPr sz="1030" b="0">
                <a:solidFill>
                  <a:srgbClr val="EAF0F7"/>
                </a:solidFill>
                <a:latin typeface="Segoe UI"/>
              </a:rPr>
              <a:t>Gunicorn with a gthread worker, 300-second timeout, preload and periodic worker recycling for small cloud instances; Docker and Procfile provided; hosted on Render.</a:t>
            </a:r>
          </a:p>
        </p:txBody>
      </p:sp>
      <p:sp>
        <p:nvSpPr>
          <p:cNvPr id="19" name="Rounded Rectangle 18"/>
          <p:cNvSpPr/>
          <p:nvPr/>
        </p:nvSpPr>
        <p:spPr>
          <a:xfrm>
            <a:off x="8119872" y="1554480"/>
            <a:ext cx="3502152" cy="1920240"/>
          </a:xfrm>
          <a:prstGeom prst="roundRect">
            <a:avLst>
              <a:gd name="adj" fmla="val 8000"/>
            </a:avLst>
          </a:prstGeom>
          <a:solidFill>
            <a:srgbClr val="FFFFFF"/>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page1_executive_overview.png.png"/>
          <p:cNvPicPr>
            <a:picLocks noChangeAspect="1"/>
          </p:cNvPicPr>
          <p:nvPr/>
        </p:nvPicPr>
        <p:blipFill>
          <a:blip r:embed="rId2"/>
          <a:stretch>
            <a:fillRect/>
          </a:stretch>
        </p:blipFill>
        <p:spPr>
          <a:xfrm>
            <a:off x="8291099" y="1636776"/>
            <a:ext cx="3159697" cy="1755648"/>
          </a:xfrm>
          <a:prstGeom prst="rect">
            <a:avLst/>
          </a:prstGeom>
        </p:spPr>
      </p:pic>
      <p:sp>
        <p:nvSpPr>
          <p:cNvPr id="21" name="Rounded Rectangle 20"/>
          <p:cNvSpPr/>
          <p:nvPr/>
        </p:nvSpPr>
        <p:spPr>
          <a:xfrm>
            <a:off x="8119872" y="3639311"/>
            <a:ext cx="3502152" cy="1920240"/>
          </a:xfrm>
          <a:prstGeom prst="roundRect">
            <a:avLst>
              <a:gd name="adj" fmla="val 8000"/>
            </a:avLst>
          </a:prstGeom>
          <a:solidFill>
            <a:srgbClr val="FFFFFF"/>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page3_risk_intelligence.png.png"/>
          <p:cNvPicPr>
            <a:picLocks noChangeAspect="1"/>
          </p:cNvPicPr>
          <p:nvPr/>
        </p:nvPicPr>
        <p:blipFill>
          <a:blip r:embed="rId3"/>
          <a:stretch>
            <a:fillRect/>
          </a:stretch>
        </p:blipFill>
        <p:spPr>
          <a:xfrm>
            <a:off x="8290864" y="3721607"/>
            <a:ext cx="3160166" cy="1755648"/>
          </a:xfrm>
          <a:prstGeom prst="rect">
            <a:avLst/>
          </a:prstGeom>
        </p:spPr>
      </p:pic>
      <p:sp>
        <p:nvSpPr>
          <p:cNvPr id="23" name="Rounded Rectangle 22"/>
          <p:cNvSpPr/>
          <p:nvPr/>
        </p:nvSpPr>
        <p:spPr>
          <a:xfrm>
            <a:off x="566928" y="4736592"/>
            <a:ext cx="7863840" cy="969264"/>
          </a:xfrm>
          <a:prstGeom prst="roundRect">
            <a:avLst>
              <a:gd name="adj" fmla="val 8000"/>
            </a:avLst>
          </a:prstGeom>
          <a:solidFill>
            <a:srgbClr val="162136"/>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 y="4846320"/>
            <a:ext cx="7461504" cy="786384"/>
          </a:xfrm>
          <a:prstGeom prst="rect">
            <a:avLst/>
          </a:prstGeom>
          <a:noFill/>
        </p:spPr>
        <p:txBody>
          <a:bodyPr wrap="square" lIns="0" rIns="0" tIns="0" bIns="0" anchor="t">
            <a:spAutoFit/>
          </a:bodyPr>
          <a:lstStyle/>
          <a:p>
            <a:pPr algn="l">
              <a:lnSpc>
                <a:spcPct val="112000"/>
              </a:lnSpc>
              <a:spcAft>
                <a:spcPts val="400"/>
              </a:spcAft>
            </a:pPr>
            <a:r>
              <a:rPr sz="1030" b="1">
                <a:solidFill>
                  <a:srgbClr val="2FD8B4"/>
                </a:solidFill>
                <a:latin typeface="Consolas"/>
              </a:rPr>
              <a:t>REPRODUCIBLE BY CONSTRUCTION</a:t>
            </a:r>
          </a:p>
          <a:p>
            <a:pPr algn="l">
              <a:lnSpc>
                <a:spcPct val="116000"/>
              </a:lnSpc>
              <a:spcAft>
                <a:spcPts val="0"/>
              </a:spcAft>
            </a:pPr>
            <a:r>
              <a:rPr sz="1030" b="0">
                <a:solidFill>
                  <a:srgbClr val="EAF0F7"/>
                </a:solidFill>
                <a:latin typeface="Segoe UI"/>
              </a:rPr>
              <a:t>Every chart in this deck is generated from the repository's own artifacts — the raw dataset, the saved models, the held-out split and the production scoring pipeline. Re-run one script and the figures reproduce, including the metrics table.</a:t>
            </a:r>
          </a:p>
        </p:txBody>
      </p:sp>
      <p:sp>
        <p:nvSpPr>
          <p:cNvPr id="25" name="Rectangle 24"/>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6510528"/>
            <a:ext cx="731520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RetainIQ · Signal Ops Console</a:t>
            </a:r>
          </a:p>
        </p:txBody>
      </p:sp>
      <p:sp>
        <p:nvSpPr>
          <p:cNvPr id="27" name="TextBox 26"/>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7315200" cy="237744"/>
          </a:xfrm>
          <a:prstGeom prst="rect">
            <a:avLst/>
          </a:prstGeom>
          <a:noFill/>
        </p:spPr>
        <p:txBody>
          <a:bodyPr wrap="square" lIns="0" rIns="0" tIns="0" bIns="0" anchor="t">
            <a:spAutoFit/>
          </a:bodyPr>
          <a:lstStyle/>
          <a:p>
            <a:pPr algn="l">
              <a:lnSpc>
                <a:spcPct val="112000"/>
              </a:lnSpc>
              <a:spcAft>
                <a:spcPts val="0"/>
              </a:spcAft>
            </a:pPr>
            <a:r>
              <a:rPr sz="1000" b="1">
                <a:solidFill>
                  <a:srgbClr val="2FD8B4"/>
                </a:solidFill>
                <a:latin typeface="Consolas"/>
              </a:rPr>
              <a:t>04  ·  TECHNOLOGY STACK</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Everything the project is built on</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One requirement drove the whole stack: the same code must train the model and serve it</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554480"/>
            <a:ext cx="2627299" cy="2487168"/>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554480"/>
            <a:ext cx="2627299" cy="41148"/>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737360"/>
            <a:ext cx="2261539" cy="2176272"/>
          </a:xfrm>
          <a:prstGeom prst="rect">
            <a:avLst/>
          </a:prstGeom>
          <a:noFill/>
        </p:spPr>
        <p:txBody>
          <a:bodyPr wrap="square" lIns="0" rIns="0" tIns="0" bIns="0" anchor="t">
            <a:spAutoFit/>
          </a:bodyPr>
          <a:lstStyle/>
          <a:p>
            <a:pPr algn="l">
              <a:lnSpc>
                <a:spcPct val="112000"/>
              </a:lnSpc>
              <a:spcAft>
                <a:spcPts val="800"/>
              </a:spcAft>
            </a:pPr>
            <a:r>
              <a:rPr sz="1000" b="1">
                <a:solidFill>
                  <a:srgbClr val="2FD8B4"/>
                </a:solidFill>
                <a:latin typeface="Consolas"/>
              </a:rPr>
              <a:t>LANGUAGE &amp; DATA</a:t>
            </a:r>
          </a:p>
          <a:p>
            <a:pPr algn="l">
              <a:lnSpc>
                <a:spcPct val="110000"/>
              </a:lnSpc>
              <a:spcAft>
                <a:spcPts val="500"/>
              </a:spcAft>
            </a:pPr>
            <a:r>
              <a:rPr sz="1040" b="0">
                <a:solidFill>
                  <a:srgbClr val="EAF0F7"/>
                </a:solidFill>
                <a:latin typeface="Segoe UI"/>
              </a:rPr>
              <a:t>·  Python 3.11</a:t>
            </a:r>
          </a:p>
          <a:p>
            <a:pPr algn="l">
              <a:lnSpc>
                <a:spcPct val="110000"/>
              </a:lnSpc>
              <a:spcAft>
                <a:spcPts val="500"/>
              </a:spcAft>
            </a:pPr>
            <a:r>
              <a:rPr sz="1040" b="0">
                <a:solidFill>
                  <a:srgbClr val="EAF0F7"/>
                </a:solidFill>
                <a:latin typeface="Segoe UI"/>
              </a:rPr>
              <a:t>·  Pandas — data manipulation</a:t>
            </a:r>
          </a:p>
          <a:p>
            <a:pPr algn="l">
              <a:lnSpc>
                <a:spcPct val="110000"/>
              </a:lnSpc>
              <a:spcAft>
                <a:spcPts val="500"/>
              </a:spcAft>
            </a:pPr>
            <a:r>
              <a:rPr sz="1040" b="0">
                <a:solidFill>
                  <a:srgbClr val="EAF0F7"/>
                </a:solidFill>
                <a:latin typeface="Segoe UI"/>
              </a:rPr>
              <a:t>·  NumPy — numerical computing</a:t>
            </a:r>
          </a:p>
          <a:p>
            <a:pPr algn="l">
              <a:lnSpc>
                <a:spcPct val="110000"/>
              </a:lnSpc>
              <a:spcAft>
                <a:spcPts val="500"/>
              </a:spcAft>
            </a:pPr>
            <a:r>
              <a:rPr sz="1040" b="0">
                <a:solidFill>
                  <a:srgbClr val="EAF0F7"/>
                </a:solidFill>
                <a:latin typeface="Segoe UI"/>
              </a:rPr>
              <a:t>·  SQL Server (extraction layer)</a:t>
            </a:r>
          </a:p>
          <a:p>
            <a:pPr algn="l">
              <a:lnSpc>
                <a:spcPct val="110000"/>
              </a:lnSpc>
              <a:spcAft>
                <a:spcPts val="500"/>
              </a:spcAft>
            </a:pPr>
            <a:r>
              <a:rPr sz="1040" b="0">
                <a:solidFill>
                  <a:srgbClr val="EAF0F7"/>
                </a:solidFill>
                <a:latin typeface="Segoe UI"/>
              </a:rPr>
              <a:t>·  SQLAlchemy — DB connection</a:t>
            </a:r>
          </a:p>
        </p:txBody>
      </p:sp>
      <p:sp>
        <p:nvSpPr>
          <p:cNvPr id="10" name="Rounded Rectangle 9"/>
          <p:cNvSpPr/>
          <p:nvPr/>
        </p:nvSpPr>
        <p:spPr>
          <a:xfrm>
            <a:off x="3377107" y="1554480"/>
            <a:ext cx="2627299" cy="2487168"/>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77107" y="1554480"/>
            <a:ext cx="2627299" cy="4114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9987" y="1737360"/>
            <a:ext cx="2261539" cy="2176272"/>
          </a:xfrm>
          <a:prstGeom prst="rect">
            <a:avLst/>
          </a:prstGeom>
          <a:noFill/>
        </p:spPr>
        <p:txBody>
          <a:bodyPr wrap="square" lIns="0" rIns="0" tIns="0" bIns="0" anchor="t">
            <a:spAutoFit/>
          </a:bodyPr>
          <a:lstStyle/>
          <a:p>
            <a:pPr algn="l">
              <a:lnSpc>
                <a:spcPct val="112000"/>
              </a:lnSpc>
              <a:spcAft>
                <a:spcPts val="800"/>
              </a:spcAft>
            </a:pPr>
            <a:r>
              <a:rPr sz="1000" b="1">
                <a:solidFill>
                  <a:srgbClr val="F5A623"/>
                </a:solidFill>
                <a:latin typeface="Consolas"/>
              </a:rPr>
              <a:t>MACHINE LEARNING</a:t>
            </a:r>
          </a:p>
          <a:p>
            <a:pPr algn="l">
              <a:lnSpc>
                <a:spcPct val="110000"/>
              </a:lnSpc>
              <a:spcAft>
                <a:spcPts val="500"/>
              </a:spcAft>
            </a:pPr>
            <a:r>
              <a:rPr sz="1040" b="0">
                <a:solidFill>
                  <a:srgbClr val="EAF0F7"/>
                </a:solidFill>
                <a:latin typeface="Segoe UI"/>
              </a:rPr>
              <a:t>·  Scikit-learn — training &amp; evaluation</a:t>
            </a:r>
          </a:p>
          <a:p>
            <a:pPr algn="l">
              <a:lnSpc>
                <a:spcPct val="110000"/>
              </a:lnSpc>
              <a:spcAft>
                <a:spcPts val="500"/>
              </a:spcAft>
            </a:pPr>
            <a:r>
              <a:rPr sz="1040" b="0">
                <a:solidFill>
                  <a:srgbClr val="EAF0F7"/>
                </a:solidFill>
                <a:latin typeface="Segoe UI"/>
              </a:rPr>
              <a:t>·  Logistic Regression (deployed)</a:t>
            </a:r>
          </a:p>
          <a:p>
            <a:pPr algn="l">
              <a:lnSpc>
                <a:spcPct val="110000"/>
              </a:lnSpc>
              <a:spcAft>
                <a:spcPts val="500"/>
              </a:spcAft>
            </a:pPr>
            <a:r>
              <a:rPr sz="1040" b="0">
                <a:solidFill>
                  <a:srgbClr val="EAF0F7"/>
                </a:solidFill>
                <a:latin typeface="Segoe UI"/>
              </a:rPr>
              <a:t>·  Random Forest · XGBoost · LightGBM</a:t>
            </a:r>
          </a:p>
          <a:p>
            <a:pPr algn="l">
              <a:lnSpc>
                <a:spcPct val="110000"/>
              </a:lnSpc>
              <a:spcAft>
                <a:spcPts val="500"/>
              </a:spcAft>
            </a:pPr>
            <a:r>
              <a:rPr sz="1040" b="0">
                <a:solidFill>
                  <a:srgbClr val="EAF0F7"/>
                </a:solidFill>
                <a:latin typeface="Segoe UI"/>
              </a:rPr>
              <a:t>·  Joblib — model persistence</a:t>
            </a:r>
          </a:p>
          <a:p>
            <a:pPr algn="l">
              <a:lnSpc>
                <a:spcPct val="110000"/>
              </a:lnSpc>
              <a:spcAft>
                <a:spcPts val="500"/>
              </a:spcAft>
            </a:pPr>
            <a:r>
              <a:rPr sz="1040" b="0">
                <a:solidFill>
                  <a:srgbClr val="EAF0F7"/>
                </a:solidFill>
                <a:latin typeface="Segoe UI"/>
              </a:rPr>
              <a:t>·  SHAP — explainability research</a:t>
            </a:r>
          </a:p>
        </p:txBody>
      </p:sp>
      <p:sp>
        <p:nvSpPr>
          <p:cNvPr id="13" name="Rounded Rectangle 12"/>
          <p:cNvSpPr/>
          <p:nvPr/>
        </p:nvSpPr>
        <p:spPr>
          <a:xfrm>
            <a:off x="6187287" y="1554480"/>
            <a:ext cx="2627299" cy="2487168"/>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87287" y="1554480"/>
            <a:ext cx="2627299" cy="41148"/>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1737360"/>
            <a:ext cx="2261539" cy="2176272"/>
          </a:xfrm>
          <a:prstGeom prst="rect">
            <a:avLst/>
          </a:prstGeom>
          <a:noFill/>
        </p:spPr>
        <p:txBody>
          <a:bodyPr wrap="square" lIns="0" rIns="0" tIns="0" bIns="0" anchor="t">
            <a:spAutoFit/>
          </a:bodyPr>
          <a:lstStyle/>
          <a:p>
            <a:pPr algn="l">
              <a:lnSpc>
                <a:spcPct val="112000"/>
              </a:lnSpc>
              <a:spcAft>
                <a:spcPts val="800"/>
              </a:spcAft>
            </a:pPr>
            <a:r>
              <a:rPr sz="1000" b="1">
                <a:solidFill>
                  <a:srgbClr val="4C8DFF"/>
                </a:solidFill>
                <a:latin typeface="Consolas"/>
              </a:rPr>
              <a:t>WEB APPLICATION</a:t>
            </a:r>
          </a:p>
          <a:p>
            <a:pPr algn="l">
              <a:lnSpc>
                <a:spcPct val="110000"/>
              </a:lnSpc>
              <a:spcAft>
                <a:spcPts val="500"/>
              </a:spcAft>
            </a:pPr>
            <a:r>
              <a:rPr sz="1040" b="0">
                <a:solidFill>
                  <a:srgbClr val="EAF0F7"/>
                </a:solidFill>
                <a:latin typeface="Segoe UI"/>
              </a:rPr>
              <a:t>·  Flask — application server</a:t>
            </a:r>
          </a:p>
          <a:p>
            <a:pPr algn="l">
              <a:lnSpc>
                <a:spcPct val="110000"/>
              </a:lnSpc>
              <a:spcAft>
                <a:spcPts val="500"/>
              </a:spcAft>
            </a:pPr>
            <a:r>
              <a:rPr sz="1040" b="0">
                <a:solidFill>
                  <a:srgbClr val="EAF0F7"/>
                </a:solidFill>
                <a:latin typeface="Segoe UI"/>
              </a:rPr>
              <a:t>·  Jinja2 — server-side templates</a:t>
            </a:r>
          </a:p>
          <a:p>
            <a:pPr algn="l">
              <a:lnSpc>
                <a:spcPct val="110000"/>
              </a:lnSpc>
              <a:spcAft>
                <a:spcPts val="500"/>
              </a:spcAft>
            </a:pPr>
            <a:r>
              <a:rPr sz="1040" b="0">
                <a:solidFill>
                  <a:srgbClr val="EAF0F7"/>
                </a:solidFill>
                <a:latin typeface="Segoe UI"/>
              </a:rPr>
              <a:t>·  HTML5 · CSS3 (custom design system)</a:t>
            </a:r>
          </a:p>
          <a:p>
            <a:pPr algn="l">
              <a:lnSpc>
                <a:spcPct val="110000"/>
              </a:lnSpc>
              <a:spcAft>
                <a:spcPts val="500"/>
              </a:spcAft>
            </a:pPr>
            <a:r>
              <a:rPr sz="1040" b="0">
                <a:solidFill>
                  <a:srgbClr val="EAF0F7"/>
                </a:solidFill>
                <a:latin typeface="Segoe UI"/>
              </a:rPr>
              <a:t>·  Vanilla JavaScript — dashboards</a:t>
            </a:r>
          </a:p>
          <a:p>
            <a:pPr algn="l">
              <a:lnSpc>
                <a:spcPct val="110000"/>
              </a:lnSpc>
              <a:spcAft>
                <a:spcPts val="500"/>
              </a:spcAft>
            </a:pPr>
            <a:r>
              <a:rPr sz="1040" b="0">
                <a:solidFill>
                  <a:srgbClr val="EAF0F7"/>
                </a:solidFill>
                <a:latin typeface="Segoe UI"/>
              </a:rPr>
              <a:t>·  Gunicorn — WSGI production server</a:t>
            </a:r>
          </a:p>
        </p:txBody>
      </p:sp>
      <p:sp>
        <p:nvSpPr>
          <p:cNvPr id="16" name="Rounded Rectangle 15"/>
          <p:cNvSpPr/>
          <p:nvPr/>
        </p:nvSpPr>
        <p:spPr>
          <a:xfrm>
            <a:off x="8997467" y="1554480"/>
            <a:ext cx="2627299" cy="2487168"/>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997467" y="1554480"/>
            <a:ext cx="2627299" cy="41148"/>
          </a:xfrm>
          <a:prstGeom prst="rect">
            <a:avLst/>
          </a:prstGeom>
          <a:solidFill>
            <a:srgbClr val="FF5C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0347" y="1737360"/>
            <a:ext cx="2261539" cy="2176272"/>
          </a:xfrm>
          <a:prstGeom prst="rect">
            <a:avLst/>
          </a:prstGeom>
          <a:noFill/>
        </p:spPr>
        <p:txBody>
          <a:bodyPr wrap="square" lIns="0" rIns="0" tIns="0" bIns="0" anchor="t">
            <a:spAutoFit/>
          </a:bodyPr>
          <a:lstStyle/>
          <a:p>
            <a:pPr algn="l">
              <a:lnSpc>
                <a:spcPct val="112000"/>
              </a:lnSpc>
              <a:spcAft>
                <a:spcPts val="800"/>
              </a:spcAft>
            </a:pPr>
            <a:r>
              <a:rPr sz="1000" b="1">
                <a:solidFill>
                  <a:srgbClr val="FF5C6C"/>
                </a:solidFill>
                <a:latin typeface="Consolas"/>
              </a:rPr>
              <a:t>APIs &amp; DELIVERY</a:t>
            </a:r>
          </a:p>
          <a:p>
            <a:pPr algn="l">
              <a:lnSpc>
                <a:spcPct val="110000"/>
              </a:lnSpc>
              <a:spcAft>
                <a:spcPts val="500"/>
              </a:spcAft>
            </a:pPr>
            <a:r>
              <a:rPr sz="1040" b="0">
                <a:solidFill>
                  <a:srgbClr val="EAF0F7"/>
                </a:solidFill>
                <a:latin typeface="Segoe UI"/>
              </a:rPr>
              <a:t>·  FastAPI + Pydantic — typed API</a:t>
            </a:r>
          </a:p>
          <a:p>
            <a:pPr algn="l">
              <a:lnSpc>
                <a:spcPct val="110000"/>
              </a:lnSpc>
              <a:spcAft>
                <a:spcPts val="500"/>
              </a:spcAft>
            </a:pPr>
            <a:r>
              <a:rPr sz="1040" b="0">
                <a:solidFill>
                  <a:srgbClr val="EAF0F7"/>
                </a:solidFill>
                <a:latin typeface="Segoe UI"/>
              </a:rPr>
              <a:t>·  Docker — container image</a:t>
            </a:r>
          </a:p>
          <a:p>
            <a:pPr algn="l">
              <a:lnSpc>
                <a:spcPct val="110000"/>
              </a:lnSpc>
              <a:spcAft>
                <a:spcPts val="500"/>
              </a:spcAft>
            </a:pPr>
            <a:r>
              <a:rPr sz="1040" b="0">
                <a:solidFill>
                  <a:srgbClr val="EAF0F7"/>
                </a:solidFill>
                <a:latin typeface="Segoe UI"/>
              </a:rPr>
              <a:t>·  Render — cloud hosting</a:t>
            </a:r>
          </a:p>
          <a:p>
            <a:pPr algn="l">
              <a:lnSpc>
                <a:spcPct val="110000"/>
              </a:lnSpc>
              <a:spcAft>
                <a:spcPts val="500"/>
              </a:spcAft>
            </a:pPr>
            <a:r>
              <a:rPr sz="1040" b="0">
                <a:solidFill>
                  <a:srgbClr val="EAF0F7"/>
                </a:solidFill>
                <a:latin typeface="Segoe UI"/>
              </a:rPr>
              <a:t>·  Git &amp; GitHub — version control</a:t>
            </a:r>
          </a:p>
          <a:p>
            <a:pPr algn="l">
              <a:lnSpc>
                <a:spcPct val="110000"/>
              </a:lnSpc>
              <a:spcAft>
                <a:spcPts val="500"/>
              </a:spcAft>
            </a:pPr>
            <a:r>
              <a:rPr sz="1040" b="0">
                <a:solidFill>
                  <a:srgbClr val="EAF0F7"/>
                </a:solidFill>
                <a:latin typeface="Segoe UI"/>
              </a:rPr>
              <a:t>·  Microsoft Power BI (.pbix / .pbit)</a:t>
            </a:r>
          </a:p>
        </p:txBody>
      </p:sp>
      <p:sp>
        <p:nvSpPr>
          <p:cNvPr id="19" name="Rounded Rectangle 18"/>
          <p:cNvSpPr/>
          <p:nvPr/>
        </p:nvSpPr>
        <p:spPr>
          <a:xfrm>
            <a:off x="566928" y="4187952"/>
            <a:ext cx="11057839" cy="1060704"/>
          </a:xfrm>
          <a:prstGeom prst="roundRect">
            <a:avLst>
              <a:gd name="adj" fmla="val 8000"/>
            </a:avLst>
          </a:prstGeom>
          <a:solidFill>
            <a:srgbClr val="162136"/>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4315968"/>
            <a:ext cx="10692079" cy="822959"/>
          </a:xfrm>
          <a:prstGeom prst="rect">
            <a:avLst/>
          </a:prstGeom>
          <a:noFill/>
        </p:spPr>
        <p:txBody>
          <a:bodyPr wrap="square" lIns="0" rIns="0" tIns="0" bIns="0" anchor="t">
            <a:spAutoFit/>
          </a:bodyPr>
          <a:lstStyle/>
          <a:p>
            <a:pPr algn="l">
              <a:lnSpc>
                <a:spcPct val="112000"/>
              </a:lnSpc>
              <a:spcAft>
                <a:spcPts val="300"/>
              </a:spcAft>
            </a:pPr>
            <a:r>
              <a:rPr sz="1150" b="1">
                <a:solidFill>
                  <a:srgbClr val="2FD8B4"/>
                </a:solidFill>
                <a:latin typeface="Segoe UI"/>
              </a:rPr>
              <a:t>THE DESIGN CHOICE BEHIND THE STACK</a:t>
            </a:r>
          </a:p>
          <a:p>
            <a:pPr algn="l">
              <a:lnSpc>
                <a:spcPct val="116000"/>
              </a:lnSpc>
              <a:spcAft>
                <a:spcPts val="0"/>
              </a:spcAft>
            </a:pPr>
            <a:r>
              <a:rPr sz="1080" b="0">
                <a:solidFill>
                  <a:srgbClr val="EAF0F7"/>
                </a:solidFill>
                <a:latin typeface="Segoe UI"/>
              </a:rPr>
              <a:t>Preprocessing, the saved column contract and the scoring functions are a single Python package imported by the notebooks, the Flask app, the FastAPI wrapper and the evaluation scripts. That is what makes training and production behaviour the same thing rather than two similar things.</a:t>
            </a:r>
          </a:p>
        </p:txBody>
      </p:sp>
      <p:sp>
        <p:nvSpPr>
          <p:cNvPr id="21" name="Rectangle 20"/>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6510528"/>
            <a:ext cx="731520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RetainIQ · Signal Ops Console</a:t>
            </a:r>
          </a:p>
        </p:txBody>
      </p:sp>
      <p:sp>
        <p:nvSpPr>
          <p:cNvPr id="23" name="TextBox 22"/>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7315200" cy="237744"/>
          </a:xfrm>
          <a:prstGeom prst="rect">
            <a:avLst/>
          </a:prstGeom>
          <a:noFill/>
        </p:spPr>
        <p:txBody>
          <a:bodyPr wrap="square" lIns="0" rIns="0" tIns="0" bIns="0" anchor="t">
            <a:spAutoFit/>
          </a:bodyPr>
          <a:lstStyle/>
          <a:p>
            <a:pPr algn="l">
              <a:lnSpc>
                <a:spcPct val="112000"/>
              </a:lnSpc>
              <a:spcAft>
                <a:spcPts val="0"/>
              </a:spcAft>
            </a:pPr>
            <a:r>
              <a:rPr sz="1000" b="1">
                <a:solidFill>
                  <a:srgbClr val="2FD8B4"/>
                </a:solidFill>
                <a:latin typeface="Consolas"/>
              </a:rPr>
              <a:t>04  ·  CONCLUSION</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Results, honest limits, and what comes next</a:t>
            </a:r>
          </a:p>
        </p:txBody>
      </p:sp>
      <p:sp>
        <p:nvSpPr>
          <p:cNvPr id="5" name="Rectangle 4"/>
          <p:cNvSpPr/>
          <p:nvPr/>
        </p:nvSpPr>
        <p:spPr>
          <a:xfrm>
            <a:off x="566928" y="1060704"/>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66928" y="1225295"/>
            <a:ext cx="3527450" cy="3703320"/>
          </a:xfrm>
          <a:prstGeom prst="roundRect">
            <a:avLst>
              <a:gd name="adj" fmla="val 8000"/>
            </a:avLst>
          </a:prstGeom>
          <a:solidFill>
            <a:srgbClr val="111A2C"/>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353311"/>
            <a:ext cx="3125114" cy="3429000"/>
          </a:xfrm>
          <a:prstGeom prst="rect">
            <a:avLst/>
          </a:prstGeom>
          <a:noFill/>
        </p:spPr>
        <p:txBody>
          <a:bodyPr wrap="square" lIns="0" rIns="0" tIns="0" bIns="0" anchor="t">
            <a:spAutoFit/>
          </a:bodyPr>
          <a:lstStyle/>
          <a:p>
            <a:pPr algn="l">
              <a:lnSpc>
                <a:spcPct val="112000"/>
              </a:lnSpc>
              <a:spcAft>
                <a:spcPts val="700"/>
              </a:spcAft>
            </a:pPr>
            <a:r>
              <a:rPr sz="1100" b="1">
                <a:solidFill>
                  <a:srgbClr val="2FD8B4"/>
                </a:solidFill>
                <a:latin typeface="Consolas"/>
              </a:rPr>
              <a:t>WHAT WAS DELIVERED</a:t>
            </a:r>
          </a:p>
          <a:p>
            <a:pPr algn="l">
              <a:lnSpc>
                <a:spcPct val="112000"/>
              </a:lnSpc>
              <a:spcAft>
                <a:spcPts val="500"/>
              </a:spcAft>
            </a:pPr>
            <a:r>
              <a:rPr sz="1060" b="0">
                <a:solidFill>
                  <a:srgbClr val="EAF0F7"/>
                </a:solidFill>
                <a:latin typeface="Segoe UI"/>
              </a:rPr>
              <a:t>▸  End-to-end ML pipeline on 7,043 customers, 30 engineered features</a:t>
            </a:r>
          </a:p>
          <a:p>
            <a:pPr algn="l">
              <a:lnSpc>
                <a:spcPct val="116000"/>
              </a:lnSpc>
              <a:spcAft>
                <a:spcPts val="500"/>
              </a:spcAft>
            </a:pPr>
            <a:r>
              <a:rPr sz="1060" b="0">
                <a:solidFill>
                  <a:srgbClr val="EAF0F7"/>
                </a:solidFill>
                <a:latin typeface="Segoe UI"/>
              </a:rPr>
              <a:t>▸  Four algorithms benchmarked; Logistic Regression selected on F1 and ROC-AUC</a:t>
            </a:r>
          </a:p>
          <a:p>
            <a:pPr algn="l">
              <a:lnSpc>
                <a:spcPct val="116000"/>
              </a:lnSpc>
              <a:spcAft>
                <a:spcPts val="500"/>
              </a:spcAft>
            </a:pPr>
            <a:r>
              <a:rPr sz="1060" b="0">
                <a:solidFill>
                  <a:srgbClr val="EAF0F7"/>
                </a:solidFill>
                <a:latin typeface="Segoe UI"/>
              </a:rPr>
              <a:t>▸  80.34% accuracy, 60.60% F1, 84.91% ROC-AUC on held-out data</a:t>
            </a:r>
          </a:p>
          <a:p>
            <a:pPr algn="l">
              <a:lnSpc>
                <a:spcPct val="116000"/>
              </a:lnSpc>
              <a:spcAft>
                <a:spcPts val="500"/>
              </a:spcAft>
            </a:pPr>
            <a:r>
              <a:rPr sz="1060" b="0">
                <a:solidFill>
                  <a:srgbClr val="EAF0F7"/>
                </a:solidFill>
                <a:latin typeface="Segoe UI"/>
              </a:rPr>
              <a:t>▸  Risk bands validated against real outcomes (9.5% → 42.0% → 73.0%)</a:t>
            </a:r>
          </a:p>
          <a:p>
            <a:pPr algn="l">
              <a:lnSpc>
                <a:spcPct val="116000"/>
              </a:lnSpc>
              <a:spcAft>
                <a:spcPts val="0"/>
              </a:spcAft>
            </a:pPr>
            <a:r>
              <a:rPr sz="1060" b="0">
                <a:solidFill>
                  <a:srgbClr val="EAF0F7"/>
                </a:solidFill>
                <a:latin typeface="Segoe UI"/>
              </a:rPr>
              <a:t>▸  Live Flask console, dashboard, private reports, Power BI layer</a:t>
            </a:r>
          </a:p>
        </p:txBody>
      </p:sp>
      <p:sp>
        <p:nvSpPr>
          <p:cNvPr id="8" name="Rounded Rectangle 7"/>
          <p:cNvSpPr/>
          <p:nvPr/>
        </p:nvSpPr>
        <p:spPr>
          <a:xfrm>
            <a:off x="4332122" y="1225295"/>
            <a:ext cx="3527450" cy="3703320"/>
          </a:xfrm>
          <a:prstGeom prst="roundRect">
            <a:avLst>
              <a:gd name="adj" fmla="val 8000"/>
            </a:avLst>
          </a:prstGeom>
          <a:solidFill>
            <a:srgbClr val="111A2C"/>
          </a:solidFill>
          <a:ln w="15240">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3290" y="1353311"/>
            <a:ext cx="3125114" cy="3429000"/>
          </a:xfrm>
          <a:prstGeom prst="rect">
            <a:avLst/>
          </a:prstGeom>
          <a:noFill/>
        </p:spPr>
        <p:txBody>
          <a:bodyPr wrap="square" lIns="0" rIns="0" tIns="0" bIns="0" anchor="t">
            <a:spAutoFit/>
          </a:bodyPr>
          <a:lstStyle/>
          <a:p>
            <a:pPr algn="l">
              <a:lnSpc>
                <a:spcPct val="112000"/>
              </a:lnSpc>
              <a:spcAft>
                <a:spcPts val="700"/>
              </a:spcAft>
            </a:pPr>
            <a:r>
              <a:rPr sz="1100" b="1">
                <a:solidFill>
                  <a:srgbClr val="F5A623"/>
                </a:solidFill>
                <a:latin typeface="Consolas"/>
              </a:rPr>
              <a:t>LIMITATIONS — STATED PLAINLY</a:t>
            </a:r>
          </a:p>
          <a:p>
            <a:pPr algn="l">
              <a:lnSpc>
                <a:spcPct val="116000"/>
              </a:lnSpc>
              <a:spcAft>
                <a:spcPts val="500"/>
              </a:spcAft>
            </a:pPr>
            <a:r>
              <a:rPr sz="1060" b="0">
                <a:solidFill>
                  <a:srgbClr val="EAF0F7"/>
                </a:solidFill>
                <a:latin typeface="Segoe UI"/>
              </a:rPr>
              <a:t>▸  Trained on historical data from one telecom; behaviour may not transfer</a:t>
            </a:r>
          </a:p>
          <a:p>
            <a:pPr algn="l">
              <a:lnSpc>
                <a:spcPct val="116000"/>
              </a:lnSpc>
              <a:spcAft>
                <a:spcPts val="500"/>
              </a:spcAft>
            </a:pPr>
            <a:r>
              <a:rPr sz="1060" b="0">
                <a:solidFill>
                  <a:srgbClr val="EAF0F7"/>
                </a:solidFill>
                <a:latin typeface="Segoe UI"/>
              </a:rPr>
              <a:t>▸  56.95% recall — roughly two in five churners are still missed</a:t>
            </a:r>
          </a:p>
          <a:p>
            <a:pPr algn="l">
              <a:lnSpc>
                <a:spcPct val="116000"/>
              </a:lnSpc>
              <a:spcAft>
                <a:spcPts val="500"/>
              </a:spcAft>
            </a:pPr>
            <a:r>
              <a:rPr sz="1060" b="0">
                <a:solidFill>
                  <a:srgbClr val="EAF0F7"/>
                </a:solidFill>
                <a:latin typeface="Segoe UI"/>
              </a:rPr>
              <a:t>▸  No live behavioural feed, no drift monitoring, no automatic retraining</a:t>
            </a:r>
          </a:p>
          <a:p>
            <a:pPr algn="l">
              <a:lnSpc>
                <a:spcPct val="116000"/>
              </a:lnSpc>
              <a:spcAft>
                <a:spcPts val="500"/>
              </a:spcAft>
            </a:pPr>
            <a:r>
              <a:rPr sz="1060" b="0">
                <a:solidFill>
                  <a:srgbClr val="EAF0F7"/>
                </a:solidFill>
                <a:latin typeface="Segoe UI"/>
              </a:rPr>
              <a:t>▸  Probabilities are not guarantees; recommendations are decision support</a:t>
            </a:r>
          </a:p>
          <a:p>
            <a:pPr algn="l">
              <a:lnSpc>
                <a:spcPct val="116000"/>
              </a:lnSpc>
              <a:spcAft>
                <a:spcPts val="0"/>
              </a:spcAft>
            </a:pPr>
            <a:r>
              <a:rPr sz="1060" b="0">
                <a:solidFill>
                  <a:srgbClr val="EAF0F7"/>
                </a:solidFill>
                <a:latin typeface="Segoe UI"/>
              </a:rPr>
              <a:t>▸  Revenue figures are exposure, not realised savings</a:t>
            </a:r>
          </a:p>
        </p:txBody>
      </p:sp>
      <p:sp>
        <p:nvSpPr>
          <p:cNvPr id="10" name="Rounded Rectangle 9"/>
          <p:cNvSpPr/>
          <p:nvPr/>
        </p:nvSpPr>
        <p:spPr>
          <a:xfrm>
            <a:off x="8097316" y="1225295"/>
            <a:ext cx="3527450" cy="3703320"/>
          </a:xfrm>
          <a:prstGeom prst="roundRect">
            <a:avLst>
              <a:gd name="adj" fmla="val 8000"/>
            </a:avLst>
          </a:prstGeom>
          <a:solidFill>
            <a:srgbClr val="111A2C"/>
          </a:solidFill>
          <a:ln w="15240">
            <a:solidFill>
              <a:srgbClr val="4C8D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98484" y="1353311"/>
            <a:ext cx="3125114" cy="3429000"/>
          </a:xfrm>
          <a:prstGeom prst="rect">
            <a:avLst/>
          </a:prstGeom>
          <a:noFill/>
        </p:spPr>
        <p:txBody>
          <a:bodyPr wrap="square" lIns="0" rIns="0" tIns="0" bIns="0" anchor="t">
            <a:spAutoFit/>
          </a:bodyPr>
          <a:lstStyle/>
          <a:p>
            <a:pPr algn="l">
              <a:lnSpc>
                <a:spcPct val="112000"/>
              </a:lnSpc>
              <a:spcAft>
                <a:spcPts val="700"/>
              </a:spcAft>
            </a:pPr>
            <a:r>
              <a:rPr sz="1100" b="1">
                <a:solidFill>
                  <a:srgbClr val="4C8DFF"/>
                </a:solidFill>
                <a:latin typeface="Consolas"/>
              </a:rPr>
              <a:t>WHAT COMES NEXT</a:t>
            </a:r>
          </a:p>
          <a:p>
            <a:pPr algn="l">
              <a:lnSpc>
                <a:spcPct val="116000"/>
              </a:lnSpc>
              <a:spcAft>
                <a:spcPts val="500"/>
              </a:spcAft>
            </a:pPr>
            <a:r>
              <a:rPr sz="1060" b="0">
                <a:solidFill>
                  <a:srgbClr val="EAF0F7"/>
                </a:solidFill>
                <a:latin typeface="Segoe UI"/>
              </a:rPr>
              <a:t>▸  Threshold tuning and probability calibration to lift recall</a:t>
            </a:r>
          </a:p>
          <a:p>
            <a:pPr algn="l">
              <a:lnSpc>
                <a:spcPct val="116000"/>
              </a:lnSpc>
              <a:spcAft>
                <a:spcPts val="500"/>
              </a:spcAft>
            </a:pPr>
            <a:r>
              <a:rPr sz="1060" b="0">
                <a:solidFill>
                  <a:srgbClr val="EAF0F7"/>
                </a:solidFill>
                <a:latin typeface="Segoe UI"/>
              </a:rPr>
              <a:t>▸  Cost-sensitive learning — a missed churner costs more than a wasted offer</a:t>
            </a:r>
          </a:p>
          <a:p>
            <a:pPr algn="l">
              <a:lnSpc>
                <a:spcPct val="116000"/>
              </a:lnSpc>
              <a:spcAft>
                <a:spcPts val="500"/>
              </a:spcAft>
            </a:pPr>
            <a:r>
              <a:rPr sz="1060" b="0">
                <a:solidFill>
                  <a:srgbClr val="EAF0F7"/>
                </a:solidFill>
                <a:latin typeface="Segoe UI"/>
              </a:rPr>
              <a:t>▸  Drift detection and scheduled retraining (MLOps loop)</a:t>
            </a:r>
          </a:p>
          <a:p>
            <a:pPr algn="l">
              <a:lnSpc>
                <a:spcPct val="116000"/>
              </a:lnSpc>
              <a:spcAft>
                <a:spcPts val="500"/>
              </a:spcAft>
            </a:pPr>
            <a:r>
              <a:rPr sz="1060" b="0">
                <a:solidFill>
                  <a:srgbClr val="EAF0F7"/>
                </a:solidFill>
                <a:latin typeface="Segoe UI"/>
              </a:rPr>
              <a:t>▸  Counterfactual / what-if explanations for retention agents</a:t>
            </a:r>
          </a:p>
          <a:p>
            <a:pPr algn="l">
              <a:lnSpc>
                <a:spcPct val="116000"/>
              </a:lnSpc>
              <a:spcAft>
                <a:spcPts val="0"/>
              </a:spcAft>
            </a:pPr>
            <a:r>
              <a:rPr sz="1060" b="0">
                <a:solidFill>
                  <a:srgbClr val="EAF0F7"/>
                </a:solidFill>
                <a:latin typeface="Segoe UI"/>
              </a:rPr>
              <a:t>▸  CRM integration and A/B testing of retention offers</a:t>
            </a:r>
          </a:p>
        </p:txBody>
      </p:sp>
      <p:sp>
        <p:nvSpPr>
          <p:cNvPr id="12" name="Rounded Rectangle 11"/>
          <p:cNvSpPr/>
          <p:nvPr/>
        </p:nvSpPr>
        <p:spPr>
          <a:xfrm>
            <a:off x="566928" y="5084064"/>
            <a:ext cx="11057839" cy="713232"/>
          </a:xfrm>
          <a:prstGeom prst="roundRect">
            <a:avLst>
              <a:gd name="adj" fmla="val 8000"/>
            </a:avLst>
          </a:prstGeom>
          <a:solidFill>
            <a:srgbClr val="162136"/>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5193792"/>
            <a:ext cx="10618927" cy="530352"/>
          </a:xfrm>
          <a:prstGeom prst="rect">
            <a:avLst/>
          </a:prstGeom>
          <a:noFill/>
        </p:spPr>
        <p:txBody>
          <a:bodyPr wrap="square" lIns="0" rIns="0" tIns="0" bIns="0" anchor="t">
            <a:spAutoFit/>
          </a:bodyPr>
          <a:lstStyle/>
          <a:p>
            <a:pPr algn="l">
              <a:lnSpc>
                <a:spcPct val="116000"/>
              </a:lnSpc>
              <a:spcAft>
                <a:spcPts val="0"/>
              </a:spcAft>
            </a:pPr>
            <a:r>
              <a:rPr sz="1200" b="1">
                <a:solidFill>
                  <a:srgbClr val="EAF0F7"/>
                </a:solidFill>
                <a:latin typeface="Segoe UI"/>
              </a:rPr>
              <a:t>The contribution: churn prediction reframed from a classification score into a retention intelligence workflow — and shipped as a working product. Thank you — questions welcome.</a:t>
            </a:r>
          </a:p>
        </p:txBody>
      </p:sp>
      <p:sp>
        <p:nvSpPr>
          <p:cNvPr id="14" name="Rectangle 13"/>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6510528"/>
            <a:ext cx="731520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RetainIQ · Signal Ops Console</a:t>
            </a:r>
          </a:p>
        </p:txBody>
      </p:sp>
      <p:sp>
        <p:nvSpPr>
          <p:cNvPr id="16" name="TextBox 15"/>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7315200" cy="237744"/>
          </a:xfrm>
          <a:prstGeom prst="rect">
            <a:avLst/>
          </a:prstGeom>
          <a:noFill/>
        </p:spPr>
        <p:txBody>
          <a:bodyPr wrap="square" lIns="0" rIns="0" tIns="0" bIns="0" anchor="t">
            <a:spAutoFit/>
          </a:bodyPr>
          <a:lstStyle/>
          <a:p>
            <a:pPr algn="l">
              <a:lnSpc>
                <a:spcPct val="112000"/>
              </a:lnSpc>
              <a:spcAft>
                <a:spcPts val="0"/>
              </a:spcAft>
            </a:pPr>
            <a:r>
              <a:rPr sz="1000" b="1">
                <a:solidFill>
                  <a:srgbClr val="2FD8B4"/>
                </a:solidFill>
                <a:latin typeface="Consolas"/>
              </a:rPr>
              <a:t>THANK YOU</a:t>
            </a:r>
          </a:p>
        </p:txBody>
      </p:sp>
      <p:sp>
        <p:nvSpPr>
          <p:cNvPr id="5" name="TextBox 4"/>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See it running</a:t>
            </a:r>
          </a:p>
        </p:txBody>
      </p:sp>
      <p:sp>
        <p:nvSpPr>
          <p:cNvPr id="6" name="TextBox 5"/>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Scan to open the live application and score a customer portfolio</a:t>
            </a:r>
          </a:p>
        </p:txBody>
      </p:sp>
      <p:sp>
        <p:nvSpPr>
          <p:cNvPr id="7" name="Rectangle 6"/>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66928" y="1572768"/>
            <a:ext cx="5321808" cy="3310128"/>
          </a:xfrm>
          <a:prstGeom prst="roundRect">
            <a:avLst>
              <a:gd name="adj" fmla="val 8000"/>
            </a:avLst>
          </a:prstGeom>
          <a:solidFill>
            <a:srgbClr val="111A2C"/>
          </a:solidFill>
          <a:ln w="1778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773936"/>
            <a:ext cx="4809744" cy="2926080"/>
          </a:xfrm>
          <a:prstGeom prst="rect">
            <a:avLst/>
          </a:prstGeom>
          <a:noFill/>
        </p:spPr>
        <p:txBody>
          <a:bodyPr wrap="square" lIns="0" rIns="0" tIns="0" bIns="0" anchor="t">
            <a:spAutoFit/>
          </a:bodyPr>
          <a:lstStyle/>
          <a:p>
            <a:pPr algn="l">
              <a:lnSpc>
                <a:spcPct val="112000"/>
              </a:lnSpc>
              <a:spcAft>
                <a:spcPts val="800"/>
              </a:spcAft>
            </a:pPr>
            <a:r>
              <a:rPr sz="1050" b="1">
                <a:solidFill>
                  <a:srgbClr val="2FD8B4"/>
                </a:solidFill>
                <a:latin typeface="Consolas"/>
              </a:rPr>
              <a:t>LIVE APPLICATION</a:t>
            </a:r>
          </a:p>
          <a:p>
            <a:pPr algn="l">
              <a:lnSpc>
                <a:spcPct val="116000"/>
              </a:lnSpc>
              <a:spcAft>
                <a:spcPts val="1000"/>
              </a:spcAft>
            </a:pPr>
            <a:r>
              <a:rPr sz="1100" b="1">
                <a:solidFill>
                  <a:srgbClr val="EAF0F7"/>
                </a:solidFill>
                <a:latin typeface="Segoe UI"/>
              </a:rPr>
              <a:t>retainiq-predictive-customer-retention-zq6x.onrender.com</a:t>
            </a:r>
          </a:p>
          <a:p>
            <a:pPr algn="l">
              <a:lnSpc>
                <a:spcPct val="120000"/>
              </a:lnSpc>
              <a:spcAft>
                <a:spcPts val="1200"/>
              </a:spcAft>
            </a:pPr>
            <a:r>
              <a:rPr sz="1080" b="0">
                <a:solidFill>
                  <a:srgbClr val="8CA0BE"/>
                </a:solidFill>
                <a:latin typeface="Segoe UI"/>
              </a:rPr>
              <a:t>Bulk score a customer CSV, read the dashboard, and download a private report. The model, risk bands, explanations and recommendations run live — the same code paths used for every figure in this deck.</a:t>
            </a:r>
          </a:p>
          <a:p>
            <a:pPr algn="l">
              <a:lnSpc>
                <a:spcPct val="112000"/>
              </a:lnSpc>
              <a:spcAft>
                <a:spcPts val="500"/>
              </a:spcAft>
            </a:pPr>
            <a:r>
              <a:rPr sz="1050" b="1">
                <a:solidFill>
                  <a:srgbClr val="4C8DFF"/>
                </a:solidFill>
                <a:latin typeface="Consolas"/>
              </a:rPr>
              <a:t>SOURCE CODE</a:t>
            </a:r>
          </a:p>
          <a:p>
            <a:pPr algn="l">
              <a:lnSpc>
                <a:spcPct val="116000"/>
              </a:lnSpc>
              <a:spcAft>
                <a:spcPts val="0"/>
              </a:spcAft>
            </a:pPr>
            <a:r>
              <a:rPr sz="1060" b="0">
                <a:solidFill>
                  <a:srgbClr val="EAF0F7"/>
                </a:solidFill>
                <a:latin typeface="Consolas"/>
              </a:rPr>
              <a:t>github.com/Logesh0247/RetainIQ_Signal_Ops_Console</a:t>
            </a:r>
          </a:p>
        </p:txBody>
      </p:sp>
      <p:sp>
        <p:nvSpPr>
          <p:cNvPr id="10" name="Rounded Rectangle 9"/>
          <p:cNvSpPr/>
          <p:nvPr/>
        </p:nvSpPr>
        <p:spPr>
          <a:xfrm>
            <a:off x="5980176" y="1572768"/>
            <a:ext cx="2724912" cy="3310128"/>
          </a:xfrm>
          <a:prstGeom prst="roundRect">
            <a:avLst>
              <a:gd name="adj" fmla="val 8000"/>
            </a:avLst>
          </a:prstGeom>
          <a:solidFill>
            <a:srgbClr val="FFFFFF"/>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qr_live_app.png"/>
          <p:cNvPicPr>
            <a:picLocks noChangeAspect="1"/>
          </p:cNvPicPr>
          <p:nvPr/>
        </p:nvPicPr>
        <p:blipFill>
          <a:blip r:embed="rId2"/>
          <a:stretch>
            <a:fillRect/>
          </a:stretch>
        </p:blipFill>
        <p:spPr>
          <a:xfrm>
            <a:off x="6126480" y="1737360"/>
            <a:ext cx="2432304" cy="2432304"/>
          </a:xfrm>
          <a:prstGeom prst="rect">
            <a:avLst/>
          </a:prstGeom>
        </p:spPr>
      </p:pic>
      <p:sp>
        <p:nvSpPr>
          <p:cNvPr id="12" name="TextBox 11"/>
          <p:cNvSpPr txBox="1"/>
          <p:nvPr/>
        </p:nvSpPr>
        <p:spPr>
          <a:xfrm>
            <a:off x="6126480" y="4279392"/>
            <a:ext cx="2432304" cy="457200"/>
          </a:xfrm>
          <a:prstGeom prst="rect">
            <a:avLst/>
          </a:prstGeom>
          <a:noFill/>
        </p:spPr>
        <p:txBody>
          <a:bodyPr wrap="square" lIns="0" rIns="0" tIns="0" bIns="0" anchor="t">
            <a:spAutoFit/>
          </a:bodyPr>
          <a:lstStyle/>
          <a:p>
            <a:pPr algn="ctr">
              <a:lnSpc>
                <a:spcPct val="112000"/>
              </a:lnSpc>
              <a:spcAft>
                <a:spcPts val="200"/>
              </a:spcAft>
            </a:pPr>
            <a:r>
              <a:rPr sz="950" b="1">
                <a:solidFill>
                  <a:srgbClr val="0A0F1C"/>
                </a:solidFill>
                <a:latin typeface="Consolas"/>
              </a:rPr>
              <a:t>SCAN FOR THE</a:t>
            </a:r>
          </a:p>
          <a:p>
            <a:pPr algn="ctr">
              <a:lnSpc>
                <a:spcPct val="112000"/>
              </a:lnSpc>
              <a:spcAft>
                <a:spcPts val="0"/>
              </a:spcAft>
            </a:pPr>
            <a:r>
              <a:rPr sz="950" b="1">
                <a:solidFill>
                  <a:srgbClr val="0A0F1C"/>
                </a:solidFill>
                <a:latin typeface="Consolas"/>
              </a:rPr>
              <a:t>LIVE APPLICATION</a:t>
            </a:r>
          </a:p>
        </p:txBody>
      </p:sp>
      <p:sp>
        <p:nvSpPr>
          <p:cNvPr id="13" name="Rounded Rectangle 12"/>
          <p:cNvSpPr/>
          <p:nvPr/>
        </p:nvSpPr>
        <p:spPr>
          <a:xfrm>
            <a:off x="8796528" y="1572768"/>
            <a:ext cx="2825496" cy="3310128"/>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qr_repository.png"/>
          <p:cNvPicPr>
            <a:picLocks noChangeAspect="1"/>
          </p:cNvPicPr>
          <p:nvPr/>
        </p:nvPicPr>
        <p:blipFill>
          <a:blip r:embed="rId3"/>
          <a:stretch>
            <a:fillRect/>
          </a:stretch>
        </p:blipFill>
        <p:spPr>
          <a:xfrm>
            <a:off x="9637776" y="1737360"/>
            <a:ext cx="1143000" cy="1143000"/>
          </a:xfrm>
          <a:prstGeom prst="rect">
            <a:avLst/>
          </a:prstGeom>
        </p:spPr>
      </p:pic>
      <p:sp>
        <p:nvSpPr>
          <p:cNvPr id="15" name="TextBox 14"/>
          <p:cNvSpPr txBox="1"/>
          <p:nvPr/>
        </p:nvSpPr>
        <p:spPr>
          <a:xfrm>
            <a:off x="8979408" y="1773936"/>
            <a:ext cx="603504" cy="914400"/>
          </a:xfrm>
          <a:prstGeom prst="rect">
            <a:avLst/>
          </a:prstGeom>
          <a:noFill/>
        </p:spPr>
        <p:txBody>
          <a:bodyPr wrap="square" lIns="0" rIns="0" tIns="0" bIns="0" anchor="t">
            <a:spAutoFit/>
          </a:bodyPr>
          <a:lstStyle/>
          <a:p>
            <a:pPr algn="l">
              <a:lnSpc>
                <a:spcPct val="112000"/>
              </a:lnSpc>
              <a:spcAft>
                <a:spcPts val="300"/>
              </a:spcAft>
            </a:pPr>
            <a:r>
              <a:rPr sz="850" b="1">
                <a:solidFill>
                  <a:srgbClr val="8CA0BE"/>
                </a:solidFill>
                <a:latin typeface="Consolas"/>
              </a:rPr>
              <a:t>SOURCE</a:t>
            </a:r>
          </a:p>
          <a:p>
            <a:pPr algn="l">
              <a:lnSpc>
                <a:spcPct val="112000"/>
              </a:lnSpc>
              <a:spcAft>
                <a:spcPts val="0"/>
              </a:spcAft>
            </a:pPr>
            <a:r>
              <a:rPr sz="850" b="1">
                <a:solidFill>
                  <a:srgbClr val="8CA0BE"/>
                </a:solidFill>
                <a:latin typeface="Consolas"/>
              </a:rPr>
              <a:t>REPO</a:t>
            </a:r>
          </a:p>
        </p:txBody>
      </p:sp>
      <p:sp>
        <p:nvSpPr>
          <p:cNvPr id="16" name="TextBox 15"/>
          <p:cNvSpPr txBox="1"/>
          <p:nvPr/>
        </p:nvSpPr>
        <p:spPr>
          <a:xfrm>
            <a:off x="8979408" y="2907791"/>
            <a:ext cx="2459736" cy="1828800"/>
          </a:xfrm>
          <a:prstGeom prst="rect">
            <a:avLst/>
          </a:prstGeom>
          <a:noFill/>
        </p:spPr>
        <p:txBody>
          <a:bodyPr wrap="square" lIns="0" rIns="0" tIns="0" bIns="0" anchor="t">
            <a:spAutoFit/>
          </a:bodyPr>
          <a:lstStyle/>
          <a:p>
            <a:pPr algn="l">
              <a:lnSpc>
                <a:spcPct val="112000"/>
              </a:lnSpc>
              <a:spcAft>
                <a:spcPts val="500"/>
              </a:spcAft>
            </a:pPr>
            <a:r>
              <a:rPr sz="1900" b="1">
                <a:solidFill>
                  <a:srgbClr val="EAF0F7"/>
                </a:solidFill>
                <a:latin typeface="Segoe UI"/>
              </a:rPr>
              <a:t>Thank you</a:t>
            </a:r>
          </a:p>
          <a:p>
            <a:pPr algn="l">
              <a:lnSpc>
                <a:spcPct val="112000"/>
              </a:lnSpc>
              <a:spcAft>
                <a:spcPts val="1000"/>
              </a:spcAft>
            </a:pPr>
            <a:r>
              <a:rPr sz="1100" b="0">
                <a:solidFill>
                  <a:srgbClr val="2FD8B4"/>
                </a:solidFill>
                <a:latin typeface="Segoe UI"/>
              </a:rPr>
              <a:t>Questions welcome.</a:t>
            </a:r>
          </a:p>
          <a:p>
            <a:pPr algn="l">
              <a:lnSpc>
                <a:spcPct val="118000"/>
              </a:lnSpc>
              <a:spcAft>
                <a:spcPts val="0"/>
              </a:spcAft>
            </a:pPr>
            <a:r>
              <a:rPr sz="1040" b="0">
                <a:solidFill>
                  <a:srgbClr val="8CA0BE"/>
                </a:solidFill>
                <a:latin typeface="Segoe UI"/>
              </a:rPr>
              <a:t>RetainIQ — from a churn probability to a prioritised, explained, costed retention action.</a:t>
            </a:r>
          </a:p>
        </p:txBody>
      </p:sp>
      <p:sp>
        <p:nvSpPr>
          <p:cNvPr id="17" name="TextBox 16"/>
          <p:cNvSpPr txBox="1"/>
          <p:nvPr/>
        </p:nvSpPr>
        <p:spPr>
          <a:xfrm>
            <a:off x="566928" y="5047488"/>
            <a:ext cx="11057839" cy="365760"/>
          </a:xfrm>
          <a:prstGeom prst="rect">
            <a:avLst/>
          </a:prstGeom>
          <a:noFill/>
        </p:spPr>
        <p:txBody>
          <a:bodyPr wrap="square" lIns="0" rIns="0" tIns="0" bIns="0" anchor="t">
            <a:spAutoFit/>
          </a:bodyPr>
          <a:lstStyle/>
          <a:p>
            <a:pPr algn="l">
              <a:lnSpc>
                <a:spcPct val="112000"/>
              </a:lnSpc>
              <a:spcAft>
                <a:spcPts val="0"/>
              </a:spcAft>
            </a:pPr>
            <a:r>
              <a:rPr sz="1050" b="0">
                <a:solidFill>
                  <a:srgbClr val="8CA0BE"/>
                </a:solidFill>
                <a:latin typeface="Consolas"/>
              </a:rPr>
              <a:t>Logesh S.  ·  B.Sc. Data Science  ·  RetainIQ Signal Ops Console  ·  80.34% accuracy  ·  84.91% ROC-AUC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7315200" cy="237744"/>
          </a:xfrm>
          <a:prstGeom prst="rect">
            <a:avLst/>
          </a:prstGeom>
          <a:noFill/>
        </p:spPr>
        <p:txBody>
          <a:bodyPr wrap="square" lIns="0" rIns="0" tIns="0" bIns="0" anchor="t">
            <a:spAutoFit/>
          </a:bodyPr>
          <a:lstStyle/>
          <a:p>
            <a:pPr algn="l">
              <a:lnSpc>
                <a:spcPct val="112000"/>
              </a:lnSpc>
              <a:spcAft>
                <a:spcPts val="0"/>
              </a:spcAft>
            </a:pPr>
            <a:r>
              <a:rPr sz="1000" b="1">
                <a:solidFill>
                  <a:srgbClr val="8CA0BE"/>
                </a:solidFill>
                <a:latin typeface="Consolas"/>
              </a:rPr>
              <a:t>APPENDIX</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Full benchmark table</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Held-out test set, 1,409 customers — every metric recorded</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609344"/>
            <a:ext cx="3977639" cy="457200"/>
          </a:xfrm>
          <a:prstGeom prst="roundRect">
            <a:avLst>
              <a:gd name="adj" fmla="val 8000"/>
            </a:avLst>
          </a:prstGeom>
          <a:solidFill>
            <a:srgbClr val="162136"/>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728216"/>
            <a:ext cx="3758183" cy="292608"/>
          </a:xfrm>
          <a:prstGeom prst="rect">
            <a:avLst/>
          </a:prstGeom>
          <a:noFill/>
        </p:spPr>
        <p:txBody>
          <a:bodyPr wrap="square" lIns="0" rIns="0" tIns="0" bIns="0" anchor="t">
            <a:spAutoFit/>
          </a:bodyPr>
          <a:lstStyle/>
          <a:p>
            <a:pPr algn="l">
              <a:lnSpc>
                <a:spcPct val="112000"/>
              </a:lnSpc>
              <a:spcAft>
                <a:spcPts val="0"/>
              </a:spcAft>
            </a:pPr>
            <a:r>
              <a:rPr sz="1019" b="1">
                <a:solidFill>
                  <a:srgbClr val="8CA0BE"/>
                </a:solidFill>
                <a:latin typeface="Consolas"/>
              </a:rPr>
              <a:t>Model</a:t>
            </a:r>
          </a:p>
        </p:txBody>
      </p:sp>
      <p:sp>
        <p:nvSpPr>
          <p:cNvPr id="9" name="Rounded Rectangle 8"/>
          <p:cNvSpPr/>
          <p:nvPr/>
        </p:nvSpPr>
        <p:spPr>
          <a:xfrm>
            <a:off x="4544568" y="1609344"/>
            <a:ext cx="1426464" cy="457200"/>
          </a:xfrm>
          <a:prstGeom prst="roundRect">
            <a:avLst>
              <a:gd name="adj" fmla="val 8000"/>
            </a:avLst>
          </a:prstGeom>
          <a:solidFill>
            <a:srgbClr val="162136"/>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1728216"/>
            <a:ext cx="1207008" cy="292608"/>
          </a:xfrm>
          <a:prstGeom prst="rect">
            <a:avLst/>
          </a:prstGeom>
          <a:noFill/>
        </p:spPr>
        <p:txBody>
          <a:bodyPr wrap="square" lIns="0" rIns="0" tIns="0" bIns="0" anchor="t">
            <a:spAutoFit/>
          </a:bodyPr>
          <a:lstStyle/>
          <a:p>
            <a:pPr algn="l">
              <a:lnSpc>
                <a:spcPct val="112000"/>
              </a:lnSpc>
              <a:spcAft>
                <a:spcPts val="0"/>
              </a:spcAft>
            </a:pPr>
            <a:r>
              <a:rPr sz="1019" b="1">
                <a:solidFill>
                  <a:srgbClr val="8CA0BE"/>
                </a:solidFill>
                <a:latin typeface="Consolas"/>
              </a:rPr>
              <a:t>Accuracy</a:t>
            </a:r>
          </a:p>
        </p:txBody>
      </p:sp>
      <p:sp>
        <p:nvSpPr>
          <p:cNvPr id="11" name="Rounded Rectangle 10"/>
          <p:cNvSpPr/>
          <p:nvPr/>
        </p:nvSpPr>
        <p:spPr>
          <a:xfrm>
            <a:off x="5971031" y="1609344"/>
            <a:ext cx="1426464" cy="457200"/>
          </a:xfrm>
          <a:prstGeom prst="roundRect">
            <a:avLst>
              <a:gd name="adj" fmla="val 8000"/>
            </a:avLst>
          </a:prstGeom>
          <a:solidFill>
            <a:srgbClr val="162136"/>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99047" y="1728216"/>
            <a:ext cx="1207008" cy="292608"/>
          </a:xfrm>
          <a:prstGeom prst="rect">
            <a:avLst/>
          </a:prstGeom>
          <a:noFill/>
        </p:spPr>
        <p:txBody>
          <a:bodyPr wrap="square" lIns="0" rIns="0" tIns="0" bIns="0" anchor="t">
            <a:spAutoFit/>
          </a:bodyPr>
          <a:lstStyle/>
          <a:p>
            <a:pPr algn="l">
              <a:lnSpc>
                <a:spcPct val="112000"/>
              </a:lnSpc>
              <a:spcAft>
                <a:spcPts val="0"/>
              </a:spcAft>
            </a:pPr>
            <a:r>
              <a:rPr sz="1019" b="1">
                <a:solidFill>
                  <a:srgbClr val="8CA0BE"/>
                </a:solidFill>
                <a:latin typeface="Consolas"/>
              </a:rPr>
              <a:t>Precision</a:t>
            </a:r>
          </a:p>
        </p:txBody>
      </p:sp>
      <p:sp>
        <p:nvSpPr>
          <p:cNvPr id="13" name="Rounded Rectangle 12"/>
          <p:cNvSpPr/>
          <p:nvPr/>
        </p:nvSpPr>
        <p:spPr>
          <a:xfrm>
            <a:off x="7397496" y="1609344"/>
            <a:ext cx="1298448" cy="457200"/>
          </a:xfrm>
          <a:prstGeom prst="roundRect">
            <a:avLst>
              <a:gd name="adj" fmla="val 8000"/>
            </a:avLst>
          </a:prstGeom>
          <a:solidFill>
            <a:srgbClr val="162136"/>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25512" y="1728216"/>
            <a:ext cx="1078992" cy="292608"/>
          </a:xfrm>
          <a:prstGeom prst="rect">
            <a:avLst/>
          </a:prstGeom>
          <a:noFill/>
        </p:spPr>
        <p:txBody>
          <a:bodyPr wrap="square" lIns="0" rIns="0" tIns="0" bIns="0" anchor="t">
            <a:spAutoFit/>
          </a:bodyPr>
          <a:lstStyle/>
          <a:p>
            <a:pPr algn="l">
              <a:lnSpc>
                <a:spcPct val="112000"/>
              </a:lnSpc>
              <a:spcAft>
                <a:spcPts val="0"/>
              </a:spcAft>
            </a:pPr>
            <a:r>
              <a:rPr sz="1019" b="1">
                <a:solidFill>
                  <a:srgbClr val="8CA0BE"/>
                </a:solidFill>
                <a:latin typeface="Consolas"/>
              </a:rPr>
              <a:t>Recall</a:t>
            </a:r>
          </a:p>
        </p:txBody>
      </p:sp>
      <p:sp>
        <p:nvSpPr>
          <p:cNvPr id="15" name="Rounded Rectangle 14"/>
          <p:cNvSpPr/>
          <p:nvPr/>
        </p:nvSpPr>
        <p:spPr>
          <a:xfrm>
            <a:off x="8695944" y="1609344"/>
            <a:ext cx="1298448" cy="457200"/>
          </a:xfrm>
          <a:prstGeom prst="roundRect">
            <a:avLst>
              <a:gd name="adj" fmla="val 8000"/>
            </a:avLst>
          </a:prstGeom>
          <a:solidFill>
            <a:srgbClr val="162136"/>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23960" y="1728216"/>
            <a:ext cx="1078992" cy="292608"/>
          </a:xfrm>
          <a:prstGeom prst="rect">
            <a:avLst/>
          </a:prstGeom>
          <a:noFill/>
        </p:spPr>
        <p:txBody>
          <a:bodyPr wrap="square" lIns="0" rIns="0" tIns="0" bIns="0" anchor="t">
            <a:spAutoFit/>
          </a:bodyPr>
          <a:lstStyle/>
          <a:p>
            <a:pPr algn="l">
              <a:lnSpc>
                <a:spcPct val="112000"/>
              </a:lnSpc>
              <a:spcAft>
                <a:spcPts val="0"/>
              </a:spcAft>
            </a:pPr>
            <a:r>
              <a:rPr sz="1019" b="1">
                <a:solidFill>
                  <a:srgbClr val="8CA0BE"/>
                </a:solidFill>
                <a:latin typeface="Consolas"/>
              </a:rPr>
              <a:t>F1</a:t>
            </a:r>
          </a:p>
        </p:txBody>
      </p:sp>
      <p:sp>
        <p:nvSpPr>
          <p:cNvPr id="17" name="Rounded Rectangle 16"/>
          <p:cNvSpPr/>
          <p:nvPr/>
        </p:nvSpPr>
        <p:spPr>
          <a:xfrm>
            <a:off x="9994392" y="1609344"/>
            <a:ext cx="1636776" cy="457200"/>
          </a:xfrm>
          <a:prstGeom prst="roundRect">
            <a:avLst>
              <a:gd name="adj" fmla="val 8000"/>
            </a:avLst>
          </a:prstGeom>
          <a:solidFill>
            <a:srgbClr val="162136"/>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122408" y="1728216"/>
            <a:ext cx="1417320" cy="292608"/>
          </a:xfrm>
          <a:prstGeom prst="rect">
            <a:avLst/>
          </a:prstGeom>
          <a:noFill/>
        </p:spPr>
        <p:txBody>
          <a:bodyPr wrap="square" lIns="0" rIns="0" tIns="0" bIns="0" anchor="t">
            <a:spAutoFit/>
          </a:bodyPr>
          <a:lstStyle/>
          <a:p>
            <a:pPr algn="l">
              <a:lnSpc>
                <a:spcPct val="112000"/>
              </a:lnSpc>
              <a:spcAft>
                <a:spcPts val="0"/>
              </a:spcAft>
            </a:pPr>
            <a:r>
              <a:rPr sz="1019" b="1">
                <a:solidFill>
                  <a:srgbClr val="8CA0BE"/>
                </a:solidFill>
                <a:latin typeface="Consolas"/>
              </a:rPr>
              <a:t>ROC-AUC</a:t>
            </a:r>
          </a:p>
        </p:txBody>
      </p:sp>
      <p:sp>
        <p:nvSpPr>
          <p:cNvPr id="19" name="Rounded Rectangle 18"/>
          <p:cNvSpPr/>
          <p:nvPr/>
        </p:nvSpPr>
        <p:spPr>
          <a:xfrm>
            <a:off x="566928" y="2157984"/>
            <a:ext cx="3977639" cy="493776"/>
          </a:xfrm>
          <a:prstGeom prst="roundRect">
            <a:avLst>
              <a:gd name="adj" fmla="val 8000"/>
            </a:avLst>
          </a:prstGeom>
          <a:solidFill>
            <a:srgbClr val="111A2C"/>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4944" y="2276856"/>
            <a:ext cx="3758183" cy="292608"/>
          </a:xfrm>
          <a:prstGeom prst="rect">
            <a:avLst/>
          </a:prstGeom>
          <a:noFill/>
        </p:spPr>
        <p:txBody>
          <a:bodyPr wrap="square" lIns="0" rIns="0" tIns="0" bIns="0" anchor="t">
            <a:spAutoFit/>
          </a:bodyPr>
          <a:lstStyle/>
          <a:p>
            <a:pPr algn="l">
              <a:lnSpc>
                <a:spcPct val="112000"/>
              </a:lnSpc>
              <a:spcAft>
                <a:spcPts val="0"/>
              </a:spcAft>
            </a:pPr>
            <a:r>
              <a:rPr sz="1100" b="1">
                <a:solidFill>
                  <a:srgbClr val="EAF0F7"/>
                </a:solidFill>
                <a:latin typeface="Segoe UI"/>
              </a:rPr>
              <a:t>Logistic Regression  ← selected</a:t>
            </a:r>
          </a:p>
        </p:txBody>
      </p:sp>
      <p:sp>
        <p:nvSpPr>
          <p:cNvPr id="21" name="Rounded Rectangle 20"/>
          <p:cNvSpPr/>
          <p:nvPr/>
        </p:nvSpPr>
        <p:spPr>
          <a:xfrm>
            <a:off x="4544568" y="2157984"/>
            <a:ext cx="1426464" cy="493776"/>
          </a:xfrm>
          <a:prstGeom prst="roundRect">
            <a:avLst>
              <a:gd name="adj" fmla="val 8000"/>
            </a:avLst>
          </a:prstGeom>
          <a:solidFill>
            <a:srgbClr val="111A2C"/>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72583" y="2276856"/>
            <a:ext cx="1207008" cy="292608"/>
          </a:xfrm>
          <a:prstGeom prst="rect">
            <a:avLst/>
          </a:prstGeom>
          <a:noFill/>
        </p:spPr>
        <p:txBody>
          <a:bodyPr wrap="square" lIns="0" rIns="0" tIns="0" bIns="0" anchor="t">
            <a:spAutoFit/>
          </a:bodyPr>
          <a:lstStyle/>
          <a:p>
            <a:pPr algn="l">
              <a:lnSpc>
                <a:spcPct val="112000"/>
              </a:lnSpc>
              <a:spcAft>
                <a:spcPts val="0"/>
              </a:spcAft>
            </a:pPr>
            <a:r>
              <a:rPr sz="1100" b="0">
                <a:solidFill>
                  <a:srgbClr val="2FD8B4"/>
                </a:solidFill>
                <a:latin typeface="Consolas"/>
              </a:rPr>
              <a:t>80.34%</a:t>
            </a:r>
          </a:p>
        </p:txBody>
      </p:sp>
      <p:sp>
        <p:nvSpPr>
          <p:cNvPr id="23" name="Rounded Rectangle 22"/>
          <p:cNvSpPr/>
          <p:nvPr/>
        </p:nvSpPr>
        <p:spPr>
          <a:xfrm>
            <a:off x="5971031" y="2157984"/>
            <a:ext cx="1426464" cy="493776"/>
          </a:xfrm>
          <a:prstGeom prst="roundRect">
            <a:avLst>
              <a:gd name="adj" fmla="val 8000"/>
            </a:avLst>
          </a:prstGeom>
          <a:solidFill>
            <a:srgbClr val="111A2C"/>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99047" y="2276856"/>
            <a:ext cx="1207008" cy="292608"/>
          </a:xfrm>
          <a:prstGeom prst="rect">
            <a:avLst/>
          </a:prstGeom>
          <a:noFill/>
        </p:spPr>
        <p:txBody>
          <a:bodyPr wrap="square" lIns="0" rIns="0" tIns="0" bIns="0" anchor="t">
            <a:spAutoFit/>
          </a:bodyPr>
          <a:lstStyle/>
          <a:p>
            <a:pPr algn="l">
              <a:lnSpc>
                <a:spcPct val="112000"/>
              </a:lnSpc>
              <a:spcAft>
                <a:spcPts val="0"/>
              </a:spcAft>
            </a:pPr>
            <a:r>
              <a:rPr sz="1100" b="0">
                <a:solidFill>
                  <a:srgbClr val="2FD8B4"/>
                </a:solidFill>
                <a:latin typeface="Consolas"/>
              </a:rPr>
              <a:t>64.74%</a:t>
            </a:r>
          </a:p>
        </p:txBody>
      </p:sp>
      <p:sp>
        <p:nvSpPr>
          <p:cNvPr id="25" name="Rounded Rectangle 24"/>
          <p:cNvSpPr/>
          <p:nvPr/>
        </p:nvSpPr>
        <p:spPr>
          <a:xfrm>
            <a:off x="7397496" y="2157984"/>
            <a:ext cx="1298448" cy="493776"/>
          </a:xfrm>
          <a:prstGeom prst="roundRect">
            <a:avLst>
              <a:gd name="adj" fmla="val 8000"/>
            </a:avLst>
          </a:prstGeom>
          <a:solidFill>
            <a:srgbClr val="111A2C"/>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25512" y="2276856"/>
            <a:ext cx="1078992" cy="292608"/>
          </a:xfrm>
          <a:prstGeom prst="rect">
            <a:avLst/>
          </a:prstGeom>
          <a:noFill/>
        </p:spPr>
        <p:txBody>
          <a:bodyPr wrap="square" lIns="0" rIns="0" tIns="0" bIns="0" anchor="t">
            <a:spAutoFit/>
          </a:bodyPr>
          <a:lstStyle/>
          <a:p>
            <a:pPr algn="l">
              <a:lnSpc>
                <a:spcPct val="112000"/>
              </a:lnSpc>
              <a:spcAft>
                <a:spcPts val="0"/>
              </a:spcAft>
            </a:pPr>
            <a:r>
              <a:rPr sz="1100" b="0">
                <a:solidFill>
                  <a:srgbClr val="2FD8B4"/>
                </a:solidFill>
                <a:latin typeface="Consolas"/>
              </a:rPr>
              <a:t>56.95%</a:t>
            </a:r>
          </a:p>
        </p:txBody>
      </p:sp>
      <p:sp>
        <p:nvSpPr>
          <p:cNvPr id="27" name="Rounded Rectangle 26"/>
          <p:cNvSpPr/>
          <p:nvPr/>
        </p:nvSpPr>
        <p:spPr>
          <a:xfrm>
            <a:off x="8695944" y="2157984"/>
            <a:ext cx="1298448" cy="493776"/>
          </a:xfrm>
          <a:prstGeom prst="roundRect">
            <a:avLst>
              <a:gd name="adj" fmla="val 8000"/>
            </a:avLst>
          </a:prstGeom>
          <a:solidFill>
            <a:srgbClr val="111A2C"/>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823960" y="2276856"/>
            <a:ext cx="1078992" cy="292608"/>
          </a:xfrm>
          <a:prstGeom prst="rect">
            <a:avLst/>
          </a:prstGeom>
          <a:noFill/>
        </p:spPr>
        <p:txBody>
          <a:bodyPr wrap="square" lIns="0" rIns="0" tIns="0" bIns="0" anchor="t">
            <a:spAutoFit/>
          </a:bodyPr>
          <a:lstStyle/>
          <a:p>
            <a:pPr algn="l">
              <a:lnSpc>
                <a:spcPct val="112000"/>
              </a:lnSpc>
              <a:spcAft>
                <a:spcPts val="0"/>
              </a:spcAft>
            </a:pPr>
            <a:r>
              <a:rPr sz="1100" b="0">
                <a:solidFill>
                  <a:srgbClr val="2FD8B4"/>
                </a:solidFill>
                <a:latin typeface="Consolas"/>
              </a:rPr>
              <a:t>60.60%</a:t>
            </a:r>
          </a:p>
        </p:txBody>
      </p:sp>
      <p:sp>
        <p:nvSpPr>
          <p:cNvPr id="29" name="Rounded Rectangle 28"/>
          <p:cNvSpPr/>
          <p:nvPr/>
        </p:nvSpPr>
        <p:spPr>
          <a:xfrm>
            <a:off x="9994392" y="2157984"/>
            <a:ext cx="1636776" cy="493776"/>
          </a:xfrm>
          <a:prstGeom prst="roundRect">
            <a:avLst>
              <a:gd name="adj" fmla="val 8000"/>
            </a:avLst>
          </a:prstGeom>
          <a:solidFill>
            <a:srgbClr val="111A2C"/>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22408" y="2276856"/>
            <a:ext cx="1417320" cy="292608"/>
          </a:xfrm>
          <a:prstGeom prst="rect">
            <a:avLst/>
          </a:prstGeom>
          <a:noFill/>
        </p:spPr>
        <p:txBody>
          <a:bodyPr wrap="square" lIns="0" rIns="0" tIns="0" bIns="0" anchor="t">
            <a:spAutoFit/>
          </a:bodyPr>
          <a:lstStyle/>
          <a:p>
            <a:pPr algn="l">
              <a:lnSpc>
                <a:spcPct val="112000"/>
              </a:lnSpc>
              <a:spcAft>
                <a:spcPts val="0"/>
              </a:spcAft>
            </a:pPr>
            <a:r>
              <a:rPr sz="1100" b="0">
                <a:solidFill>
                  <a:srgbClr val="2FD8B4"/>
                </a:solidFill>
                <a:latin typeface="Consolas"/>
              </a:rPr>
              <a:t>84.91%</a:t>
            </a:r>
          </a:p>
        </p:txBody>
      </p:sp>
      <p:sp>
        <p:nvSpPr>
          <p:cNvPr id="31" name="Rounded Rectangle 30"/>
          <p:cNvSpPr/>
          <p:nvPr/>
        </p:nvSpPr>
        <p:spPr>
          <a:xfrm>
            <a:off x="566928" y="2706624"/>
            <a:ext cx="3977639"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4944" y="2825496"/>
            <a:ext cx="3758183" cy="292608"/>
          </a:xfrm>
          <a:prstGeom prst="rect">
            <a:avLst/>
          </a:prstGeom>
          <a:noFill/>
        </p:spPr>
        <p:txBody>
          <a:bodyPr wrap="square" lIns="0" rIns="0" tIns="0" bIns="0" anchor="t">
            <a:spAutoFit/>
          </a:bodyPr>
          <a:lstStyle/>
          <a:p>
            <a:pPr algn="l">
              <a:lnSpc>
                <a:spcPct val="112000"/>
              </a:lnSpc>
              <a:spcAft>
                <a:spcPts val="0"/>
              </a:spcAft>
            </a:pPr>
            <a:r>
              <a:rPr sz="1100" b="0">
                <a:solidFill>
                  <a:srgbClr val="EAF0F7"/>
                </a:solidFill>
                <a:latin typeface="Segoe UI"/>
              </a:rPr>
              <a:t>LightGBM</a:t>
            </a:r>
          </a:p>
        </p:txBody>
      </p:sp>
      <p:sp>
        <p:nvSpPr>
          <p:cNvPr id="33" name="Rounded Rectangle 32"/>
          <p:cNvSpPr/>
          <p:nvPr/>
        </p:nvSpPr>
        <p:spPr>
          <a:xfrm>
            <a:off x="4544568" y="2706624"/>
            <a:ext cx="1426464"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672583" y="2825496"/>
            <a:ext cx="1207008" cy="292608"/>
          </a:xfrm>
          <a:prstGeom prst="rect">
            <a:avLst/>
          </a:prstGeom>
          <a:noFill/>
        </p:spPr>
        <p:txBody>
          <a:bodyPr wrap="square" lIns="0" rIns="0" tIns="0" bIns="0" anchor="t">
            <a:spAutoFit/>
          </a:bodyPr>
          <a:lstStyle/>
          <a:p>
            <a:pPr algn="l">
              <a:lnSpc>
                <a:spcPct val="112000"/>
              </a:lnSpc>
              <a:spcAft>
                <a:spcPts val="0"/>
              </a:spcAft>
            </a:pPr>
            <a:r>
              <a:rPr sz="1100" b="0">
                <a:solidFill>
                  <a:srgbClr val="EAF0F7"/>
                </a:solidFill>
                <a:latin typeface="Consolas"/>
              </a:rPr>
              <a:t>80.06%</a:t>
            </a:r>
          </a:p>
        </p:txBody>
      </p:sp>
      <p:sp>
        <p:nvSpPr>
          <p:cNvPr id="35" name="Rounded Rectangle 34"/>
          <p:cNvSpPr/>
          <p:nvPr/>
        </p:nvSpPr>
        <p:spPr>
          <a:xfrm>
            <a:off x="5971031" y="2706624"/>
            <a:ext cx="1426464"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099047" y="2825496"/>
            <a:ext cx="1207008" cy="292608"/>
          </a:xfrm>
          <a:prstGeom prst="rect">
            <a:avLst/>
          </a:prstGeom>
          <a:noFill/>
        </p:spPr>
        <p:txBody>
          <a:bodyPr wrap="square" lIns="0" rIns="0" tIns="0" bIns="0" anchor="t">
            <a:spAutoFit/>
          </a:bodyPr>
          <a:lstStyle/>
          <a:p>
            <a:pPr algn="l">
              <a:lnSpc>
                <a:spcPct val="112000"/>
              </a:lnSpc>
              <a:spcAft>
                <a:spcPts val="0"/>
              </a:spcAft>
            </a:pPr>
            <a:r>
              <a:rPr sz="1100" b="0">
                <a:solidFill>
                  <a:srgbClr val="EAF0F7"/>
                </a:solidFill>
                <a:latin typeface="Consolas"/>
              </a:rPr>
              <a:t>64.49%</a:t>
            </a:r>
          </a:p>
        </p:txBody>
      </p:sp>
      <p:sp>
        <p:nvSpPr>
          <p:cNvPr id="37" name="Rounded Rectangle 36"/>
          <p:cNvSpPr/>
          <p:nvPr/>
        </p:nvSpPr>
        <p:spPr>
          <a:xfrm>
            <a:off x="7397496" y="2706624"/>
            <a:ext cx="1298448"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525512" y="2825496"/>
            <a:ext cx="1078992" cy="292608"/>
          </a:xfrm>
          <a:prstGeom prst="rect">
            <a:avLst/>
          </a:prstGeom>
          <a:noFill/>
        </p:spPr>
        <p:txBody>
          <a:bodyPr wrap="square" lIns="0" rIns="0" tIns="0" bIns="0" anchor="t">
            <a:spAutoFit/>
          </a:bodyPr>
          <a:lstStyle/>
          <a:p>
            <a:pPr algn="l">
              <a:lnSpc>
                <a:spcPct val="112000"/>
              </a:lnSpc>
              <a:spcAft>
                <a:spcPts val="0"/>
              </a:spcAft>
            </a:pPr>
            <a:r>
              <a:rPr sz="1100" b="0">
                <a:solidFill>
                  <a:srgbClr val="EAF0F7"/>
                </a:solidFill>
                <a:latin typeface="Consolas"/>
              </a:rPr>
              <a:t>55.35%</a:t>
            </a:r>
          </a:p>
        </p:txBody>
      </p:sp>
      <p:sp>
        <p:nvSpPr>
          <p:cNvPr id="39" name="Rounded Rectangle 38"/>
          <p:cNvSpPr/>
          <p:nvPr/>
        </p:nvSpPr>
        <p:spPr>
          <a:xfrm>
            <a:off x="8695944" y="2706624"/>
            <a:ext cx="1298448"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23960" y="2825496"/>
            <a:ext cx="1078992" cy="292608"/>
          </a:xfrm>
          <a:prstGeom prst="rect">
            <a:avLst/>
          </a:prstGeom>
          <a:noFill/>
        </p:spPr>
        <p:txBody>
          <a:bodyPr wrap="square" lIns="0" rIns="0" tIns="0" bIns="0" anchor="t">
            <a:spAutoFit/>
          </a:bodyPr>
          <a:lstStyle/>
          <a:p>
            <a:pPr algn="l">
              <a:lnSpc>
                <a:spcPct val="112000"/>
              </a:lnSpc>
              <a:spcAft>
                <a:spcPts val="0"/>
              </a:spcAft>
            </a:pPr>
            <a:r>
              <a:rPr sz="1100" b="0">
                <a:solidFill>
                  <a:srgbClr val="EAF0F7"/>
                </a:solidFill>
                <a:latin typeface="Consolas"/>
              </a:rPr>
              <a:t>59.57%</a:t>
            </a:r>
          </a:p>
        </p:txBody>
      </p:sp>
      <p:sp>
        <p:nvSpPr>
          <p:cNvPr id="41" name="Rounded Rectangle 40"/>
          <p:cNvSpPr/>
          <p:nvPr/>
        </p:nvSpPr>
        <p:spPr>
          <a:xfrm>
            <a:off x="9994392" y="2706624"/>
            <a:ext cx="1636776"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122408" y="2825496"/>
            <a:ext cx="1417320" cy="292608"/>
          </a:xfrm>
          <a:prstGeom prst="rect">
            <a:avLst/>
          </a:prstGeom>
          <a:noFill/>
        </p:spPr>
        <p:txBody>
          <a:bodyPr wrap="square" lIns="0" rIns="0" tIns="0" bIns="0" anchor="t">
            <a:spAutoFit/>
          </a:bodyPr>
          <a:lstStyle/>
          <a:p>
            <a:pPr algn="l">
              <a:lnSpc>
                <a:spcPct val="112000"/>
              </a:lnSpc>
              <a:spcAft>
                <a:spcPts val="0"/>
              </a:spcAft>
            </a:pPr>
            <a:r>
              <a:rPr sz="1100" b="0">
                <a:solidFill>
                  <a:srgbClr val="EAF0F7"/>
                </a:solidFill>
                <a:latin typeface="Consolas"/>
              </a:rPr>
              <a:t>84.71%</a:t>
            </a:r>
          </a:p>
        </p:txBody>
      </p:sp>
      <p:sp>
        <p:nvSpPr>
          <p:cNvPr id="43" name="Rounded Rectangle 42"/>
          <p:cNvSpPr/>
          <p:nvPr/>
        </p:nvSpPr>
        <p:spPr>
          <a:xfrm>
            <a:off x="566928" y="3255264"/>
            <a:ext cx="3977639"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94944" y="3374136"/>
            <a:ext cx="3758183" cy="292608"/>
          </a:xfrm>
          <a:prstGeom prst="rect">
            <a:avLst/>
          </a:prstGeom>
          <a:noFill/>
        </p:spPr>
        <p:txBody>
          <a:bodyPr wrap="square" lIns="0" rIns="0" tIns="0" bIns="0" anchor="t">
            <a:spAutoFit/>
          </a:bodyPr>
          <a:lstStyle/>
          <a:p>
            <a:pPr algn="l">
              <a:lnSpc>
                <a:spcPct val="112000"/>
              </a:lnSpc>
              <a:spcAft>
                <a:spcPts val="0"/>
              </a:spcAft>
            </a:pPr>
            <a:r>
              <a:rPr sz="1100" b="0">
                <a:solidFill>
                  <a:srgbClr val="EAF0F7"/>
                </a:solidFill>
                <a:latin typeface="Segoe UI"/>
              </a:rPr>
              <a:t>XGBoost</a:t>
            </a:r>
          </a:p>
        </p:txBody>
      </p:sp>
      <p:sp>
        <p:nvSpPr>
          <p:cNvPr id="45" name="Rounded Rectangle 44"/>
          <p:cNvSpPr/>
          <p:nvPr/>
        </p:nvSpPr>
        <p:spPr>
          <a:xfrm>
            <a:off x="4544568" y="3255264"/>
            <a:ext cx="1426464"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72583" y="3374136"/>
            <a:ext cx="1207008" cy="292608"/>
          </a:xfrm>
          <a:prstGeom prst="rect">
            <a:avLst/>
          </a:prstGeom>
          <a:noFill/>
        </p:spPr>
        <p:txBody>
          <a:bodyPr wrap="square" lIns="0" rIns="0" tIns="0" bIns="0" anchor="t">
            <a:spAutoFit/>
          </a:bodyPr>
          <a:lstStyle/>
          <a:p>
            <a:pPr algn="l">
              <a:lnSpc>
                <a:spcPct val="112000"/>
              </a:lnSpc>
              <a:spcAft>
                <a:spcPts val="0"/>
              </a:spcAft>
            </a:pPr>
            <a:r>
              <a:rPr sz="1100" b="0">
                <a:solidFill>
                  <a:srgbClr val="EAF0F7"/>
                </a:solidFill>
                <a:latin typeface="Consolas"/>
              </a:rPr>
              <a:t>79.06%</a:t>
            </a:r>
          </a:p>
        </p:txBody>
      </p:sp>
      <p:sp>
        <p:nvSpPr>
          <p:cNvPr id="47" name="Rounded Rectangle 46"/>
          <p:cNvSpPr/>
          <p:nvPr/>
        </p:nvSpPr>
        <p:spPr>
          <a:xfrm>
            <a:off x="5971031" y="3255264"/>
            <a:ext cx="1426464"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099047" y="3374136"/>
            <a:ext cx="1207008" cy="292608"/>
          </a:xfrm>
          <a:prstGeom prst="rect">
            <a:avLst/>
          </a:prstGeom>
          <a:noFill/>
        </p:spPr>
        <p:txBody>
          <a:bodyPr wrap="square" lIns="0" rIns="0" tIns="0" bIns="0" anchor="t">
            <a:spAutoFit/>
          </a:bodyPr>
          <a:lstStyle/>
          <a:p>
            <a:pPr algn="l">
              <a:lnSpc>
                <a:spcPct val="112000"/>
              </a:lnSpc>
              <a:spcAft>
                <a:spcPts val="0"/>
              </a:spcAft>
            </a:pPr>
            <a:r>
              <a:rPr sz="1100" b="0">
                <a:solidFill>
                  <a:srgbClr val="EAF0F7"/>
                </a:solidFill>
                <a:latin typeface="Consolas"/>
              </a:rPr>
              <a:t>61.72%</a:t>
            </a:r>
          </a:p>
        </p:txBody>
      </p:sp>
      <p:sp>
        <p:nvSpPr>
          <p:cNvPr id="49" name="Rounded Rectangle 48"/>
          <p:cNvSpPr/>
          <p:nvPr/>
        </p:nvSpPr>
        <p:spPr>
          <a:xfrm>
            <a:off x="7397496" y="3255264"/>
            <a:ext cx="1298448"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525512" y="3374136"/>
            <a:ext cx="1078992" cy="292608"/>
          </a:xfrm>
          <a:prstGeom prst="rect">
            <a:avLst/>
          </a:prstGeom>
          <a:noFill/>
        </p:spPr>
        <p:txBody>
          <a:bodyPr wrap="square" lIns="0" rIns="0" tIns="0" bIns="0" anchor="t">
            <a:spAutoFit/>
          </a:bodyPr>
          <a:lstStyle/>
          <a:p>
            <a:pPr algn="l">
              <a:lnSpc>
                <a:spcPct val="112000"/>
              </a:lnSpc>
              <a:spcAft>
                <a:spcPts val="0"/>
              </a:spcAft>
            </a:pPr>
            <a:r>
              <a:rPr sz="1100" b="0">
                <a:solidFill>
                  <a:srgbClr val="EAF0F7"/>
                </a:solidFill>
                <a:latin typeface="Consolas"/>
              </a:rPr>
              <a:t>55.61%</a:t>
            </a:r>
          </a:p>
        </p:txBody>
      </p:sp>
      <p:sp>
        <p:nvSpPr>
          <p:cNvPr id="51" name="Rounded Rectangle 50"/>
          <p:cNvSpPr/>
          <p:nvPr/>
        </p:nvSpPr>
        <p:spPr>
          <a:xfrm>
            <a:off x="8695944" y="3255264"/>
            <a:ext cx="1298448"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823960" y="3374136"/>
            <a:ext cx="1078992" cy="292608"/>
          </a:xfrm>
          <a:prstGeom prst="rect">
            <a:avLst/>
          </a:prstGeom>
          <a:noFill/>
        </p:spPr>
        <p:txBody>
          <a:bodyPr wrap="square" lIns="0" rIns="0" tIns="0" bIns="0" anchor="t">
            <a:spAutoFit/>
          </a:bodyPr>
          <a:lstStyle/>
          <a:p>
            <a:pPr algn="l">
              <a:lnSpc>
                <a:spcPct val="112000"/>
              </a:lnSpc>
              <a:spcAft>
                <a:spcPts val="0"/>
              </a:spcAft>
            </a:pPr>
            <a:r>
              <a:rPr sz="1100" b="0">
                <a:solidFill>
                  <a:srgbClr val="EAF0F7"/>
                </a:solidFill>
                <a:latin typeface="Consolas"/>
              </a:rPr>
              <a:t>58.51%</a:t>
            </a:r>
          </a:p>
        </p:txBody>
      </p:sp>
      <p:sp>
        <p:nvSpPr>
          <p:cNvPr id="53" name="Rounded Rectangle 52"/>
          <p:cNvSpPr/>
          <p:nvPr/>
        </p:nvSpPr>
        <p:spPr>
          <a:xfrm>
            <a:off x="9994392" y="3255264"/>
            <a:ext cx="1636776"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0122408" y="3374136"/>
            <a:ext cx="1417320" cy="292608"/>
          </a:xfrm>
          <a:prstGeom prst="rect">
            <a:avLst/>
          </a:prstGeom>
          <a:noFill/>
        </p:spPr>
        <p:txBody>
          <a:bodyPr wrap="square" lIns="0" rIns="0" tIns="0" bIns="0" anchor="t">
            <a:spAutoFit/>
          </a:bodyPr>
          <a:lstStyle/>
          <a:p>
            <a:pPr algn="l">
              <a:lnSpc>
                <a:spcPct val="112000"/>
              </a:lnSpc>
              <a:spcAft>
                <a:spcPts val="0"/>
              </a:spcAft>
            </a:pPr>
            <a:r>
              <a:rPr sz="1100" b="0">
                <a:solidFill>
                  <a:srgbClr val="EAF0F7"/>
                </a:solidFill>
                <a:latin typeface="Consolas"/>
              </a:rPr>
              <a:t>83.34%</a:t>
            </a:r>
          </a:p>
        </p:txBody>
      </p:sp>
      <p:sp>
        <p:nvSpPr>
          <p:cNvPr id="55" name="Rounded Rectangle 54"/>
          <p:cNvSpPr/>
          <p:nvPr/>
        </p:nvSpPr>
        <p:spPr>
          <a:xfrm>
            <a:off x="566928" y="3803904"/>
            <a:ext cx="3977639"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94944" y="3922776"/>
            <a:ext cx="3758183" cy="292608"/>
          </a:xfrm>
          <a:prstGeom prst="rect">
            <a:avLst/>
          </a:prstGeom>
          <a:noFill/>
        </p:spPr>
        <p:txBody>
          <a:bodyPr wrap="square" lIns="0" rIns="0" tIns="0" bIns="0" anchor="t">
            <a:spAutoFit/>
          </a:bodyPr>
          <a:lstStyle/>
          <a:p>
            <a:pPr algn="l">
              <a:lnSpc>
                <a:spcPct val="112000"/>
              </a:lnSpc>
              <a:spcAft>
                <a:spcPts val="0"/>
              </a:spcAft>
            </a:pPr>
            <a:r>
              <a:rPr sz="1100" b="0">
                <a:solidFill>
                  <a:srgbClr val="EAF0F7"/>
                </a:solidFill>
                <a:latin typeface="Segoe UI"/>
              </a:rPr>
              <a:t>Random Forest</a:t>
            </a:r>
          </a:p>
        </p:txBody>
      </p:sp>
      <p:sp>
        <p:nvSpPr>
          <p:cNvPr id="57" name="Rounded Rectangle 56"/>
          <p:cNvSpPr/>
          <p:nvPr/>
        </p:nvSpPr>
        <p:spPr>
          <a:xfrm>
            <a:off x="4544568" y="3803904"/>
            <a:ext cx="1426464"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672583" y="3922776"/>
            <a:ext cx="1207008" cy="292608"/>
          </a:xfrm>
          <a:prstGeom prst="rect">
            <a:avLst/>
          </a:prstGeom>
          <a:noFill/>
        </p:spPr>
        <p:txBody>
          <a:bodyPr wrap="square" lIns="0" rIns="0" tIns="0" bIns="0" anchor="t">
            <a:spAutoFit/>
          </a:bodyPr>
          <a:lstStyle/>
          <a:p>
            <a:pPr algn="l">
              <a:lnSpc>
                <a:spcPct val="112000"/>
              </a:lnSpc>
              <a:spcAft>
                <a:spcPts val="0"/>
              </a:spcAft>
            </a:pPr>
            <a:r>
              <a:rPr sz="1100" b="0">
                <a:solidFill>
                  <a:srgbClr val="EAF0F7"/>
                </a:solidFill>
                <a:latin typeface="Consolas"/>
              </a:rPr>
              <a:t>78.99%</a:t>
            </a:r>
          </a:p>
        </p:txBody>
      </p:sp>
      <p:sp>
        <p:nvSpPr>
          <p:cNvPr id="59" name="Rounded Rectangle 58"/>
          <p:cNvSpPr/>
          <p:nvPr/>
        </p:nvSpPr>
        <p:spPr>
          <a:xfrm>
            <a:off x="5971031" y="3803904"/>
            <a:ext cx="1426464"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099047" y="3922776"/>
            <a:ext cx="1207008" cy="292608"/>
          </a:xfrm>
          <a:prstGeom prst="rect">
            <a:avLst/>
          </a:prstGeom>
          <a:noFill/>
        </p:spPr>
        <p:txBody>
          <a:bodyPr wrap="square" lIns="0" rIns="0" tIns="0" bIns="0" anchor="t">
            <a:spAutoFit/>
          </a:bodyPr>
          <a:lstStyle/>
          <a:p>
            <a:pPr algn="l">
              <a:lnSpc>
                <a:spcPct val="112000"/>
              </a:lnSpc>
              <a:spcAft>
                <a:spcPts val="0"/>
              </a:spcAft>
            </a:pPr>
            <a:r>
              <a:rPr sz="1100" b="0">
                <a:solidFill>
                  <a:srgbClr val="EAF0F7"/>
                </a:solidFill>
                <a:latin typeface="Consolas"/>
              </a:rPr>
              <a:t>62.34%</a:t>
            </a:r>
          </a:p>
        </p:txBody>
      </p:sp>
      <p:sp>
        <p:nvSpPr>
          <p:cNvPr id="61" name="Rounded Rectangle 60"/>
          <p:cNvSpPr/>
          <p:nvPr/>
        </p:nvSpPr>
        <p:spPr>
          <a:xfrm>
            <a:off x="7397496" y="3803904"/>
            <a:ext cx="1298448"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525512" y="3922776"/>
            <a:ext cx="1078992" cy="292608"/>
          </a:xfrm>
          <a:prstGeom prst="rect">
            <a:avLst/>
          </a:prstGeom>
          <a:noFill/>
        </p:spPr>
        <p:txBody>
          <a:bodyPr wrap="square" lIns="0" rIns="0" tIns="0" bIns="0" anchor="t">
            <a:spAutoFit/>
          </a:bodyPr>
          <a:lstStyle/>
          <a:p>
            <a:pPr algn="l">
              <a:lnSpc>
                <a:spcPct val="112000"/>
              </a:lnSpc>
              <a:spcAft>
                <a:spcPts val="0"/>
              </a:spcAft>
            </a:pPr>
            <a:r>
              <a:rPr sz="1100" b="0">
                <a:solidFill>
                  <a:srgbClr val="EAF0F7"/>
                </a:solidFill>
                <a:latin typeface="Consolas"/>
              </a:rPr>
              <a:t>52.67%</a:t>
            </a:r>
          </a:p>
        </p:txBody>
      </p:sp>
      <p:sp>
        <p:nvSpPr>
          <p:cNvPr id="63" name="Rounded Rectangle 62"/>
          <p:cNvSpPr/>
          <p:nvPr/>
        </p:nvSpPr>
        <p:spPr>
          <a:xfrm>
            <a:off x="8695944" y="3803904"/>
            <a:ext cx="1298448"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823960" y="3922776"/>
            <a:ext cx="1078992" cy="292608"/>
          </a:xfrm>
          <a:prstGeom prst="rect">
            <a:avLst/>
          </a:prstGeom>
          <a:noFill/>
        </p:spPr>
        <p:txBody>
          <a:bodyPr wrap="square" lIns="0" rIns="0" tIns="0" bIns="0" anchor="t">
            <a:spAutoFit/>
          </a:bodyPr>
          <a:lstStyle/>
          <a:p>
            <a:pPr algn="l">
              <a:lnSpc>
                <a:spcPct val="112000"/>
              </a:lnSpc>
              <a:spcAft>
                <a:spcPts val="0"/>
              </a:spcAft>
            </a:pPr>
            <a:r>
              <a:rPr sz="1100" b="0">
                <a:solidFill>
                  <a:srgbClr val="EAF0F7"/>
                </a:solidFill>
                <a:latin typeface="Consolas"/>
              </a:rPr>
              <a:t>57.10%</a:t>
            </a:r>
          </a:p>
        </p:txBody>
      </p:sp>
      <p:sp>
        <p:nvSpPr>
          <p:cNvPr id="65" name="Rounded Rectangle 64"/>
          <p:cNvSpPr/>
          <p:nvPr/>
        </p:nvSpPr>
        <p:spPr>
          <a:xfrm>
            <a:off x="9994392" y="3803904"/>
            <a:ext cx="1636776" cy="49377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0122408" y="3922776"/>
            <a:ext cx="1417320" cy="292608"/>
          </a:xfrm>
          <a:prstGeom prst="rect">
            <a:avLst/>
          </a:prstGeom>
          <a:noFill/>
        </p:spPr>
        <p:txBody>
          <a:bodyPr wrap="square" lIns="0" rIns="0" tIns="0" bIns="0" anchor="t">
            <a:spAutoFit/>
          </a:bodyPr>
          <a:lstStyle/>
          <a:p>
            <a:pPr algn="l">
              <a:lnSpc>
                <a:spcPct val="112000"/>
              </a:lnSpc>
              <a:spcAft>
                <a:spcPts val="0"/>
              </a:spcAft>
            </a:pPr>
            <a:r>
              <a:rPr sz="1100" b="0">
                <a:solidFill>
                  <a:srgbClr val="EAF0F7"/>
                </a:solidFill>
                <a:latin typeface="Consolas"/>
              </a:rPr>
              <a:t>83.48%</a:t>
            </a:r>
          </a:p>
        </p:txBody>
      </p:sp>
      <p:sp>
        <p:nvSpPr>
          <p:cNvPr id="67" name="TextBox 66"/>
          <p:cNvSpPr txBox="1"/>
          <p:nvPr/>
        </p:nvSpPr>
        <p:spPr>
          <a:xfrm>
            <a:off x="566928" y="4553712"/>
            <a:ext cx="11057839" cy="1280160"/>
          </a:xfrm>
          <a:prstGeom prst="rect">
            <a:avLst/>
          </a:prstGeom>
          <a:noFill/>
        </p:spPr>
        <p:txBody>
          <a:bodyPr wrap="square" lIns="0" rIns="0" tIns="0" bIns="0" anchor="t">
            <a:spAutoFit/>
          </a:bodyPr>
          <a:lstStyle/>
          <a:p>
            <a:pPr algn="l">
              <a:lnSpc>
                <a:spcPct val="118000"/>
              </a:lnSpc>
              <a:spcAft>
                <a:spcPts val="600"/>
              </a:spcAft>
            </a:pPr>
            <a:r>
              <a:rPr sz="1100" b="0">
                <a:solidFill>
                  <a:srgbClr val="8CA0BE"/>
                </a:solidFill>
                <a:latin typeface="Segoe UI"/>
              </a:rPr>
              <a:t>All four models were trained on the identical 5,634-row training split with the identical 30-feature frame, and evaluated with the same scoring code — the only variable is the algorithm.</a:t>
            </a:r>
          </a:p>
          <a:p>
            <a:pPr algn="l">
              <a:lnSpc>
                <a:spcPct val="112000"/>
              </a:lnSpc>
              <a:spcAft>
                <a:spcPts val="0"/>
              </a:spcAft>
            </a:pPr>
            <a:r>
              <a:rPr sz="1050" b="0">
                <a:solidFill>
                  <a:srgbClr val="2FD8B4"/>
                </a:solidFill>
                <a:latin typeface="Consolas"/>
              </a:rPr>
              <a:t>Reproduce: python presentation/build_assets.py  →  writes presentation/assets/model_metrics.csv</a:t>
            </a:r>
          </a:p>
        </p:txBody>
      </p:sp>
      <p:sp>
        <p:nvSpPr>
          <p:cNvPr id="68" name="Rectangle 67"/>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566928" y="6510528"/>
            <a:ext cx="731520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Appendix · use only if asked</a:t>
            </a:r>
          </a:p>
        </p:txBody>
      </p:sp>
      <p:sp>
        <p:nvSpPr>
          <p:cNvPr id="70" name="TextBox 69"/>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7315200" cy="237744"/>
          </a:xfrm>
          <a:prstGeom prst="rect">
            <a:avLst/>
          </a:prstGeom>
          <a:noFill/>
        </p:spPr>
        <p:txBody>
          <a:bodyPr wrap="square" lIns="0" rIns="0" tIns="0" bIns="0" anchor="t">
            <a:spAutoFit/>
          </a:bodyPr>
          <a:lstStyle/>
          <a:p>
            <a:pPr algn="l">
              <a:lnSpc>
                <a:spcPct val="112000"/>
              </a:lnSpc>
              <a:spcAft>
                <a:spcPts val="0"/>
              </a:spcAft>
            </a:pPr>
            <a:r>
              <a:rPr sz="1000" b="1">
                <a:solidFill>
                  <a:srgbClr val="8CA0BE"/>
                </a:solidFill>
                <a:latin typeface="Consolas"/>
              </a:rPr>
              <a:t>APPENDIX</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The prediction API</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The same model and preprocessing exposed programmatically</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572768"/>
            <a:ext cx="5486400" cy="3017520"/>
          </a:xfrm>
          <a:prstGeom prst="roundRect">
            <a:avLst>
              <a:gd name="adj" fmla="val 8000"/>
            </a:avLst>
          </a:prstGeom>
          <a:solidFill>
            <a:srgbClr val="162136"/>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 y="1700784"/>
            <a:ext cx="5084064" cy="2743200"/>
          </a:xfrm>
          <a:prstGeom prst="rect">
            <a:avLst/>
          </a:prstGeom>
          <a:noFill/>
        </p:spPr>
        <p:txBody>
          <a:bodyPr wrap="square" lIns="0" rIns="0" tIns="0" bIns="0" anchor="t">
            <a:spAutoFit/>
          </a:bodyPr>
          <a:lstStyle/>
          <a:p>
            <a:pPr algn="l">
              <a:lnSpc>
                <a:spcPct val="112000"/>
              </a:lnSpc>
              <a:spcAft>
                <a:spcPts val="700"/>
              </a:spcAft>
            </a:pPr>
            <a:r>
              <a:rPr sz="1150" b="1">
                <a:solidFill>
                  <a:srgbClr val="2FD8B4"/>
                </a:solidFill>
                <a:latin typeface="Consolas"/>
              </a:rPr>
              <a:t>POST /api/predict</a:t>
            </a:r>
          </a:p>
          <a:p>
            <a:pPr algn="l">
              <a:lnSpc>
                <a:spcPct val="112000"/>
              </a:lnSpc>
              <a:spcAft>
                <a:spcPts val="100"/>
              </a:spcAft>
            </a:pPr>
            <a:r>
              <a:rPr sz="1000" b="0">
                <a:solidFill>
                  <a:srgbClr val="EAF0F7"/>
                </a:solidFill>
                <a:latin typeface="Consolas"/>
              </a:rPr>
              <a:t>{ "gender": "Male", "SeniorCitizen": 1,</a:t>
            </a:r>
          </a:p>
          <a:p>
            <a:pPr algn="l">
              <a:lnSpc>
                <a:spcPct val="112000"/>
              </a:lnSpc>
              <a:spcAft>
                <a:spcPts val="100"/>
              </a:spcAft>
            </a:pPr>
            <a:r>
              <a:rPr sz="1000" b="0">
                <a:solidFill>
                  <a:srgbClr val="EAF0F7"/>
                </a:solidFill>
                <a:latin typeface="Consolas"/>
              </a:rPr>
              <a:t>  "Partner": "Yes", "Dependents": "No",</a:t>
            </a:r>
          </a:p>
          <a:p>
            <a:pPr algn="l">
              <a:lnSpc>
                <a:spcPct val="112000"/>
              </a:lnSpc>
              <a:spcAft>
                <a:spcPts val="100"/>
              </a:spcAft>
            </a:pPr>
            <a:r>
              <a:rPr sz="1000" b="0">
                <a:solidFill>
                  <a:srgbClr val="EAF0F7"/>
                </a:solidFill>
                <a:latin typeface="Consolas"/>
              </a:rPr>
              <a:t>  "tenure": 8, "InternetService": "Fiber optic",</a:t>
            </a:r>
          </a:p>
          <a:p>
            <a:pPr algn="l">
              <a:lnSpc>
                <a:spcPct val="112000"/>
              </a:lnSpc>
              <a:spcAft>
                <a:spcPts val="100"/>
              </a:spcAft>
            </a:pPr>
            <a:r>
              <a:rPr sz="1000" b="0">
                <a:solidFill>
                  <a:srgbClr val="EAF0F7"/>
                </a:solidFill>
                <a:latin typeface="Consolas"/>
              </a:rPr>
              <a:t>  "OnlineSecurity": "No", "TechSupport": "No",</a:t>
            </a:r>
          </a:p>
          <a:p>
            <a:pPr algn="l">
              <a:lnSpc>
                <a:spcPct val="112000"/>
              </a:lnSpc>
              <a:spcAft>
                <a:spcPts val="1000"/>
              </a:spcAft>
            </a:pPr>
            <a:r>
              <a:rPr sz="1000" b="0">
                <a:solidFill>
                  <a:srgbClr val="EAF0F7"/>
                </a:solidFill>
                <a:latin typeface="Consolas"/>
              </a:rPr>
              <a:t>  "Contract": "Month-to-month", ... }</a:t>
            </a:r>
          </a:p>
          <a:p>
            <a:pPr algn="l">
              <a:lnSpc>
                <a:spcPct val="112000"/>
              </a:lnSpc>
              <a:spcAft>
                <a:spcPts val="100"/>
              </a:spcAft>
            </a:pPr>
            <a:r>
              <a:rPr sz="1019" b="0">
                <a:solidFill>
                  <a:srgbClr val="2FD8B4"/>
                </a:solidFill>
                <a:latin typeface="Consolas"/>
              </a:rPr>
              <a:t>→  probability · prediction · risk_level</a:t>
            </a:r>
          </a:p>
          <a:p>
            <a:pPr algn="l">
              <a:lnSpc>
                <a:spcPct val="112000"/>
              </a:lnSpc>
              <a:spcAft>
                <a:spcPts val="0"/>
              </a:spcAft>
            </a:pPr>
            <a:r>
              <a:rPr sz="1019" b="0">
                <a:solidFill>
                  <a:srgbClr val="2FD8B4"/>
                </a:solidFill>
                <a:latin typeface="Consolas"/>
              </a:rPr>
              <a:t>→  top_drivers · primary_action · recommendations</a:t>
            </a:r>
          </a:p>
        </p:txBody>
      </p:sp>
      <p:sp>
        <p:nvSpPr>
          <p:cNvPr id="9" name="Rounded Rectangle 8"/>
          <p:cNvSpPr/>
          <p:nvPr/>
        </p:nvSpPr>
        <p:spPr>
          <a:xfrm>
            <a:off x="6236208" y="1572768"/>
            <a:ext cx="5385816" cy="3017520"/>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7376" y="1700784"/>
            <a:ext cx="4983480" cy="2743200"/>
          </a:xfrm>
          <a:prstGeom prst="rect">
            <a:avLst/>
          </a:prstGeom>
          <a:noFill/>
        </p:spPr>
        <p:txBody>
          <a:bodyPr wrap="square" lIns="0" rIns="0" tIns="0" bIns="0" anchor="t">
            <a:spAutoFit/>
          </a:bodyPr>
          <a:lstStyle/>
          <a:p>
            <a:pPr algn="l">
              <a:lnSpc>
                <a:spcPct val="112000"/>
              </a:lnSpc>
              <a:spcAft>
                <a:spcPts val="700"/>
              </a:spcAft>
            </a:pPr>
            <a:r>
              <a:rPr sz="1100" b="1">
                <a:solidFill>
                  <a:srgbClr val="2FD8B4"/>
                </a:solidFill>
                <a:latin typeface="Consolas"/>
              </a:rPr>
              <a:t>TWO INTERFACES, ONE ENGINE</a:t>
            </a:r>
          </a:p>
          <a:p>
            <a:pPr algn="l">
              <a:lnSpc>
                <a:spcPct val="118000"/>
              </a:lnSpc>
              <a:spcAft>
                <a:spcPts val="800"/>
              </a:spcAft>
            </a:pPr>
            <a:r>
              <a:rPr sz="1100" b="0">
                <a:solidFill>
                  <a:srgbClr val="EAF0F7"/>
                </a:solidFill>
                <a:latin typeface="Segoe UI"/>
              </a:rPr>
              <a:t>The Flask application is the product; the FastAPI wrapper exists so the same scoring functions can be called from any client.</a:t>
            </a:r>
          </a:p>
          <a:p>
            <a:pPr algn="l">
              <a:lnSpc>
                <a:spcPct val="118000"/>
              </a:lnSpc>
              <a:spcAft>
                <a:spcPts val="800"/>
              </a:spcAft>
            </a:pPr>
            <a:r>
              <a:rPr sz="1100" b="0">
                <a:solidFill>
                  <a:srgbClr val="EAF0F7"/>
                </a:solidFill>
                <a:latin typeface="Segoe UI"/>
              </a:rPr>
              <a:t>Both call utils/prediction.py and src/preprocessing.py — there is no second implementation to keep in sync.</a:t>
            </a:r>
          </a:p>
          <a:p>
            <a:pPr algn="l">
              <a:lnSpc>
                <a:spcPct val="118000"/>
              </a:lnSpc>
              <a:spcAft>
                <a:spcPts val="0"/>
              </a:spcAft>
            </a:pPr>
            <a:r>
              <a:rPr sz="1100" b="0">
                <a:solidFill>
                  <a:srgbClr val="EAF0F7"/>
                </a:solidFill>
                <a:latin typeface="Segoe UI"/>
              </a:rPr>
              <a:t>Pydantic schemas validate every field, so a malformed customer record returns a clear 400 instead of a stack trace.</a:t>
            </a:r>
          </a:p>
        </p:txBody>
      </p:sp>
      <p:sp>
        <p:nvSpPr>
          <p:cNvPr id="11" name="Rectangle 10"/>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6510528"/>
            <a:ext cx="731520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Appendix · use only if asked</a:t>
            </a:r>
          </a:p>
        </p:txBody>
      </p:sp>
      <p:sp>
        <p:nvSpPr>
          <p:cNvPr id="13" name="TextBox 12"/>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7315200" cy="237744"/>
          </a:xfrm>
          <a:prstGeom prst="rect">
            <a:avLst/>
          </a:prstGeom>
          <a:noFill/>
        </p:spPr>
        <p:txBody>
          <a:bodyPr wrap="square" lIns="0" rIns="0" tIns="0" bIns="0" anchor="t">
            <a:spAutoFit/>
          </a:bodyPr>
          <a:lstStyle/>
          <a:p>
            <a:pPr algn="l">
              <a:lnSpc>
                <a:spcPct val="112000"/>
              </a:lnSpc>
              <a:spcAft>
                <a:spcPts val="0"/>
              </a:spcAft>
            </a:pPr>
            <a:r>
              <a:rPr sz="1000" b="1">
                <a:solidFill>
                  <a:srgbClr val="8CA0BE"/>
                </a:solidFill>
                <a:latin typeface="Consolas"/>
              </a:rPr>
              <a:t>APPENDIX</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How these figures were produced</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So the deck can be audited against the repository</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609344"/>
            <a:ext cx="4663440" cy="475488"/>
          </a:xfrm>
          <a:prstGeom prst="roundRect">
            <a:avLst>
              <a:gd name="adj" fmla="val 8000"/>
            </a:avLst>
          </a:prstGeom>
          <a:solidFill>
            <a:srgbClr val="162136"/>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30368" y="1609344"/>
            <a:ext cx="6419088" cy="475488"/>
          </a:xfrm>
          <a:prstGeom prst="roundRect">
            <a:avLst>
              <a:gd name="adj" fmla="val 8000"/>
            </a:avLst>
          </a:prstGeom>
          <a:solidFill>
            <a:srgbClr val="162136"/>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737360"/>
            <a:ext cx="4389120" cy="274320"/>
          </a:xfrm>
          <a:prstGeom prst="rect">
            <a:avLst/>
          </a:prstGeom>
          <a:noFill/>
        </p:spPr>
        <p:txBody>
          <a:bodyPr wrap="square" lIns="0" rIns="0" tIns="0" bIns="0" anchor="t">
            <a:spAutoFit/>
          </a:bodyPr>
          <a:lstStyle/>
          <a:p>
            <a:pPr algn="l">
              <a:lnSpc>
                <a:spcPct val="112000"/>
              </a:lnSpc>
              <a:spcAft>
                <a:spcPts val="0"/>
              </a:spcAft>
            </a:pPr>
            <a:r>
              <a:rPr sz="1060" b="1">
                <a:solidFill>
                  <a:srgbClr val="8CA0BE"/>
                </a:solidFill>
                <a:latin typeface="Segoe UI"/>
              </a:rPr>
              <a:t>Chart / figure</a:t>
            </a:r>
          </a:p>
        </p:txBody>
      </p:sp>
      <p:sp>
        <p:nvSpPr>
          <p:cNvPr id="10" name="TextBox 9"/>
          <p:cNvSpPr txBox="1"/>
          <p:nvPr/>
        </p:nvSpPr>
        <p:spPr>
          <a:xfrm>
            <a:off x="5376672" y="1737360"/>
            <a:ext cx="6126480" cy="274320"/>
          </a:xfrm>
          <a:prstGeom prst="rect">
            <a:avLst/>
          </a:prstGeom>
          <a:noFill/>
        </p:spPr>
        <p:txBody>
          <a:bodyPr wrap="square" lIns="0" rIns="0" tIns="0" bIns="0" anchor="t">
            <a:spAutoFit/>
          </a:bodyPr>
          <a:lstStyle/>
          <a:p>
            <a:pPr algn="l">
              <a:lnSpc>
                <a:spcPct val="112000"/>
              </a:lnSpc>
              <a:spcAft>
                <a:spcPts val="0"/>
              </a:spcAft>
            </a:pPr>
            <a:r>
              <a:rPr sz="1000" b="1">
                <a:solidFill>
                  <a:srgbClr val="8CA0BE"/>
                </a:solidFill>
                <a:latin typeface="Segoe UI"/>
              </a:rPr>
              <a:t>Source</a:t>
            </a:r>
          </a:p>
        </p:txBody>
      </p:sp>
      <p:sp>
        <p:nvSpPr>
          <p:cNvPr id="11" name="Rounded Rectangle 10"/>
          <p:cNvSpPr/>
          <p:nvPr/>
        </p:nvSpPr>
        <p:spPr>
          <a:xfrm>
            <a:off x="566928" y="2139696"/>
            <a:ext cx="4663440" cy="475488"/>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230368" y="2139696"/>
            <a:ext cx="6419088" cy="475488"/>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3232" y="2267712"/>
            <a:ext cx="4389120" cy="274320"/>
          </a:xfrm>
          <a:prstGeom prst="rect">
            <a:avLst/>
          </a:prstGeom>
          <a:noFill/>
        </p:spPr>
        <p:txBody>
          <a:bodyPr wrap="square" lIns="0" rIns="0" tIns="0" bIns="0" anchor="t">
            <a:spAutoFit/>
          </a:bodyPr>
          <a:lstStyle/>
          <a:p>
            <a:pPr algn="l">
              <a:lnSpc>
                <a:spcPct val="112000"/>
              </a:lnSpc>
              <a:spcAft>
                <a:spcPts val="0"/>
              </a:spcAft>
            </a:pPr>
            <a:r>
              <a:rPr sz="1060" b="0">
                <a:solidFill>
                  <a:srgbClr val="EAF0F7"/>
                </a:solidFill>
                <a:latin typeface="Segoe UI"/>
              </a:rPr>
              <a:t>Churn split, contract, internet, tenure</a:t>
            </a:r>
          </a:p>
        </p:txBody>
      </p:sp>
      <p:sp>
        <p:nvSpPr>
          <p:cNvPr id="14" name="TextBox 13"/>
          <p:cNvSpPr txBox="1"/>
          <p:nvPr/>
        </p:nvSpPr>
        <p:spPr>
          <a:xfrm>
            <a:off x="5376672" y="2267712"/>
            <a:ext cx="6126480" cy="274320"/>
          </a:xfrm>
          <a:prstGeom prst="rect">
            <a:avLst/>
          </a:prstGeom>
          <a:noFill/>
        </p:spPr>
        <p:txBody>
          <a:bodyPr wrap="square" lIns="0" rIns="0" tIns="0" bIns="0" anchor="t">
            <a:spAutoFit/>
          </a:bodyPr>
          <a:lstStyle/>
          <a:p>
            <a:pPr algn="l">
              <a:lnSpc>
                <a:spcPct val="112000"/>
              </a:lnSpc>
              <a:spcAft>
                <a:spcPts val="0"/>
              </a:spcAft>
            </a:pPr>
            <a:r>
              <a:rPr sz="1000" b="0">
                <a:solidFill>
                  <a:srgbClr val="2FD8B4"/>
                </a:solidFill>
                <a:latin typeface="Consolas"/>
              </a:rPr>
              <a:t>Data/01.Telco_customer_churn_Dataset.csv</a:t>
            </a:r>
          </a:p>
        </p:txBody>
      </p:sp>
      <p:sp>
        <p:nvSpPr>
          <p:cNvPr id="15" name="Rounded Rectangle 14"/>
          <p:cNvSpPr/>
          <p:nvPr/>
        </p:nvSpPr>
        <p:spPr>
          <a:xfrm>
            <a:off x="566928" y="2670048"/>
            <a:ext cx="4663440" cy="475488"/>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230368" y="2670048"/>
            <a:ext cx="6419088" cy="475488"/>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 y="2798064"/>
            <a:ext cx="4389120" cy="274320"/>
          </a:xfrm>
          <a:prstGeom prst="rect">
            <a:avLst/>
          </a:prstGeom>
          <a:noFill/>
        </p:spPr>
        <p:txBody>
          <a:bodyPr wrap="square" lIns="0" rIns="0" tIns="0" bIns="0" anchor="t">
            <a:spAutoFit/>
          </a:bodyPr>
          <a:lstStyle/>
          <a:p>
            <a:pPr algn="l">
              <a:lnSpc>
                <a:spcPct val="112000"/>
              </a:lnSpc>
              <a:spcAft>
                <a:spcPts val="0"/>
              </a:spcAft>
            </a:pPr>
            <a:r>
              <a:rPr sz="1060" b="0">
                <a:solidFill>
                  <a:srgbClr val="EAF0F7"/>
                </a:solidFill>
                <a:latin typeface="Segoe UI"/>
              </a:rPr>
              <a:t>Model benchmark, confusion matrix, ROC</a:t>
            </a:r>
          </a:p>
        </p:txBody>
      </p:sp>
      <p:sp>
        <p:nvSpPr>
          <p:cNvPr id="18" name="TextBox 17"/>
          <p:cNvSpPr txBox="1"/>
          <p:nvPr/>
        </p:nvSpPr>
        <p:spPr>
          <a:xfrm>
            <a:off x="5376672" y="2798064"/>
            <a:ext cx="6126480" cy="274320"/>
          </a:xfrm>
          <a:prstGeom prst="rect">
            <a:avLst/>
          </a:prstGeom>
          <a:noFill/>
        </p:spPr>
        <p:txBody>
          <a:bodyPr wrap="square" lIns="0" rIns="0" tIns="0" bIns="0" anchor="t">
            <a:spAutoFit/>
          </a:bodyPr>
          <a:lstStyle/>
          <a:p>
            <a:pPr algn="l">
              <a:lnSpc>
                <a:spcPct val="112000"/>
              </a:lnSpc>
              <a:spcAft>
                <a:spcPts val="0"/>
              </a:spcAft>
            </a:pPr>
            <a:r>
              <a:rPr sz="1000" b="0">
                <a:solidFill>
                  <a:srgbClr val="2FD8B4"/>
                </a:solidFill>
                <a:latin typeface="Consolas"/>
              </a:rPr>
              <a:t>models/*.pkl scored on Data/processed_data/test/</a:t>
            </a:r>
          </a:p>
        </p:txBody>
      </p:sp>
      <p:sp>
        <p:nvSpPr>
          <p:cNvPr id="19" name="Rounded Rectangle 18"/>
          <p:cNvSpPr/>
          <p:nvPr/>
        </p:nvSpPr>
        <p:spPr>
          <a:xfrm>
            <a:off x="566928" y="3200400"/>
            <a:ext cx="4663440" cy="475488"/>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230368" y="3200400"/>
            <a:ext cx="6419088" cy="475488"/>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13232" y="3328416"/>
            <a:ext cx="4389120" cy="274320"/>
          </a:xfrm>
          <a:prstGeom prst="rect">
            <a:avLst/>
          </a:prstGeom>
          <a:noFill/>
        </p:spPr>
        <p:txBody>
          <a:bodyPr wrap="square" lIns="0" rIns="0" tIns="0" bIns="0" anchor="t">
            <a:spAutoFit/>
          </a:bodyPr>
          <a:lstStyle/>
          <a:p>
            <a:pPr algn="l">
              <a:lnSpc>
                <a:spcPct val="112000"/>
              </a:lnSpc>
              <a:spcAft>
                <a:spcPts val="0"/>
              </a:spcAft>
            </a:pPr>
            <a:r>
              <a:rPr sz="1060" b="0">
                <a:solidFill>
                  <a:srgbClr val="EAF0F7"/>
                </a:solidFill>
                <a:latin typeface="Segoe UI"/>
              </a:rPr>
              <a:t>Risk bands, high-risk profile, revenue</a:t>
            </a:r>
          </a:p>
        </p:txBody>
      </p:sp>
      <p:sp>
        <p:nvSpPr>
          <p:cNvPr id="22" name="TextBox 21"/>
          <p:cNvSpPr txBox="1"/>
          <p:nvPr/>
        </p:nvSpPr>
        <p:spPr>
          <a:xfrm>
            <a:off x="5376672" y="3328416"/>
            <a:ext cx="6126480" cy="274320"/>
          </a:xfrm>
          <a:prstGeom prst="rect">
            <a:avLst/>
          </a:prstGeom>
          <a:noFill/>
        </p:spPr>
        <p:txBody>
          <a:bodyPr wrap="square" lIns="0" rIns="0" tIns="0" bIns="0" anchor="t">
            <a:spAutoFit/>
          </a:bodyPr>
          <a:lstStyle/>
          <a:p>
            <a:pPr algn="l">
              <a:lnSpc>
                <a:spcPct val="112000"/>
              </a:lnSpc>
              <a:spcAft>
                <a:spcPts val="0"/>
              </a:spcAft>
            </a:pPr>
            <a:r>
              <a:rPr sz="1000" b="0">
                <a:solidFill>
                  <a:srgbClr val="2FD8B4"/>
                </a:solidFill>
                <a:latin typeface="Consolas"/>
              </a:rPr>
              <a:t>Production pipeline — run_bulk_prediction_from_bytes</a:t>
            </a:r>
          </a:p>
        </p:txBody>
      </p:sp>
      <p:sp>
        <p:nvSpPr>
          <p:cNvPr id="23" name="Rounded Rectangle 22"/>
          <p:cNvSpPr/>
          <p:nvPr/>
        </p:nvSpPr>
        <p:spPr>
          <a:xfrm>
            <a:off x="566928" y="3730752"/>
            <a:ext cx="4663440" cy="475488"/>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230368" y="3730752"/>
            <a:ext cx="6419088" cy="475488"/>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3232" y="3858768"/>
            <a:ext cx="4389120" cy="274320"/>
          </a:xfrm>
          <a:prstGeom prst="rect">
            <a:avLst/>
          </a:prstGeom>
          <a:noFill/>
        </p:spPr>
        <p:txBody>
          <a:bodyPr wrap="square" lIns="0" rIns="0" tIns="0" bIns="0" anchor="t">
            <a:spAutoFit/>
          </a:bodyPr>
          <a:lstStyle/>
          <a:p>
            <a:pPr algn="l">
              <a:lnSpc>
                <a:spcPct val="112000"/>
              </a:lnSpc>
              <a:spcAft>
                <a:spcPts val="0"/>
              </a:spcAft>
            </a:pPr>
            <a:r>
              <a:rPr sz="1060" b="0">
                <a:solidFill>
                  <a:srgbClr val="EAF0F7"/>
                </a:solidFill>
                <a:latin typeface="Segoe UI"/>
              </a:rPr>
              <a:t>Console screenshots</a:t>
            </a:r>
          </a:p>
        </p:txBody>
      </p:sp>
      <p:sp>
        <p:nvSpPr>
          <p:cNvPr id="26" name="TextBox 25"/>
          <p:cNvSpPr txBox="1"/>
          <p:nvPr/>
        </p:nvSpPr>
        <p:spPr>
          <a:xfrm>
            <a:off x="5376672" y="3858768"/>
            <a:ext cx="6126480" cy="274320"/>
          </a:xfrm>
          <a:prstGeom prst="rect">
            <a:avLst/>
          </a:prstGeom>
          <a:noFill/>
        </p:spPr>
        <p:txBody>
          <a:bodyPr wrap="square" lIns="0" rIns="0" tIns="0" bIns="0" anchor="t">
            <a:spAutoFit/>
          </a:bodyPr>
          <a:lstStyle/>
          <a:p>
            <a:pPr algn="l">
              <a:lnSpc>
                <a:spcPct val="112000"/>
              </a:lnSpc>
              <a:spcAft>
                <a:spcPts val="0"/>
              </a:spcAft>
            </a:pPr>
            <a:r>
              <a:rPr sz="1000" b="0">
                <a:solidFill>
                  <a:srgbClr val="2FD8B4"/>
                </a:solidFill>
                <a:latin typeface="Consolas"/>
              </a:rPr>
              <a:t>templates/images/ (captured from the live app)</a:t>
            </a:r>
          </a:p>
        </p:txBody>
      </p:sp>
      <p:sp>
        <p:nvSpPr>
          <p:cNvPr id="27" name="Rounded Rectangle 26"/>
          <p:cNvSpPr/>
          <p:nvPr/>
        </p:nvSpPr>
        <p:spPr>
          <a:xfrm>
            <a:off x="566928" y="4261104"/>
            <a:ext cx="4663440" cy="475488"/>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230368" y="4261104"/>
            <a:ext cx="6419088" cy="475488"/>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13232" y="4389120"/>
            <a:ext cx="4389120" cy="274320"/>
          </a:xfrm>
          <a:prstGeom prst="rect">
            <a:avLst/>
          </a:prstGeom>
          <a:noFill/>
        </p:spPr>
        <p:txBody>
          <a:bodyPr wrap="square" lIns="0" rIns="0" tIns="0" bIns="0" anchor="t">
            <a:spAutoFit/>
          </a:bodyPr>
          <a:lstStyle/>
          <a:p>
            <a:pPr algn="l">
              <a:lnSpc>
                <a:spcPct val="112000"/>
              </a:lnSpc>
              <a:spcAft>
                <a:spcPts val="0"/>
              </a:spcAft>
            </a:pPr>
            <a:r>
              <a:rPr sz="1060" b="0">
                <a:solidFill>
                  <a:srgbClr val="EAF0F7"/>
                </a:solidFill>
                <a:latin typeface="Segoe UI"/>
              </a:rPr>
              <a:t>Power BI pages</a:t>
            </a:r>
          </a:p>
        </p:txBody>
      </p:sp>
      <p:sp>
        <p:nvSpPr>
          <p:cNvPr id="30" name="TextBox 29"/>
          <p:cNvSpPr txBox="1"/>
          <p:nvPr/>
        </p:nvSpPr>
        <p:spPr>
          <a:xfrm>
            <a:off x="5376672" y="4389120"/>
            <a:ext cx="6126480" cy="274320"/>
          </a:xfrm>
          <a:prstGeom prst="rect">
            <a:avLst/>
          </a:prstGeom>
          <a:noFill/>
        </p:spPr>
        <p:txBody>
          <a:bodyPr wrap="square" lIns="0" rIns="0" tIns="0" bIns="0" anchor="t">
            <a:spAutoFit/>
          </a:bodyPr>
          <a:lstStyle/>
          <a:p>
            <a:pPr algn="l">
              <a:lnSpc>
                <a:spcPct val="112000"/>
              </a:lnSpc>
              <a:spcAft>
                <a:spcPts val="0"/>
              </a:spcAft>
            </a:pPr>
            <a:r>
              <a:rPr sz="1000" b="0">
                <a:solidFill>
                  <a:srgbClr val="2FD8B4"/>
                </a:solidFill>
                <a:latin typeface="Consolas"/>
              </a:rPr>
              <a:t>Power_BI_dashboard/Screenshots/</a:t>
            </a:r>
          </a:p>
        </p:txBody>
      </p:sp>
      <p:sp>
        <p:nvSpPr>
          <p:cNvPr id="31" name="Rounded Rectangle 30"/>
          <p:cNvSpPr/>
          <p:nvPr/>
        </p:nvSpPr>
        <p:spPr>
          <a:xfrm>
            <a:off x="566928" y="4919472"/>
            <a:ext cx="11057839" cy="1188720"/>
          </a:xfrm>
          <a:prstGeom prst="roundRect">
            <a:avLst>
              <a:gd name="adj" fmla="val 8000"/>
            </a:avLst>
          </a:prstGeom>
          <a:solidFill>
            <a:srgbClr val="162136"/>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9808" y="5047488"/>
            <a:ext cx="10692079" cy="950976"/>
          </a:xfrm>
          <a:prstGeom prst="rect">
            <a:avLst/>
          </a:prstGeom>
          <a:noFill/>
        </p:spPr>
        <p:txBody>
          <a:bodyPr wrap="square" lIns="0" rIns="0" tIns="0" bIns="0" anchor="t">
            <a:spAutoFit/>
          </a:bodyPr>
          <a:lstStyle/>
          <a:p>
            <a:pPr algn="l">
              <a:lnSpc>
                <a:spcPct val="112000"/>
              </a:lnSpc>
              <a:spcAft>
                <a:spcPts val="300"/>
              </a:spcAft>
            </a:pPr>
            <a:r>
              <a:rPr sz="1150" b="1">
                <a:solidFill>
                  <a:srgbClr val="2FD8B4"/>
                </a:solidFill>
                <a:latin typeface="Segoe UI"/>
              </a:rPr>
              <a:t>THE POINT OF THIS SLIDE</a:t>
            </a:r>
          </a:p>
          <a:p>
            <a:pPr algn="l">
              <a:lnSpc>
                <a:spcPct val="116000"/>
              </a:lnSpc>
              <a:spcAft>
                <a:spcPts val="0"/>
              </a:spcAft>
            </a:pPr>
            <a:r>
              <a:rPr sz="1080" b="0">
                <a:solidFill>
                  <a:srgbClr val="EAF0F7"/>
                </a:solidFill>
                <a:latin typeface="Segoe UI"/>
              </a:rPr>
              <a:t>Nothing here is hand-typed. presentation/build_assets.py recomputes every figure from the saved artifacts and the production scoring path, so the deck cannot drift away from the project — if a model is retrained, the charts and the benchmark table regenerate together.</a:t>
            </a:r>
          </a:p>
        </p:txBody>
      </p:sp>
      <p:sp>
        <p:nvSpPr>
          <p:cNvPr id="33" name="Rectangle 32"/>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6928" y="6510528"/>
            <a:ext cx="731520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Appendix · use only if asked</a:t>
            </a:r>
          </a:p>
        </p:txBody>
      </p:sp>
      <p:sp>
        <p:nvSpPr>
          <p:cNvPr id="35" name="TextBox 34"/>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