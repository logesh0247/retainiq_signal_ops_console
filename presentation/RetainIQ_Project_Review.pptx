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(0:00–0:35). "Good morning. A telecom knows it lost a quarter of its</a:t>
            </a:r>
          </a:p>
          <a:p>
            <a:r>
              <a:t>customers last year. What it cannot tell you is who leaves next month, why, or</a:t>
            </a:r>
          </a:p>
          <a:p>
            <a:r>
              <a:t>what to do about it. That gap is the whole project.</a:t>
            </a:r>
          </a:p>
          <a:p/>
          <a:p>
            <a:r>
              <a:t>RetainIQ reads a customer's weakening signal — from raw records, to a predicted</a:t>
            </a:r>
          </a:p>
          <a:p>
            <a:r>
              <a:t>probability, to an explained reason, to a recommended action, and finally to the</a:t>
            </a:r>
          </a:p>
          <a:p>
            <a:r>
              <a:t>revenue that action protects. 80.34% accuracy, 84.91% ROC-AUC, 7,043 customers</a:t>
            </a:r>
          </a:p>
          <a:p>
            <a:r>
              <a:t>scored, and $92,539 a month of recurring revenue sitting in the high-risk band."</a:t>
            </a:r>
          </a:p>
          <a:p/>
          <a:p>
            <a:r>
              <a:t>Then move — do not read the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(0:35–1:05) "The core project workflow maps to these fourteen phases, grouped into</a:t>
            </a:r>
          </a:p>
          <a:p>
            <a:r>
              <a:t>three acts. The comparison, responsibility, demo and closing slides frame that</a:t>
            </a:r>
          </a:p>
          <a:p>
            <a:r>
              <a:t>technical journey."</a:t>
            </a:r>
          </a:p>
          <a:p>
            <a:r>
              <a:t>Point along the arcs: "Act one, the signal fades — the problem and the data. Act</a:t>
            </a:r>
          </a:p>
          <a:p>
            <a:r>
              <a:t>two, reading the signal — the model work. Act three — what it's worth and the</a:t>
            </a:r>
          </a:p>
          <a:p>
            <a:r>
              <a:t>product."</a:t>
            </a:r>
          </a:p>
          <a:p>
            <a:r>
              <a:t>Promise the structure and then keep it. Do not narrate every box.</a:t>
            </a:r>
          </a:p>
          <a:p>
            <a:r>
              <a:t>Point to the footer rail: each of its 22 dashes is a direct link to that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(1:05–1:55) Frame the pain, then the four questions — they structure the entire</a:t>
            </a:r>
          </a:p>
          <a:p>
            <a:r>
              <a:t>solution. Finish on the donut: "Notice the trap. If I predict nobody churns I'm</a:t>
            </a:r>
          </a:p>
          <a:p>
            <a:r>
              <a:t>73.46% accurate and completely useless. That single number is why no model in</a:t>
            </a:r>
          </a:p>
          <a:p>
            <a:r>
              <a:t>this deck is chosen on accuracy."</a:t>
            </a:r>
          </a:p>
          <a:p>
            <a:r>
              <a:t>That line earns credibility early and sets up Phase 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(1:55–2:20) Keep the two roles distinct. Power BI summarises historical churn,</a:t>
            </a:r>
          </a:p>
          <a:p>
            <a:r>
              <a:t>KPIs and segment patterns across the portfolio. RetainIQ scores uploaded customer</a:t>
            </a:r>
          </a:p>
          <a:p>
            <a:r>
              <a:t>rows with the deployed Logistic Regression, then returns probabilities, risk tiers,</a:t>
            </a:r>
          </a:p>
          <a:p>
            <a:r>
              <a:t>coefficient-based drivers and rule-based suggestions that can be reviewed in bulk.</a:t>
            </a:r>
          </a:p>
          <a:p>
            <a:r>
              <a:t>The layers complement one another. Campaign uplift has not been measured, and the</a:t>
            </a:r>
          </a:p>
          <a:p>
            <a:r>
              <a:t>revenue numbers are exposure, not confirmed savings. Now move from project context</a:t>
            </a:r>
          </a:p>
          <a:p>
            <a:r>
              <a:t>to the data that feeds the scoring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(2:20–3:00) Quick pass on the tiles. Say that both partitions round to 26.54%</a:t>
            </a:r>
          </a:p>
          <a:p>
            <a:r>
              <a:t>churn because the split is stratified. Be precise: the 1,409 test rows were held</a:t>
            </a:r>
          </a:p>
          <a:p>
            <a:r>
              <a:t>out from fitting, but were used to compare and select candidate models. This is</a:t>
            </a:r>
          </a:p>
          <a:p>
            <a:r>
              <a:t>internal evaluation, not an untouched final or external test. A future nested-CV</a:t>
            </a:r>
          </a:p>
          <a:p>
            <a:r>
              <a:t>or external cohort would give a stronger final estimate.</a:t>
            </a:r>
          </a:p>
          <a:p>
            <a:r>
              <a:t>Then the parity point: "the 30-column contract is saved next to the model and</a:t>
            </a:r>
          </a:p>
          <a:p>
            <a:r>
              <a:t>tested, so the app cannot silently score on the wrong schema."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(3:00–3:45) Walk the four boxes quickly, then slow down on the leakage callout —</a:t>
            </a:r>
          </a:p>
          <a:p>
            <a:r>
              <a:t>reviewers consistently reward this. "Churn Score and Churn Reason are the</a:t>
            </a:r>
          </a:p>
          <a:p>
            <a:r>
              <a:t>dataset's most seductive columns and they're poison: they only exist after the</a:t>
            </a:r>
          </a:p>
          <a:p>
            <a:r>
              <a:t>customer has left. I dropped them. That is why 80% here is a real 80%."</a:t>
            </a:r>
          </a:p>
          <a:p>
            <a:r>
              <a:t>One sentence on encoding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(3:45–4:30) Three takeaways only, no bar-by-bar narration.</a:t>
            </a:r>
          </a:p>
          <a:p>
            <a:r>
              <a:t>"Month-to-month is a 15× risk multiplier."</a:t>
            </a:r>
          </a:p>
          <a:p>
            <a:r>
              <a:t>"Risk is front-loaded — year one is where retention money belongs."</a:t>
            </a:r>
          </a:p>
          <a:p>
            <a:r>
              <a:t>"And the story is service experience, not just price: fiber optic, no security,</a:t>
            </a:r>
          </a:p>
          <a:p>
            <a:r>
              <a:t>no support."</a:t>
            </a:r>
          </a:p>
          <a:p>
            <a:r>
              <a:t>Bridge out: "these are the patterns the model later recovered on its own — and</a:t>
            </a:r>
          </a:p>
          <a:p>
            <a:r>
              <a:t>what the recommendation engine acts 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(4:30–5:00) Short slide, but it answers a question examiners like: "why did you</a:t>
            </a:r>
          </a:p>
          <a:p>
            <a:r>
              <a:t>encode it that way?"</a:t>
            </a:r>
          </a:p>
          <a:p>
            <a:r>
              <a:t>"Three continuous measures. Everything else is a yes/no flag — because numbering</a:t>
            </a:r>
          </a:p>
          <a:p>
            <a:r>
              <a:t>DSL as 1 and Fiber as 2 would invent an ordering that isn't real."</a:t>
            </a:r>
          </a:p>
          <a:p>
            <a:r>
              <a:t>Then the contract point: "the 30 column names are saved with the model and</a:t>
            </a:r>
          </a:p>
          <a:p>
            <a:r>
              <a:t>checked at scoring time, so a schema mismatch fails loudly instead of silently</a:t>
            </a:r>
          </a:p>
          <a:p>
            <a:r>
              <a:t>producing garbage."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(5:00–5:30) "Same features, same split, same code path — the only thing that</a:t>
            </a:r>
          </a:p>
          <a:p>
            <a:r>
              <a:t>changes is the algorithm."</a:t>
            </a:r>
          </a:p>
          <a:p>
            <a:r>
              <a:t>Then the key observation: Logistic Regression leads on F1 and ROC-AUC, with</a:t>
            </a:r>
          </a:p>
          <a:p>
            <a:r>
              <a:t>LightGBM a close second. Say why it matters: "churn here is largely linear in the</a:t>
            </a:r>
          </a:p>
          <a:p>
            <a:r>
              <a:t>encoded features, so the simplest model wins — and that also buys me</a:t>
            </a:r>
          </a:p>
          <a:p>
            <a:r>
              <a:t>explainability for free." That sets up Phase 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(5:30–6:20) The credibility slide — slow down.</a:t>
            </a:r>
          </a:p>
          <a:p>
            <a:r>
              <a:t>"1,409 customers held back entirely. 919 stayed and were correctly left alone;</a:t>
            </a:r>
          </a:p>
          <a:p>
            <a:r>
              <a:t>116 were flagged unnecessarily; 161 churners were missed; 213 caught."</a:t>
            </a:r>
          </a:p>
          <a:p>
            <a:r>
              <a:t>Then the stability point, which most projects never show: "five-fold</a:t>
            </a:r>
          </a:p>
          <a:p>
            <a:r>
              <a:t>cross-validation gives 62.11% F1 with a 2.96 standard deviation, and my deployed</a:t>
            </a:r>
          </a:p>
          <a:p>
            <a:r>
              <a:t>result sits inside it. So this is a stable result, not a lucky split."</a:t>
            </a:r>
          </a:p>
          <a:p>
            <a:r>
              <a:t>Then own the weakness: "recall is 56.95% — that is the one number I would fix</a:t>
            </a:r>
          </a:p>
          <a:p>
            <a:r>
              <a:t>first, and I'll show you exactly how on the next slide."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(6:20–6:50) "Four algorithms, identical treatment. Look at how close they are —</a:t>
            </a:r>
          </a:p>
          <a:p>
            <a:r>
              <a:t>LightGBM is within 0.28 of a point on accuracy. If I had picked on accuracy I'd</a:t>
            </a:r>
          </a:p>
          <a:p>
            <a:r>
              <a:t>have picked a harder model to explain, for no real gain."</a:t>
            </a:r>
          </a:p>
          <a:p>
            <a:r>
              <a:t>Then state the rule: "I selected on F1 and ROC-AUC, because what matters</a:t>
            </a:r>
          </a:p>
          <a:p>
            <a:r>
              <a:t>operationally is ranking risk, not classifying the majority correctly."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(6:50–7:30) This is the strongest slide in the deck — give it time.</a:t>
            </a:r>
          </a:p>
          <a:p>
            <a:r>
              <a:t>"0.5 is a library default, not a business decision. So I measured the whole range."</a:t>
            </a:r>
          </a:p>
          <a:p>
            <a:r>
              <a:t>Point at the crossing: "at 0.35 I catch 71.7% of churners instead of 57% — and F1</a:t>
            </a:r>
          </a:p>
          <a:p>
            <a:r>
              <a:t>actually goes UP, not down."</a:t>
            </a:r>
          </a:p>
          <a:p>
            <a:r>
              <a:t>Then the diagnostic proof, which is the real insight: "I retrained with balanced</a:t>
            </a:r>
          </a:p>
          <a:p>
            <a:r>
              <a:t>class weights. Recall goes from 56.95 to 77.81, and ROC-AUC doesn't move —</a:t>
            </a:r>
          </a:p>
          <a:p>
            <a:r>
              <a:t>84.89 versus 84.90. The model was already ranking customers correctly. Only the</a:t>
            </a:r>
          </a:p>
          <a:p>
            <a:r>
              <a:t>cut-off was discarding them."</a:t>
            </a:r>
          </a:p>
          <a:p>
            <a:r>
              <a:t>Then be honest: "it stays at 0.5 in production today because moving it is a</a:t>
            </a:r>
          </a:p>
          <a:p>
            <a:r>
              <a:t>business decision about the cost of a wasted offer versus a lost customer — not</a:t>
            </a:r>
          </a:p>
          <a:p>
            <a:r>
              <a:t>something I should silently change."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(7:30–8:05) Left chart: "this is who the high-risk band is — every one of them is</a:t>
            </a:r>
          </a:p>
          <a:p>
            <a:r>
              <a:t>month-to-month, 91% are on fiber optic, 95% have no online security, and they</a:t>
            </a:r>
          </a:p>
          <a:p>
            <a:r>
              <a:t>average under ten months of tenure."</a:t>
            </a:r>
          </a:p>
          <a:p>
            <a:r>
              <a:t>Right: "and for a single customer the app names which of those factors pushed</a:t>
            </a:r>
          </a:p>
          <a:p>
            <a:r>
              <a:t>this particular score."</a:t>
            </a:r>
          </a:p>
          <a:p>
            <a:r>
              <a:t>If asked about SHAP: "I ran the SHAP analysis during experimentation; the</a:t>
            </a:r>
          </a:p>
          <a:p>
            <a:r>
              <a:t>deployed model is linear, so I explain it with coefficients — same information,</a:t>
            </a:r>
          </a:p>
          <a:p>
            <a:r>
              <a:t>no runtime cost." Do not overclaim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(8:05–8:40) "A probability isn't something a retention agent can act on, so I cut</a:t>
            </a:r>
          </a:p>
          <a:p>
            <a:r>
              <a:t>it into three bands."</a:t>
            </a:r>
          </a:p>
          <a:p>
            <a:r>
              <a:t>Then the in-dataset check: "Across this full portfolio, observed churn rises from</a:t>
            </a:r>
          </a:p>
          <a:p>
            <a:r>
              <a:t>9.5% in low risk, to 42% in medium and 73% in high. That shows the bands order</a:t>
            </a:r>
          </a:p>
          <a:p>
            <a:r>
              <a:t>this dataset; it is not independent or external validation."</a:t>
            </a:r>
          </a:p>
          <a:p>
            <a:r>
              <a:t>Close operationally: "the team can prioritise 1,135 high-risk rows, rather than</a:t>
            </a:r>
          </a:p>
          <a:p>
            <a:r>
              <a:t>starting with all 7,043." Do not generalise the 73% rate beyond this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(8:40–9:15) "Prediction alone doesn't retain anyone."</a:t>
            </a:r>
          </a:p>
          <a:p>
            <a:r>
              <a:t>Show the offer list — note the biggest group is a contract-upgrade nudge, which</a:t>
            </a:r>
          </a:p>
          <a:p>
            <a:r>
              <a:t>follows directly from the Phase 04 finding about month-to-month risk.</a:t>
            </a:r>
          </a:p>
          <a:p>
            <a:r>
              <a:t>Then be precise about money: "this is monthly revenue at risk — exposure, $92,539</a:t>
            </a:r>
          </a:p>
          <a:p>
            <a:r>
              <a:t>a month sitting in the high-risk band. I deliberately do not call it savings."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(9:15–9:40) "The machine learning app answers what is likely to happen. Power BI</a:t>
            </a:r>
          </a:p>
          <a:p>
            <a:r>
              <a:t>answers what already happened and why — and it's what a non-technical</a:t>
            </a:r>
          </a:p>
          <a:p>
            <a:r>
              <a:t>stakeholder actually opens."</a:t>
            </a:r>
          </a:p>
          <a:p>
            <a:r>
              <a:t>Four pages: executive overview, customer insights, risk intelligence, retention</a:t>
            </a:r>
          </a:p>
          <a:p>
            <a:r>
              <a:t>strategy. One sentence each, don't linger. Point out the underlined .pbit link —</a:t>
            </a:r>
          </a:p>
          <a:p>
            <a:r>
              <a:t>it opens the reusable report template in the project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(9:40–10:10) This is the demo slide. If the live site is warm, switch to it for</a:t>
            </a:r>
          </a:p>
          <a:p>
            <a:r>
              <a:t>thirty seconds; otherwise walk the screenshots.</a:t>
            </a:r>
          </a:p>
          <a:p>
            <a:r>
              <a:t>"Upload a portfolio, validate it before scoring, then read churn rate, risk</a:t>
            </a:r>
          </a:p>
          <a:p>
            <a:r>
              <a:t>distribution and revenue at risk — and drill into any single customer."</a:t>
            </a:r>
          </a:p>
          <a:p>
            <a:r>
              <a:t>One engineering detail worth a sentence: "reports are scoped to the visitor with</a:t>
            </a:r>
          </a:p>
          <a:p>
            <a:r>
              <a:t>a signed cookie, so users never see each other's data — that has its own unit</a:t>
            </a:r>
          </a:p>
          <a:p>
            <a:r>
              <a:t>test."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(10:10–10:35) Don't list technology here — that's the next slide. This slide is</a:t>
            </a:r>
          </a:p>
          <a:p>
            <a:r>
              <a:t>about the production problems, which is what actually separates a notebook from</a:t>
            </a:r>
          </a:p>
          <a:p>
            <a:r>
              <a:t>a deployed service.</a:t>
            </a:r>
          </a:p>
          <a:p>
            <a:r>
              <a:t>"Four things broke or nearly broke when this left my laptop: slow scoring hitting</a:t>
            </a:r>
          </a:p>
          <a:p>
            <a:r>
              <a:t>the worker timeout, the model being reloaded per request, memory creeping until</a:t>
            </a:r>
          </a:p>
          <a:p>
            <a:r>
              <a:t>the platform killed the worker, and the free tier sleeping."</a:t>
            </a:r>
          </a:p>
          <a:p>
            <a:r>
              <a:t>Then the honest operational note: "which means if you scan the QR at the end, and</a:t>
            </a:r>
          </a:p>
          <a:p>
            <a:r>
              <a:t>the app has been idle, you'll wait about a minute for it to wake up. I'll warm it</a:t>
            </a:r>
          </a:p>
          <a:p>
            <a:r>
              <a:t>before we start."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(10:35–11:00) Use the logos as visual anchors; do not read the lists line by line.</a:t>
            </a:r>
          </a:p>
          <a:p>
            <a:r>
              <a:t>"Python, pandas and NumPy handle the data. Scikit-learn trains the deployed</a:t>
            </a:r>
          </a:p>
          <a:p>
            <a:r>
              <a:t>Logistic Regression; Flask and FastAPI expose it; Docker, Render and GitHub carry</a:t>
            </a:r>
          </a:p>
          <a:p>
            <a:r>
              <a:t>it to production; Power BI presents the business view."</a:t>
            </a:r>
          </a:p>
          <a:p>
            <a:r>
              <a:t>SHAP was explored only in research; the production explanations come from the</a:t>
            </a:r>
          </a:p>
          <a:p>
            <a:r>
              <a:t>Logistic Regression coefficients. One shared Python package keeps training and</a:t>
            </a:r>
          </a:p>
          <a:p>
            <a:r>
              <a:t>serving on the same preprocessing and scoring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(11:00–11:30) Most students hide this slide. Put it up and speak precisely.</a:t>
            </a:r>
          </a:p>
          <a:p>
            <a:r>
              <a:t>"Three things I would not do with this model today. I wouldn't trust it on a</a:t>
            </a:r>
          </a:p>
          <a:p>
            <a:r>
              <a:t>different market — it has only ever seen one telecom. I wouldn't quote revenue as</a:t>
            </a:r>
          </a:p>
          <a:p>
            <a:r>
              <a:t>savings, only as exposure. And I wouldn't target by age without a fairness audit.</a:t>
            </a:r>
          </a:p>
          <a:p>
            <a:r>
              <a:t>Senior-customer churn is 41.7% versus 23.6% for non-seniors (1.77×); the overall</a:t>
            </a:r>
          </a:p>
          <a:p>
            <a:r>
              <a:t>rate is 26.54%. We have not measured subgroup errors or offer allocation, so that</a:t>
            </a:r>
          </a:p>
          <a:p>
            <a:r>
              <a:t>gap is a fairness risk to audit, not a claim of demonstrated bias."</a:t>
            </a:r>
          </a:p>
          <a:p>
            <a:r>
              <a:t>Then close the loop: "and the operating-point experiment shows what is possible —</a:t>
            </a:r>
          </a:p>
          <a:p>
            <a:r>
              <a:t>0.35 reaches 71.7% recall and 62.98% F1 on this test split. Choosing a threshold</a:t>
            </a:r>
          </a:p>
          <a:p>
            <a:r>
              <a:t>still needs a business decision about offer capacity and the cost of false alarms."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/ LINKS (11:30–11:45) Use this slide to hand off from the review to the</a:t>
            </a:r>
          </a:p>
          <a:p>
            <a:r>
              <a:t>working product. The live URL is clickable and also available as a QR code; the</a:t>
            </a:r>
          </a:p>
          <a:p>
            <a:r>
              <a:t>source repository has its own QR and link. The same scoring path powers the model,</a:t>
            </a:r>
          </a:p>
          <a:p>
            <a:r>
              <a:t>risk bands, coefficient explanations and recommendations shown throughout the deck.</a:t>
            </a:r>
          </a:p>
          <a:p>
            <a:r>
              <a:t>Offer the demo: "if you'd like, I can upload a customer file and score it live."</a:t>
            </a:r>
          </a:p>
          <a:p>
            <a:r>
              <a:t>The host is a free tier, so warm it before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(11:45–11:55) End on this dedicated final slide. "Thank you for your</a:t>
            </a:r>
          </a:p>
          <a:p>
            <a:r>
              <a:t>time — happy to take questions." Keep the contribution precise: the project turns</a:t>
            </a:r>
          </a:p>
          <a:p>
            <a:r>
              <a:t>a churn probability into a prioritised, explained and costed retention action.</a:t>
            </a:r>
          </a:p>
          <a:p/>
          <a:p>
            <a:r>
              <a:t>LIKELY QUESTIONS</a:t>
            </a:r>
          </a:p>
          <a:p>
            <a:r>
              <a:t>· Why not deep learning? 1,409 test rows and a largely linear signal; the four-way</a:t>
            </a:r>
          </a:p>
          <a:p>
            <a:r>
              <a:t>  benchmark supports the simpler model, and it stays explainable.</a:t>
            </a:r>
          </a:p>
          <a:p>
            <a:r>
              <a:t>· Why is recall low? The 0.5 threshold is a default. Phase 08 shows 0.35 catches</a:t>
            </a:r>
          </a:p>
          <a:p>
            <a:r>
              <a:t>  71.7%, and balanced class weights reach 77.81% recall at identical ROC-AUC.</a:t>
            </a:r>
          </a:p>
          <a:p>
            <a:r>
              <a:t>· Isn't revenue-at-risk optimistic? It is exposure, not savings; validating it</a:t>
            </a:r>
          </a:p>
          <a:p>
            <a:r>
              <a:t>  needs a live campaign.</a:t>
            </a:r>
          </a:p>
          <a:p>
            <a:r>
              <a:t>· How do you know it isn't leakage? Churn Score, Reason, Category and Status are</a:t>
            </a:r>
          </a:p>
          <a:p>
            <a:r>
              <a:t>  post-outcome fields and were dropped before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tainiq-predictive-customer-retention-zq6x.onrender.com" TargetMode="External"/><Relationship Id="rId3" Type="http://schemas.openxmlformats.org/officeDocument/2006/relationships/hyperlink" Target="https://github.com/Logesh0247/RetainIQ_Signal_Ops_Console" TargetMode="External"/><Relationship Id="rId4" Type="http://schemas.openxmlformats.org/officeDocument/2006/relationships/notesSlide" Target="../notesSlides/notesSlide1.xml"/><Relationship Id="rId5" Type="http://schemas.openxmlformats.org/officeDocument/2006/relationships/slide" Target="slide1.xml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4.xml"/><Relationship Id="rId9" Type="http://schemas.openxmlformats.org/officeDocument/2006/relationships/slide" Target="slide5.xml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10.xml"/><Relationship Id="rId15" Type="http://schemas.openxmlformats.org/officeDocument/2006/relationships/slide" Target="slide11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5.xml"/><Relationship Id="rId20" Type="http://schemas.openxmlformats.org/officeDocument/2006/relationships/slide" Target="slide16.xml"/><Relationship Id="rId21" Type="http://schemas.openxmlformats.org/officeDocument/2006/relationships/slide" Target="slide17.xml"/><Relationship Id="rId22" Type="http://schemas.openxmlformats.org/officeDocument/2006/relationships/slide" Target="slide18.xml"/><Relationship Id="rId23" Type="http://schemas.openxmlformats.org/officeDocument/2006/relationships/slide" Target="slide19.xml"/><Relationship Id="rId24" Type="http://schemas.openxmlformats.org/officeDocument/2006/relationships/slide" Target="slide20.xml"/><Relationship Id="rId25" Type="http://schemas.openxmlformats.org/officeDocument/2006/relationships/slide" Target="slide21.xml"/><Relationship Id="rId26" Type="http://schemas.openxmlformats.org/officeDocument/2006/relationships/slide" Target="slide2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5" Type="http://schemas.openxmlformats.org/officeDocument/2006/relationships/slide" Target="slide12.xml"/><Relationship Id="rId16" Type="http://schemas.openxmlformats.org/officeDocument/2006/relationships/slide" Target="slide13.xml"/><Relationship Id="rId17" Type="http://schemas.openxmlformats.org/officeDocument/2006/relationships/slide" Target="slide14.xml"/><Relationship Id="rId18" Type="http://schemas.openxmlformats.org/officeDocument/2006/relationships/slide" Target="slide15.xml"/><Relationship Id="rId19" Type="http://schemas.openxmlformats.org/officeDocument/2006/relationships/slide" Target="slide16.xml"/><Relationship Id="rId20" Type="http://schemas.openxmlformats.org/officeDocument/2006/relationships/slide" Target="slide17.xml"/><Relationship Id="rId21" Type="http://schemas.openxmlformats.org/officeDocument/2006/relationships/slide" Target="slide18.xml"/><Relationship Id="rId22" Type="http://schemas.openxmlformats.org/officeDocument/2006/relationships/slide" Target="slide19.xml"/><Relationship Id="rId23" Type="http://schemas.openxmlformats.org/officeDocument/2006/relationships/slide" Target="slide20.xml"/><Relationship Id="rId24" Type="http://schemas.openxmlformats.org/officeDocument/2006/relationships/slide" Target="slide21.xml"/><Relationship Id="rId25" Type="http://schemas.openxmlformats.org/officeDocument/2006/relationships/slide" Target="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5" Type="http://schemas.openxmlformats.org/officeDocument/2006/relationships/slide" Target="slide12.xml"/><Relationship Id="rId16" Type="http://schemas.openxmlformats.org/officeDocument/2006/relationships/slide" Target="slide13.xml"/><Relationship Id="rId17" Type="http://schemas.openxmlformats.org/officeDocument/2006/relationships/slide" Target="slide14.xml"/><Relationship Id="rId18" Type="http://schemas.openxmlformats.org/officeDocument/2006/relationships/slide" Target="slide15.xml"/><Relationship Id="rId19" Type="http://schemas.openxmlformats.org/officeDocument/2006/relationships/slide" Target="slide16.xml"/><Relationship Id="rId20" Type="http://schemas.openxmlformats.org/officeDocument/2006/relationships/slide" Target="slide17.xml"/><Relationship Id="rId21" Type="http://schemas.openxmlformats.org/officeDocument/2006/relationships/slide" Target="slide18.xml"/><Relationship Id="rId22" Type="http://schemas.openxmlformats.org/officeDocument/2006/relationships/slide" Target="slide19.xml"/><Relationship Id="rId23" Type="http://schemas.openxmlformats.org/officeDocument/2006/relationships/slide" Target="slide20.xml"/><Relationship Id="rId24" Type="http://schemas.openxmlformats.org/officeDocument/2006/relationships/slide" Target="slide21.xml"/><Relationship Id="rId25" Type="http://schemas.openxmlformats.org/officeDocument/2006/relationships/slide" Target="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11.xml"/><Relationship Id="rId14" Type="http://schemas.openxmlformats.org/officeDocument/2006/relationships/slide" Target="slide12.xml"/><Relationship Id="rId15" Type="http://schemas.openxmlformats.org/officeDocument/2006/relationships/slide" Target="slide13.xml"/><Relationship Id="rId16" Type="http://schemas.openxmlformats.org/officeDocument/2006/relationships/slide" Target="slide14.xml"/><Relationship Id="rId17" Type="http://schemas.openxmlformats.org/officeDocument/2006/relationships/slide" Target="slide15.xml"/><Relationship Id="rId18" Type="http://schemas.openxmlformats.org/officeDocument/2006/relationships/slide" Target="slide16.xml"/><Relationship Id="rId19" Type="http://schemas.openxmlformats.org/officeDocument/2006/relationships/slide" Target="slide17.xml"/><Relationship Id="rId20" Type="http://schemas.openxmlformats.org/officeDocument/2006/relationships/slide" Target="slide18.xml"/><Relationship Id="rId21" Type="http://schemas.openxmlformats.org/officeDocument/2006/relationships/slide" Target="slide19.xml"/><Relationship Id="rId22" Type="http://schemas.openxmlformats.org/officeDocument/2006/relationships/slide" Target="slide20.xml"/><Relationship Id="rId23" Type="http://schemas.openxmlformats.org/officeDocument/2006/relationships/slide" Target="slide21.xml"/><Relationship Id="rId24" Type="http://schemas.openxmlformats.org/officeDocument/2006/relationships/slide" Target="slide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11.xml"/><Relationship Id="rId14" Type="http://schemas.openxmlformats.org/officeDocument/2006/relationships/slide" Target="slide12.xml"/><Relationship Id="rId15" Type="http://schemas.openxmlformats.org/officeDocument/2006/relationships/slide" Target="slide13.xml"/><Relationship Id="rId16" Type="http://schemas.openxmlformats.org/officeDocument/2006/relationships/slide" Target="slide14.xml"/><Relationship Id="rId17" Type="http://schemas.openxmlformats.org/officeDocument/2006/relationships/slide" Target="slide15.xml"/><Relationship Id="rId18" Type="http://schemas.openxmlformats.org/officeDocument/2006/relationships/slide" Target="slide16.xml"/><Relationship Id="rId19" Type="http://schemas.openxmlformats.org/officeDocument/2006/relationships/slide" Target="slide17.xml"/><Relationship Id="rId20" Type="http://schemas.openxmlformats.org/officeDocument/2006/relationships/slide" Target="slide18.xml"/><Relationship Id="rId21" Type="http://schemas.openxmlformats.org/officeDocument/2006/relationships/slide" Target="slide19.xml"/><Relationship Id="rId22" Type="http://schemas.openxmlformats.org/officeDocument/2006/relationships/slide" Target="slide20.xml"/><Relationship Id="rId23" Type="http://schemas.openxmlformats.org/officeDocument/2006/relationships/slide" Target="slide21.xml"/><Relationship Id="rId24" Type="http://schemas.openxmlformats.org/officeDocument/2006/relationships/slide" Target="slide2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11.xml"/><Relationship Id="rId14" Type="http://schemas.openxmlformats.org/officeDocument/2006/relationships/slide" Target="slide12.xml"/><Relationship Id="rId15" Type="http://schemas.openxmlformats.org/officeDocument/2006/relationships/slide" Target="slide13.xml"/><Relationship Id="rId16" Type="http://schemas.openxmlformats.org/officeDocument/2006/relationships/slide" Target="slide14.xml"/><Relationship Id="rId17" Type="http://schemas.openxmlformats.org/officeDocument/2006/relationships/slide" Target="slide15.xml"/><Relationship Id="rId18" Type="http://schemas.openxmlformats.org/officeDocument/2006/relationships/slide" Target="slide16.xml"/><Relationship Id="rId19" Type="http://schemas.openxmlformats.org/officeDocument/2006/relationships/slide" Target="slide17.xml"/><Relationship Id="rId20" Type="http://schemas.openxmlformats.org/officeDocument/2006/relationships/slide" Target="slide18.xml"/><Relationship Id="rId21" Type="http://schemas.openxmlformats.org/officeDocument/2006/relationships/slide" Target="slide19.xml"/><Relationship Id="rId22" Type="http://schemas.openxmlformats.org/officeDocument/2006/relationships/slide" Target="slide20.xml"/><Relationship Id="rId23" Type="http://schemas.openxmlformats.org/officeDocument/2006/relationships/slide" Target="slide21.xml"/><Relationship Id="rId24" Type="http://schemas.openxmlformats.org/officeDocument/2006/relationships/slide" Target="slide2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Relationship Id="rId5" Type="http://schemas.openxmlformats.org/officeDocument/2006/relationships/slide" Target="slide1.xml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4.xml"/><Relationship Id="rId9" Type="http://schemas.openxmlformats.org/officeDocument/2006/relationships/slide" Target="slide5.xml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10.xml"/><Relationship Id="rId15" Type="http://schemas.openxmlformats.org/officeDocument/2006/relationships/slide" Target="slide11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5.xml"/><Relationship Id="rId20" Type="http://schemas.openxmlformats.org/officeDocument/2006/relationships/slide" Target="slide16.xml"/><Relationship Id="rId21" Type="http://schemas.openxmlformats.org/officeDocument/2006/relationships/slide" Target="slide17.xml"/><Relationship Id="rId22" Type="http://schemas.openxmlformats.org/officeDocument/2006/relationships/slide" Target="slide18.xml"/><Relationship Id="rId23" Type="http://schemas.openxmlformats.org/officeDocument/2006/relationships/slide" Target="slide19.xml"/><Relationship Id="rId24" Type="http://schemas.openxmlformats.org/officeDocument/2006/relationships/slide" Target="slide20.xml"/><Relationship Id="rId25" Type="http://schemas.openxmlformats.org/officeDocument/2006/relationships/slide" Target="slide21.xml"/><Relationship Id="rId26" Type="http://schemas.openxmlformats.org/officeDocument/2006/relationships/slide" Target="slide2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11.xml"/><Relationship Id="rId14" Type="http://schemas.openxmlformats.org/officeDocument/2006/relationships/slide" Target="slide12.xml"/><Relationship Id="rId15" Type="http://schemas.openxmlformats.org/officeDocument/2006/relationships/slide" Target="slide13.xml"/><Relationship Id="rId16" Type="http://schemas.openxmlformats.org/officeDocument/2006/relationships/slide" Target="slide14.xml"/><Relationship Id="rId17" Type="http://schemas.openxmlformats.org/officeDocument/2006/relationships/slide" Target="slide15.xml"/><Relationship Id="rId18" Type="http://schemas.openxmlformats.org/officeDocument/2006/relationships/slide" Target="slide16.xml"/><Relationship Id="rId19" Type="http://schemas.openxmlformats.org/officeDocument/2006/relationships/slide" Target="slide17.xml"/><Relationship Id="rId20" Type="http://schemas.openxmlformats.org/officeDocument/2006/relationships/slide" Target="slide18.xml"/><Relationship Id="rId21" Type="http://schemas.openxmlformats.org/officeDocument/2006/relationships/slide" Target="slide19.xml"/><Relationship Id="rId22" Type="http://schemas.openxmlformats.org/officeDocument/2006/relationships/slide" Target="slide20.xml"/><Relationship Id="rId23" Type="http://schemas.openxmlformats.org/officeDocument/2006/relationships/slide" Target="slide21.xml"/><Relationship Id="rId24" Type="http://schemas.openxmlformats.org/officeDocument/2006/relationships/slide" Target="slide2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5" Type="http://schemas.openxmlformats.org/officeDocument/2006/relationships/slide" Target="slide12.xml"/><Relationship Id="rId16" Type="http://schemas.openxmlformats.org/officeDocument/2006/relationships/slide" Target="slide13.xml"/><Relationship Id="rId17" Type="http://schemas.openxmlformats.org/officeDocument/2006/relationships/slide" Target="slide14.xml"/><Relationship Id="rId18" Type="http://schemas.openxmlformats.org/officeDocument/2006/relationships/slide" Target="slide15.xml"/><Relationship Id="rId19" Type="http://schemas.openxmlformats.org/officeDocument/2006/relationships/slide" Target="slide16.xml"/><Relationship Id="rId20" Type="http://schemas.openxmlformats.org/officeDocument/2006/relationships/slide" Target="slide17.xml"/><Relationship Id="rId21" Type="http://schemas.openxmlformats.org/officeDocument/2006/relationships/slide" Target="slide18.xml"/><Relationship Id="rId22" Type="http://schemas.openxmlformats.org/officeDocument/2006/relationships/slide" Target="slide19.xml"/><Relationship Id="rId23" Type="http://schemas.openxmlformats.org/officeDocument/2006/relationships/slide" Target="slide20.xml"/><Relationship Id="rId24" Type="http://schemas.openxmlformats.org/officeDocument/2006/relationships/slide" Target="slide21.xml"/><Relationship Id="rId25" Type="http://schemas.openxmlformats.org/officeDocument/2006/relationships/slide" Target="slide2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Relationship Id="rId5" Type="http://schemas.openxmlformats.org/officeDocument/2006/relationships/slide" Target="slide1.xml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4.xml"/><Relationship Id="rId9" Type="http://schemas.openxmlformats.org/officeDocument/2006/relationships/slide" Target="slide5.xml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10.xml"/><Relationship Id="rId15" Type="http://schemas.openxmlformats.org/officeDocument/2006/relationships/slide" Target="slide11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5.xml"/><Relationship Id="rId20" Type="http://schemas.openxmlformats.org/officeDocument/2006/relationships/slide" Target="slide16.xml"/><Relationship Id="rId21" Type="http://schemas.openxmlformats.org/officeDocument/2006/relationships/slide" Target="slide17.xml"/><Relationship Id="rId22" Type="http://schemas.openxmlformats.org/officeDocument/2006/relationships/slide" Target="slide18.xml"/><Relationship Id="rId23" Type="http://schemas.openxmlformats.org/officeDocument/2006/relationships/slide" Target="slide19.xml"/><Relationship Id="rId24" Type="http://schemas.openxmlformats.org/officeDocument/2006/relationships/slide" Target="slide20.xml"/><Relationship Id="rId25" Type="http://schemas.openxmlformats.org/officeDocument/2006/relationships/slide" Target="slide21.xml"/><Relationship Id="rId26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11.xml"/><Relationship Id="rId14" Type="http://schemas.openxmlformats.org/officeDocument/2006/relationships/slide" Target="slide12.xml"/><Relationship Id="rId15" Type="http://schemas.openxmlformats.org/officeDocument/2006/relationships/slide" Target="slide13.xml"/><Relationship Id="rId16" Type="http://schemas.openxmlformats.org/officeDocument/2006/relationships/slide" Target="slide14.xml"/><Relationship Id="rId17" Type="http://schemas.openxmlformats.org/officeDocument/2006/relationships/slide" Target="slide15.xml"/><Relationship Id="rId18" Type="http://schemas.openxmlformats.org/officeDocument/2006/relationships/slide" Target="slide16.xml"/><Relationship Id="rId19" Type="http://schemas.openxmlformats.org/officeDocument/2006/relationships/slide" Target="slide17.xml"/><Relationship Id="rId20" Type="http://schemas.openxmlformats.org/officeDocument/2006/relationships/slide" Target="slide18.xml"/><Relationship Id="rId21" Type="http://schemas.openxmlformats.org/officeDocument/2006/relationships/slide" Target="slide19.xml"/><Relationship Id="rId22" Type="http://schemas.openxmlformats.org/officeDocument/2006/relationships/slide" Target="slide20.xml"/><Relationship Id="rId23" Type="http://schemas.openxmlformats.org/officeDocument/2006/relationships/slide" Target="slide21.xml"/><Relationship Id="rId24" Type="http://schemas.openxmlformats.org/officeDocument/2006/relationships/slide" Target="slide2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5" Type="http://schemas.openxmlformats.org/officeDocument/2006/relationships/slide" Target="slide12.xml"/><Relationship Id="rId16" Type="http://schemas.openxmlformats.org/officeDocument/2006/relationships/slide" Target="slide13.xml"/><Relationship Id="rId17" Type="http://schemas.openxmlformats.org/officeDocument/2006/relationships/slide" Target="slide14.xml"/><Relationship Id="rId18" Type="http://schemas.openxmlformats.org/officeDocument/2006/relationships/slide" Target="slide15.xml"/><Relationship Id="rId19" Type="http://schemas.openxmlformats.org/officeDocument/2006/relationships/slide" Target="slide16.xml"/><Relationship Id="rId20" Type="http://schemas.openxmlformats.org/officeDocument/2006/relationships/slide" Target="slide17.xml"/><Relationship Id="rId21" Type="http://schemas.openxmlformats.org/officeDocument/2006/relationships/slide" Target="slide18.xml"/><Relationship Id="rId22" Type="http://schemas.openxmlformats.org/officeDocument/2006/relationships/slide" Target="slide19.xml"/><Relationship Id="rId23" Type="http://schemas.openxmlformats.org/officeDocument/2006/relationships/slide" Target="slide20.xml"/><Relationship Id="rId24" Type="http://schemas.openxmlformats.org/officeDocument/2006/relationships/slide" Target="slide21.xml"/><Relationship Id="rId25" Type="http://schemas.openxmlformats.org/officeDocument/2006/relationships/slide" Target="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5" Type="http://schemas.openxmlformats.org/officeDocument/2006/relationships/slide" Target="slide12.xml"/><Relationship Id="rId16" Type="http://schemas.openxmlformats.org/officeDocument/2006/relationships/slide" Target="slide13.xml"/><Relationship Id="rId17" Type="http://schemas.openxmlformats.org/officeDocument/2006/relationships/slide" Target="slide14.xml"/><Relationship Id="rId18" Type="http://schemas.openxmlformats.org/officeDocument/2006/relationships/slide" Target="slide15.xml"/><Relationship Id="rId19" Type="http://schemas.openxmlformats.org/officeDocument/2006/relationships/slide" Target="slide16.xml"/><Relationship Id="rId20" Type="http://schemas.openxmlformats.org/officeDocument/2006/relationships/slide" Target="slide17.xml"/><Relationship Id="rId21" Type="http://schemas.openxmlformats.org/officeDocument/2006/relationships/slide" Target="slide18.xml"/><Relationship Id="rId22" Type="http://schemas.openxmlformats.org/officeDocument/2006/relationships/slide" Target="slide19.xml"/><Relationship Id="rId23" Type="http://schemas.openxmlformats.org/officeDocument/2006/relationships/slide" Target="slide20.xml"/><Relationship Id="rId24" Type="http://schemas.openxmlformats.org/officeDocument/2006/relationships/slide" Target="slide21.xml"/><Relationship Id="rId25" Type="http://schemas.openxmlformats.org/officeDocument/2006/relationships/slide" Target="slide2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5" Type="http://schemas.openxmlformats.org/officeDocument/2006/relationships/slide" Target="slide12.xml"/><Relationship Id="rId16" Type="http://schemas.openxmlformats.org/officeDocument/2006/relationships/slide" Target="slide13.xml"/><Relationship Id="rId17" Type="http://schemas.openxmlformats.org/officeDocument/2006/relationships/slide" Target="slide14.xml"/><Relationship Id="rId18" Type="http://schemas.openxmlformats.org/officeDocument/2006/relationships/slide" Target="slide15.xml"/><Relationship Id="rId19" Type="http://schemas.openxmlformats.org/officeDocument/2006/relationships/slide" Target="slide16.xml"/><Relationship Id="rId20" Type="http://schemas.openxmlformats.org/officeDocument/2006/relationships/slide" Target="slide17.xml"/><Relationship Id="rId21" Type="http://schemas.openxmlformats.org/officeDocument/2006/relationships/slide" Target="slide18.xml"/><Relationship Id="rId22" Type="http://schemas.openxmlformats.org/officeDocument/2006/relationships/slide" Target="slide19.xml"/><Relationship Id="rId23" Type="http://schemas.openxmlformats.org/officeDocument/2006/relationships/slide" Target="slide20.xml"/><Relationship Id="rId24" Type="http://schemas.openxmlformats.org/officeDocument/2006/relationships/slide" Target="slide21.xml"/><Relationship Id="rId25" Type="http://schemas.openxmlformats.org/officeDocument/2006/relationships/slide" Target="slide2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5" Type="http://schemas.openxmlformats.org/officeDocument/2006/relationships/slide" Target="slide12.xml"/><Relationship Id="rId16" Type="http://schemas.openxmlformats.org/officeDocument/2006/relationships/slide" Target="slide13.xml"/><Relationship Id="rId17" Type="http://schemas.openxmlformats.org/officeDocument/2006/relationships/slide" Target="slide14.xml"/><Relationship Id="rId18" Type="http://schemas.openxmlformats.org/officeDocument/2006/relationships/slide" Target="slide15.xml"/><Relationship Id="rId19" Type="http://schemas.openxmlformats.org/officeDocument/2006/relationships/slide" Target="slide16.xml"/><Relationship Id="rId20" Type="http://schemas.openxmlformats.org/officeDocument/2006/relationships/slide" Target="slide17.xml"/><Relationship Id="rId21" Type="http://schemas.openxmlformats.org/officeDocument/2006/relationships/slide" Target="slide18.xml"/><Relationship Id="rId22" Type="http://schemas.openxmlformats.org/officeDocument/2006/relationships/slide" Target="slide19.xml"/><Relationship Id="rId23" Type="http://schemas.openxmlformats.org/officeDocument/2006/relationships/slide" Target="slide20.xml"/><Relationship Id="rId24" Type="http://schemas.openxmlformats.org/officeDocument/2006/relationships/slide" Target="slide21.xml"/><Relationship Id="rId25" Type="http://schemas.openxmlformats.org/officeDocument/2006/relationships/slide" Target="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hyperlink" Target="https://github.com/Logesh0247/RetainIQ_Signal_Ops_Console/blob/main/Power_BI_dashboard/dashboard_template.pbit" TargetMode="External"/><Relationship Id="rId5" Type="http://schemas.openxmlformats.org/officeDocument/2006/relationships/notesSlide" Target="../notesSlides/notesSlide16.xml"/><Relationship Id="rId6" Type="http://schemas.openxmlformats.org/officeDocument/2006/relationships/slide" Target="slide1.xml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slide" Target="slide4.xml"/><Relationship Id="rId10" Type="http://schemas.openxmlformats.org/officeDocument/2006/relationships/slide" Target="slide5.xml"/><Relationship Id="rId11" Type="http://schemas.openxmlformats.org/officeDocument/2006/relationships/slide" Target="slide6.xml"/><Relationship Id="rId12" Type="http://schemas.openxmlformats.org/officeDocument/2006/relationships/slide" Target="slide7.xml"/><Relationship Id="rId13" Type="http://schemas.openxmlformats.org/officeDocument/2006/relationships/slide" Target="slide8.xml"/><Relationship Id="rId14" Type="http://schemas.openxmlformats.org/officeDocument/2006/relationships/slide" Target="slide9.xml"/><Relationship Id="rId15" Type="http://schemas.openxmlformats.org/officeDocument/2006/relationships/slide" Target="slide10.xml"/><Relationship Id="rId16" Type="http://schemas.openxmlformats.org/officeDocument/2006/relationships/slide" Target="slide11.xml"/><Relationship Id="rId17" Type="http://schemas.openxmlformats.org/officeDocument/2006/relationships/slide" Target="slide12.xml"/><Relationship Id="rId18" Type="http://schemas.openxmlformats.org/officeDocument/2006/relationships/slide" Target="slide13.xml"/><Relationship Id="rId19" Type="http://schemas.openxmlformats.org/officeDocument/2006/relationships/slide" Target="slide14.xml"/><Relationship Id="rId20" Type="http://schemas.openxmlformats.org/officeDocument/2006/relationships/slide" Target="slide15.xml"/><Relationship Id="rId21" Type="http://schemas.openxmlformats.org/officeDocument/2006/relationships/slide" Target="slide16.xml"/><Relationship Id="rId22" Type="http://schemas.openxmlformats.org/officeDocument/2006/relationships/slide" Target="slide17.xml"/><Relationship Id="rId23" Type="http://schemas.openxmlformats.org/officeDocument/2006/relationships/slide" Target="slide18.xml"/><Relationship Id="rId24" Type="http://schemas.openxmlformats.org/officeDocument/2006/relationships/slide" Target="slide19.xml"/><Relationship Id="rId25" Type="http://schemas.openxmlformats.org/officeDocument/2006/relationships/slide" Target="slide20.xml"/><Relationship Id="rId26" Type="http://schemas.openxmlformats.org/officeDocument/2006/relationships/slide" Target="slide21.xml"/><Relationship Id="rId27" Type="http://schemas.openxmlformats.org/officeDocument/2006/relationships/slide" Target="slide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7.xml"/><Relationship Id="rId5" Type="http://schemas.openxmlformats.org/officeDocument/2006/relationships/slide" Target="slide1.xml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4.xml"/><Relationship Id="rId9" Type="http://schemas.openxmlformats.org/officeDocument/2006/relationships/slide" Target="slide5.xml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10.xml"/><Relationship Id="rId15" Type="http://schemas.openxmlformats.org/officeDocument/2006/relationships/slide" Target="slide11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5.xml"/><Relationship Id="rId20" Type="http://schemas.openxmlformats.org/officeDocument/2006/relationships/slide" Target="slide16.xml"/><Relationship Id="rId21" Type="http://schemas.openxmlformats.org/officeDocument/2006/relationships/slide" Target="slide17.xml"/><Relationship Id="rId22" Type="http://schemas.openxmlformats.org/officeDocument/2006/relationships/slide" Target="slide18.xml"/><Relationship Id="rId23" Type="http://schemas.openxmlformats.org/officeDocument/2006/relationships/slide" Target="slide19.xml"/><Relationship Id="rId24" Type="http://schemas.openxmlformats.org/officeDocument/2006/relationships/slide" Target="slide20.xml"/><Relationship Id="rId25" Type="http://schemas.openxmlformats.org/officeDocument/2006/relationships/slide" Target="slide21.xml"/><Relationship Id="rId26" Type="http://schemas.openxmlformats.org/officeDocument/2006/relationships/slide" Target="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11.xml"/><Relationship Id="rId14" Type="http://schemas.openxmlformats.org/officeDocument/2006/relationships/slide" Target="slide12.xml"/><Relationship Id="rId15" Type="http://schemas.openxmlformats.org/officeDocument/2006/relationships/slide" Target="slide13.xml"/><Relationship Id="rId16" Type="http://schemas.openxmlformats.org/officeDocument/2006/relationships/slide" Target="slide14.xml"/><Relationship Id="rId17" Type="http://schemas.openxmlformats.org/officeDocument/2006/relationships/slide" Target="slide15.xml"/><Relationship Id="rId18" Type="http://schemas.openxmlformats.org/officeDocument/2006/relationships/slide" Target="slide16.xml"/><Relationship Id="rId19" Type="http://schemas.openxmlformats.org/officeDocument/2006/relationships/slide" Target="slide17.xml"/><Relationship Id="rId20" Type="http://schemas.openxmlformats.org/officeDocument/2006/relationships/slide" Target="slide18.xml"/><Relationship Id="rId21" Type="http://schemas.openxmlformats.org/officeDocument/2006/relationships/slide" Target="slide19.xml"/><Relationship Id="rId22" Type="http://schemas.openxmlformats.org/officeDocument/2006/relationships/slide" Target="slide20.xml"/><Relationship Id="rId23" Type="http://schemas.openxmlformats.org/officeDocument/2006/relationships/slide" Target="slide21.xml"/><Relationship Id="rId24" Type="http://schemas.openxmlformats.org/officeDocument/2006/relationships/slide" Target="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notesSlide" Target="../notesSlides/notesSlide19.xml"/><Relationship Id="rId11" Type="http://schemas.openxmlformats.org/officeDocument/2006/relationships/slide" Target="slide1.xml"/><Relationship Id="rId12" Type="http://schemas.openxmlformats.org/officeDocument/2006/relationships/slide" Target="slide2.xml"/><Relationship Id="rId13" Type="http://schemas.openxmlformats.org/officeDocument/2006/relationships/slide" Target="slide3.xml"/><Relationship Id="rId14" Type="http://schemas.openxmlformats.org/officeDocument/2006/relationships/slide" Target="slide4.xml"/><Relationship Id="rId15" Type="http://schemas.openxmlformats.org/officeDocument/2006/relationships/slide" Target="slide5.xml"/><Relationship Id="rId16" Type="http://schemas.openxmlformats.org/officeDocument/2006/relationships/slide" Target="slide6.xml"/><Relationship Id="rId17" Type="http://schemas.openxmlformats.org/officeDocument/2006/relationships/slide" Target="slide7.xml"/><Relationship Id="rId18" Type="http://schemas.openxmlformats.org/officeDocument/2006/relationships/slide" Target="slide8.xml"/><Relationship Id="rId19" Type="http://schemas.openxmlformats.org/officeDocument/2006/relationships/slide" Target="slide9.xml"/><Relationship Id="rId20" Type="http://schemas.openxmlformats.org/officeDocument/2006/relationships/slide" Target="slide10.xml"/><Relationship Id="rId21" Type="http://schemas.openxmlformats.org/officeDocument/2006/relationships/slide" Target="slide11.xml"/><Relationship Id="rId22" Type="http://schemas.openxmlformats.org/officeDocument/2006/relationships/slide" Target="slide12.xml"/><Relationship Id="rId23" Type="http://schemas.openxmlformats.org/officeDocument/2006/relationships/slide" Target="slide13.xml"/><Relationship Id="rId24" Type="http://schemas.openxmlformats.org/officeDocument/2006/relationships/slide" Target="slide14.xml"/><Relationship Id="rId25" Type="http://schemas.openxmlformats.org/officeDocument/2006/relationships/slide" Target="slide15.xml"/><Relationship Id="rId26" Type="http://schemas.openxmlformats.org/officeDocument/2006/relationships/slide" Target="slide16.xml"/><Relationship Id="rId27" Type="http://schemas.openxmlformats.org/officeDocument/2006/relationships/slide" Target="slide17.xml"/><Relationship Id="rId28" Type="http://schemas.openxmlformats.org/officeDocument/2006/relationships/slide" Target="slide18.xml"/><Relationship Id="rId29" Type="http://schemas.openxmlformats.org/officeDocument/2006/relationships/slide" Target="slide19.xml"/><Relationship Id="rId30" Type="http://schemas.openxmlformats.org/officeDocument/2006/relationships/slide" Target="slide20.xml"/><Relationship Id="rId31" Type="http://schemas.openxmlformats.org/officeDocument/2006/relationships/slide" Target="slide21.xml"/><Relationship Id="rId32" Type="http://schemas.openxmlformats.org/officeDocument/2006/relationships/slide" Target="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11.xml"/><Relationship Id="rId14" Type="http://schemas.openxmlformats.org/officeDocument/2006/relationships/slide" Target="slide12.xml"/><Relationship Id="rId15" Type="http://schemas.openxmlformats.org/officeDocument/2006/relationships/slide" Target="slide13.xml"/><Relationship Id="rId16" Type="http://schemas.openxmlformats.org/officeDocument/2006/relationships/slide" Target="slide14.xml"/><Relationship Id="rId17" Type="http://schemas.openxmlformats.org/officeDocument/2006/relationships/slide" Target="slide15.xml"/><Relationship Id="rId18" Type="http://schemas.openxmlformats.org/officeDocument/2006/relationships/slide" Target="slide16.xml"/><Relationship Id="rId19" Type="http://schemas.openxmlformats.org/officeDocument/2006/relationships/slide" Target="slide17.xml"/><Relationship Id="rId20" Type="http://schemas.openxmlformats.org/officeDocument/2006/relationships/slide" Target="slide18.xml"/><Relationship Id="rId21" Type="http://schemas.openxmlformats.org/officeDocument/2006/relationships/slide" Target="slide19.xml"/><Relationship Id="rId22" Type="http://schemas.openxmlformats.org/officeDocument/2006/relationships/slide" Target="slide20.xml"/><Relationship Id="rId23" Type="http://schemas.openxmlformats.org/officeDocument/2006/relationships/slide" Target="slide21.xml"/><Relationship Id="rId24" Type="http://schemas.openxmlformats.org/officeDocument/2006/relationships/slide" Target="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tainiq-predictive-customer-retention-zq6x.onrender.com" TargetMode="External"/><Relationship Id="rId3" Type="http://schemas.openxmlformats.org/officeDocument/2006/relationships/hyperlink" Target="https://github.com/Logesh0247/RetainIQ_Signal_Ops_Console" TargetMode="External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notesSlide" Target="../notesSlides/notesSlide21.xml"/><Relationship Id="rId7" Type="http://schemas.openxmlformats.org/officeDocument/2006/relationships/slide" Target="slide1.xml"/><Relationship Id="rId8" Type="http://schemas.openxmlformats.org/officeDocument/2006/relationships/slide" Target="slide2.xml"/><Relationship Id="rId9" Type="http://schemas.openxmlformats.org/officeDocument/2006/relationships/slide" Target="slide3.xml"/><Relationship Id="rId10" Type="http://schemas.openxmlformats.org/officeDocument/2006/relationships/slide" Target="slide4.xml"/><Relationship Id="rId11" Type="http://schemas.openxmlformats.org/officeDocument/2006/relationships/slide" Target="slide5.xml"/><Relationship Id="rId12" Type="http://schemas.openxmlformats.org/officeDocument/2006/relationships/slide" Target="slide6.xml"/><Relationship Id="rId13" Type="http://schemas.openxmlformats.org/officeDocument/2006/relationships/slide" Target="slide7.xml"/><Relationship Id="rId14" Type="http://schemas.openxmlformats.org/officeDocument/2006/relationships/slide" Target="slide8.xml"/><Relationship Id="rId15" Type="http://schemas.openxmlformats.org/officeDocument/2006/relationships/slide" Target="slide9.xml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4.xml"/><Relationship Id="rId21" Type="http://schemas.openxmlformats.org/officeDocument/2006/relationships/slide" Target="slide15.xml"/><Relationship Id="rId22" Type="http://schemas.openxmlformats.org/officeDocument/2006/relationships/slide" Target="slide16.xml"/><Relationship Id="rId23" Type="http://schemas.openxmlformats.org/officeDocument/2006/relationships/slide" Target="slide17.xml"/><Relationship Id="rId24" Type="http://schemas.openxmlformats.org/officeDocument/2006/relationships/slide" Target="slide18.xml"/><Relationship Id="rId25" Type="http://schemas.openxmlformats.org/officeDocument/2006/relationships/slide" Target="slide19.xml"/><Relationship Id="rId26" Type="http://schemas.openxmlformats.org/officeDocument/2006/relationships/slide" Target="slide20.xml"/><Relationship Id="rId27" Type="http://schemas.openxmlformats.org/officeDocument/2006/relationships/slide" Target="slide21.xml"/><Relationship Id="rId28" Type="http://schemas.openxmlformats.org/officeDocument/2006/relationships/slide" Target="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11.xml"/><Relationship Id="rId14" Type="http://schemas.openxmlformats.org/officeDocument/2006/relationships/slide" Target="slide12.xml"/><Relationship Id="rId15" Type="http://schemas.openxmlformats.org/officeDocument/2006/relationships/slide" Target="slide13.xml"/><Relationship Id="rId16" Type="http://schemas.openxmlformats.org/officeDocument/2006/relationships/slide" Target="slide14.xml"/><Relationship Id="rId17" Type="http://schemas.openxmlformats.org/officeDocument/2006/relationships/slide" Target="slide15.xml"/><Relationship Id="rId18" Type="http://schemas.openxmlformats.org/officeDocument/2006/relationships/slide" Target="slide16.xml"/><Relationship Id="rId19" Type="http://schemas.openxmlformats.org/officeDocument/2006/relationships/slide" Target="slide17.xml"/><Relationship Id="rId20" Type="http://schemas.openxmlformats.org/officeDocument/2006/relationships/slide" Target="slide18.xml"/><Relationship Id="rId21" Type="http://schemas.openxmlformats.org/officeDocument/2006/relationships/slide" Target="slide19.xml"/><Relationship Id="rId22" Type="http://schemas.openxmlformats.org/officeDocument/2006/relationships/slide" Target="slide20.xml"/><Relationship Id="rId23" Type="http://schemas.openxmlformats.org/officeDocument/2006/relationships/slide" Target="slide21.xml"/><Relationship Id="rId24" Type="http://schemas.openxmlformats.org/officeDocument/2006/relationships/slide" Target="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FD8B4"/>
                </a:solidFill>
                <a:latin typeface="Consolas"/>
              </a:rPr>
              <a:t>FINAL YEAR PROJECT   ·   B.SC.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9509760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5400" b="1">
                <a:solidFill>
                  <a:srgbClr val="EAF0F7"/>
                </a:solidFill>
                <a:latin typeface="Segoe UI"/>
              </a:rPr>
              <a:t>RetainIQ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2FD8B4"/>
                </a:solidFill>
                <a:latin typeface="Segoe UI"/>
              </a:rPr>
              <a:t>Signal Ops Console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127248"/>
            <a:ext cx="1920240" cy="32004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383280"/>
            <a:ext cx="7406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8CA0BE"/>
                </a:solidFill>
                <a:latin typeface="Segoe UI"/>
              </a:rPr>
              <a:t>An explainable machine learning platform for customer churn prediction, risk intelligence and retention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04120" y="2242108"/>
            <a:ext cx="110413" cy="211226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96144" y="2088489"/>
            <a:ext cx="110413" cy="364845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88168" y="1934870"/>
            <a:ext cx="110413" cy="518464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80192" y="1781251"/>
            <a:ext cx="110413" cy="672084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72216" y="1627631"/>
            <a:ext cx="110413" cy="825703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549347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92" b="0">
                <a:solidFill>
                  <a:srgbClr val="8CA0BE"/>
                </a:solidFill>
                <a:latin typeface="Consolas"/>
              </a:rPr>
              <a:t>signal strength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98848"/>
            <a:ext cx="2157984" cy="950794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626864"/>
            <a:ext cx="1901952" cy="74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>
                <a:solidFill>
                  <a:srgbClr val="2FD8B4"/>
                </a:solidFill>
                <a:latin typeface="Segoe UI"/>
              </a:rPr>
              <a:t>80.34%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CA0BE"/>
                </a:solidFill>
                <a:latin typeface="Segoe UI"/>
              </a:rPr>
              <a:t>TEST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2928" y="4498848"/>
            <a:ext cx="2157984" cy="950794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9232" y="4626864"/>
            <a:ext cx="1901952" cy="74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>
                <a:solidFill>
                  <a:srgbClr val="2FD8B4"/>
                </a:solidFill>
                <a:latin typeface="Segoe UI"/>
              </a:rPr>
              <a:t>84.91%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CA0BE"/>
                </a:solidFill>
                <a:latin typeface="Segoe UI"/>
              </a:rPr>
              <a:t>ROC-AUC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38928" y="4498848"/>
            <a:ext cx="2157984" cy="950794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2" y="4626864"/>
            <a:ext cx="1901952" cy="74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>
                <a:solidFill>
                  <a:srgbClr val="4C8DFF"/>
                </a:solidFill>
                <a:latin typeface="Segoe UI"/>
              </a:rPr>
              <a:t>7,043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CA0BE"/>
                </a:solidFill>
                <a:latin typeface="Segoe UI"/>
              </a:rPr>
              <a:t>CUSTOMERS SCORED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498848"/>
            <a:ext cx="4197096" cy="950794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4626864"/>
            <a:ext cx="3941063" cy="74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>
                <a:solidFill>
                  <a:srgbClr val="FF5C6C"/>
                </a:solidFill>
                <a:latin typeface="Segoe UI"/>
              </a:rPr>
              <a:t>$92,539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MONTHLY REVENUE AT RISK IN THE HIGH-RISK BAND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577658"/>
            <a:ext cx="11064240" cy="676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EAF0F7"/>
                </a:solidFill>
                <a:latin typeface="Segoe UI"/>
              </a:rPr>
              <a:t>Logesh S.   ·   B.Sc. Data Science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 u="sng">
                <a:solidFill>
                  <a:srgbClr val="4C8DFF"/>
                </a:solidFill>
                <a:latin typeface="Consolas"/>
                <a:hlinkClick r:id="rId2"/>
              </a:rPr>
              <a:t>LIVE APP  ↗  retainiq-predictive-customer-retention-zq6x.onrender.com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u="sng">
                <a:solidFill>
                  <a:srgbClr val="8CA0BE"/>
                </a:solidFill>
                <a:latin typeface="Consolas"/>
                <a:hlinkClick r:id="rId3"/>
              </a:rPr>
              <a:t>SOURCE  ↗  github.com/Logesh0247/RetainIQ_Signal_Ops_Console</a:t>
            </a:r>
          </a:p>
        </p:txBody>
      </p:sp>
      <p:sp>
        <p:nvSpPr>
          <p:cNvPr id="23" name="Rectangle 22">
            <a:hlinkClick action="ppaction://hlinksldjump" r:id="rId5"/>
          </p:cNvPr>
          <p:cNvSpPr/>
          <p:nvPr/>
        </p:nvSpPr>
        <p:spPr>
          <a:xfrm>
            <a:off x="585216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lide navigation 01" descr="Click to navigate to slide 01 of 22">
            <a:hlinkClick action="ppaction://hlinksldjump" r:id="rId5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5" name="Rectangle 24">
            <a:hlinkClick action="ppaction://hlinksldjump" r:id="rId6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lide navigation 02" descr="Click to navigate to slide 02 of 22">
            <a:hlinkClick action="ppaction://hlinksldjump" r:id="rId6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7" name="Rectangle 26">
            <a:hlinkClick action="ppaction://hlinksldjump" r:id="rId7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lide navigation 03" descr="Click to navigate to slide 03 of 22">
            <a:hlinkClick action="ppaction://hlinksldjump" r:id="rId7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9" name="Rectangle 28">
            <a:hlinkClick action="ppaction://hlinksldjump" r:id="rId8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lide navigation 04" descr="Click to navigate to slide 04 of 22">
            <a:hlinkClick action="ppaction://hlinksldjump" r:id="rId8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1" name="Rectangle 30">
            <a:hlinkClick action="ppaction://hlinksldjump" r:id="rId9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lide navigation 05" descr="Click to navigate to slide 05 of 22">
            <a:hlinkClick action="ppaction://hlinksldjump" r:id="rId9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3" name="Rectangle 32">
            <a:hlinkClick action="ppaction://hlinksldjump" r:id="rId10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lide navigation 06" descr="Click to navigate to slide 06 of 22">
            <a:hlinkClick action="ppaction://hlinksldjump" r:id="rId10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5" name="Rectangle 34">
            <a:hlinkClick action="ppaction://hlinksldjump" r:id="rId11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lide navigation 07" descr="Click to navigate to slide 07 of 22">
            <a:hlinkClick action="ppaction://hlinksldjump" r:id="rId11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7" name="Rectangle 36">
            <a:hlinkClick action="ppaction://hlinksldjump" r:id="rId12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lide navigation 08" descr="Click to navigate to slide 08 of 22">
            <a:hlinkClick action="ppaction://hlinksldjump" r:id="rId12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9" name="Rectangle 38">
            <a:hlinkClick action="ppaction://hlinksldjump" r:id="rId13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lide navigation 09" descr="Click to navigate to slide 09 of 22">
            <a:hlinkClick action="ppaction://hlinksldjump" r:id="rId13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1" name="Rectangle 40">
            <a:hlinkClick action="ppaction://hlinksldjump" r:id="rId14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lide navigation 10" descr="Click to navigate to slide 10 of 22">
            <a:hlinkClick action="ppaction://hlinksldjump" r:id="rId14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3" name="Rectangle 42">
            <a:hlinkClick action="ppaction://hlinksldjump" r:id="rId15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lide navigation 11" descr="Click to navigate to slide 11 of 22">
            <a:hlinkClick action="ppaction://hlinksldjump" r:id="rId15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5" name="Rectangle 44">
            <a:hlinkClick action="ppaction://hlinksldjump" r:id="rId16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lide navigation 12" descr="Click to navigate to slide 12 of 22">
            <a:hlinkClick action="ppaction://hlinksldjump" r:id="rId16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7" name="Rectangle 46">
            <a:hlinkClick action="ppaction://hlinksldjump" r:id="rId17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lide navigation 13" descr="Click to navigate to slide 13 of 22">
            <a:hlinkClick action="ppaction://hlinksldjump" r:id="rId17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9" name="Rectangle 48">
            <a:hlinkClick action="ppaction://hlinksldjump" r:id="rId18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lide navigation 14" descr="Click to navigate to slide 14 of 22">
            <a:hlinkClick action="ppaction://hlinksldjump" r:id="rId18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1" name="Rectangle 50">
            <a:hlinkClick action="ppaction://hlinksldjump" r:id="rId19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lide navigation 15" descr="Click to navigate to slide 15 of 22">
            <a:hlinkClick action="ppaction://hlinksldjump" r:id="rId19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3" name="Rectangle 52">
            <a:hlinkClick action="ppaction://hlinksldjump" r:id="rId20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lide navigation 16" descr="Click to navigate to slide 16 of 22">
            <a:hlinkClick action="ppaction://hlinksldjump" r:id="rId20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5" name="Rectangle 54">
            <a:hlinkClick action="ppaction://hlinksldjump" r:id="rId21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lide navigation 17" descr="Click to navigate to slide 17 of 22">
            <a:hlinkClick action="ppaction://hlinksldjump" r:id="rId21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7" name="Rectangle 56">
            <a:hlinkClick action="ppaction://hlinksldjump" r:id="rId22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lide navigation 18" descr="Click to navigate to slide 18 of 22">
            <a:hlinkClick action="ppaction://hlinksldjump" r:id="rId22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9" name="Rectangle 58">
            <a:hlinkClick action="ppaction://hlinksldjump" r:id="rId23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lide navigation 19" descr="Click to navigate to slide 19 of 22">
            <a:hlinkClick action="ppaction://hlinksldjump" r:id="rId23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1" name="Rectangle 60">
            <a:hlinkClick action="ppaction://hlinksldjump" r:id="rId24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lide navigation 20" descr="Click to navigate to slide 20 of 22">
            <a:hlinkClick action="ppaction://hlinksldjump" r:id="rId24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3" name="Rectangle 62">
            <a:hlinkClick action="ppaction://hlinksldjump" r:id="rId25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lide navigation 21" descr="Click to navigate to slide 21 of 22">
            <a:hlinkClick action="ppaction://hlinksldjump" r:id="rId25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5" name="Rectangle 64">
            <a:hlinkClick action="ppaction://hlinksldjump" r:id="rId26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lide navigation 22" descr="Click to navigate to slide 22 of 22">
            <a:hlinkClick action="ppaction://hlinksldjump" r:id="rId26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THE DEVELOPMENT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Fourteen phases, three 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The core project workflow: fourteen phases grouped into three 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11057839" cy="39488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5596128"/>
            <a:ext cx="11057839" cy="621792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724144"/>
            <a:ext cx="106920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2FD8B4"/>
                </a:solidFill>
                <a:latin typeface="Segoe UI"/>
              </a:rPr>
              <a:t>HOW TO READ THE DECK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Click any of the 22 footer dashes to jump to that slide; the bright dash marks your current position.</a:t>
            </a:r>
          </a:p>
        </p:txBody>
      </p:sp>
      <p:sp>
        <p:nvSpPr>
          <p:cNvPr id="10" name="Rectangle 9">
            <a:hlinkClick action="ppaction://hlinksldjump" r:id="rId4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lide navigation 01" descr="Click to navigate to slide 01 of 22">
            <a:hlinkClick action="ppaction://hlinksldjump" r:id="rId4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2" name="Rectangle 11">
            <a:hlinkClick action="ppaction://hlinksldjump" r:id="rId5"/>
          </p:cNvPr>
          <p:cNvSpPr/>
          <p:nvPr/>
        </p:nvSpPr>
        <p:spPr>
          <a:xfrm>
            <a:off x="1087845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lide navigation 02" descr="Click to navigate to slide 02 of 22">
            <a:hlinkClick action="ppaction://hlinksldjump" r:id="rId5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4" name="Rectangle 13">
            <a:hlinkClick action="ppaction://hlinksldjump" r:id="rId6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lide navigation 03" descr="Click to navigate to slide 03 of 22">
            <a:hlinkClick action="ppaction://hlinksldjump" r:id="rId6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6" name="Rectangle 15">
            <a:hlinkClick action="ppaction://hlinksldjump" r:id="rId7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lide navigation 04" descr="Click to navigate to slide 04 of 22">
            <a:hlinkClick action="ppaction://hlinksldjump" r:id="rId7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8" name="Rectangle 17">
            <a:hlinkClick action="ppaction://hlinksldjump" r:id="rId8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lide navigation 05" descr="Click to navigate to slide 05 of 22">
            <a:hlinkClick action="ppaction://hlinksldjump" r:id="rId8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0" name="Rectangle 19">
            <a:hlinkClick action="ppaction://hlinksldjump" r:id="rId9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lide navigation 06" descr="Click to navigate to slide 06 of 22">
            <a:hlinkClick action="ppaction://hlinksldjump" r:id="rId9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2" name="Rectangle 21">
            <a:hlinkClick action="ppaction://hlinksldjump" r:id="rId10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lide navigation 07" descr="Click to navigate to slide 07 of 22">
            <a:hlinkClick action="ppaction://hlinksldjump" r:id="rId10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4" name="Rectangle 23">
            <a:hlinkClick action="ppaction://hlinksldjump" r:id="rId11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lide navigation 08" descr="Click to navigate to slide 08 of 22">
            <a:hlinkClick action="ppaction://hlinksldjump" r:id="rId11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6" name="Rectangle 25">
            <a:hlinkClick action="ppaction://hlinksldjump" r:id="rId12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ide navigation 09" descr="Click to navigate to slide 09 of 22">
            <a:hlinkClick action="ppaction://hlinksldjump" r:id="rId12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8" name="Rectangle 27">
            <a:hlinkClick action="ppaction://hlinksldjump" r:id="rId13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lide navigation 10" descr="Click to navigate to slide 10 of 22">
            <a:hlinkClick action="ppaction://hlinksldjump" r:id="rId13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0" name="Rectangle 29">
            <a:hlinkClick action="ppaction://hlinksldjump" r:id="rId14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lide navigation 11" descr="Click to navigate to slide 11 of 22">
            <a:hlinkClick action="ppaction://hlinksldjump" r:id="rId14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2" name="Rectangle 31">
            <a:hlinkClick action="ppaction://hlinksldjump" r:id="rId15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lide navigation 12" descr="Click to navigate to slide 12 of 22">
            <a:hlinkClick action="ppaction://hlinksldjump" r:id="rId15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4" name="Rectangle 33">
            <a:hlinkClick action="ppaction://hlinksldjump" r:id="rId16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lide navigation 13" descr="Click to navigate to slide 13 of 22">
            <a:hlinkClick action="ppaction://hlinksldjump" r:id="rId16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6" name="Rectangle 35">
            <a:hlinkClick action="ppaction://hlinksldjump" r:id="rId17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lide navigation 14" descr="Click to navigate to slide 14 of 22">
            <a:hlinkClick action="ppaction://hlinksldjump" r:id="rId17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8" name="Rectangle 37">
            <a:hlinkClick action="ppaction://hlinksldjump" r:id="rId18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lide navigation 15" descr="Click to navigate to slide 15 of 22">
            <a:hlinkClick action="ppaction://hlinksldjump" r:id="rId18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0" name="Rectangle 39">
            <a:hlinkClick action="ppaction://hlinksldjump" r:id="rId19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lide navigation 16" descr="Click to navigate to slide 16 of 22">
            <a:hlinkClick action="ppaction://hlinksldjump" r:id="rId19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2" name="Rectangle 41">
            <a:hlinkClick action="ppaction://hlinksldjump" r:id="rId20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lide navigation 17" descr="Click to navigate to slide 17 of 22">
            <a:hlinkClick action="ppaction://hlinksldjump" r:id="rId20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4" name="Rectangle 43">
            <a:hlinkClick action="ppaction://hlinksldjump" r:id="rId21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lide navigation 18" descr="Click to navigate to slide 18 of 22">
            <a:hlinkClick action="ppaction://hlinksldjump" r:id="rId21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6" name="Rectangle 45">
            <a:hlinkClick action="ppaction://hlinksldjump" r:id="rId22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lide navigation 19" descr="Click to navigate to slide 19 of 22">
            <a:hlinkClick action="ppaction://hlinksldjump" r:id="rId22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8" name="Rectangle 47">
            <a:hlinkClick action="ppaction://hlinksldjump" r:id="rId23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lide navigation 20" descr="Click to navigate to slide 20 of 22">
            <a:hlinkClick action="ppaction://hlinksldjump" r:id="rId23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0" name="Rectangle 49">
            <a:hlinkClick action="ppaction://hlinksldjump" r:id="rId24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lide navigation 21" descr="Click to navigate to slide 21 of 22">
            <a:hlinkClick action="ppaction://hlinksldjump" r:id="rId24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2" name="Rectangle 51">
            <a:hlinkClick action="ppaction://hlinksldjump" r:id="rId25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lide navigation 22" descr="Click to navigate to slide 22 of 22">
            <a:hlinkClick action="ppaction://hlinksldjump" r:id="rId25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01  ·  BUSINESS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Business Understanding: retention is still reactive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Churn is high, and teams often learn who left only after the fact.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989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50" b="1">
                <a:solidFill>
                  <a:srgbClr val="2FD8B4"/>
                </a:solidFill>
                <a:latin typeface="Segoe UI"/>
              </a:rPr>
              <a:t>▸  Churn is a material business problem.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EAF0F7"/>
                </a:solidFill>
                <a:latin typeface="Segoe UI"/>
              </a:rPr>
              <a:t>     26.54% of this customer base churned — 1,869 of 7,043 customers.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100"/>
              </a:spcAft>
            </a:pPr>
            <a:r>
              <a:rPr sz="1150" b="1">
                <a:solidFill>
                  <a:srgbClr val="2FD8B4"/>
                </a:solidFill>
                <a:latin typeface="Segoe UI"/>
              </a:rPr>
              <a:t>▸  Current retention is backward-looking.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EAF0F7"/>
                </a:solidFill>
                <a:latin typeface="Segoe UI"/>
              </a:rPr>
              <a:t>     Historical reporting shows who already left, not which customers need attention today.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100"/>
              </a:spcAft>
            </a:pPr>
            <a:r>
              <a:rPr sz="1150" b="1">
                <a:solidFill>
                  <a:srgbClr val="2FD8B4"/>
                </a:solidFill>
                <a:latin typeface="Segoe UI"/>
              </a:rPr>
              <a:t>▸  One-size-fits-all offers waste budget.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EAF0F7"/>
                </a:solidFill>
                <a:latin typeface="Segoe UI"/>
              </a:rPr>
              <a:t>     Discounts can go to customers who would stay, while still missing those likely to leave.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895344"/>
            <a:ext cx="2889504" cy="109728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041648"/>
            <a:ext cx="32004" cy="804671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59935"/>
            <a:ext cx="2578608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EAF0F7"/>
                </a:solidFill>
                <a:latin typeface="Segoe UI"/>
              </a:rPr>
              <a:t>Who is likely to churn?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80" b="0">
                <a:solidFill>
                  <a:srgbClr val="8CA0BE"/>
                </a:solidFill>
                <a:latin typeface="Segoe UI"/>
              </a:rPr>
              <a:t>Predicted churn probability per customer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21024" y="3895344"/>
            <a:ext cx="2889504" cy="109728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21024" y="4041648"/>
            <a:ext cx="32004" cy="804671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4059935"/>
            <a:ext cx="2578608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EAF0F7"/>
                </a:solidFill>
                <a:latin typeface="Segoe UI"/>
              </a:rPr>
              <a:t>Why are they at risk?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80" b="0">
                <a:solidFill>
                  <a:srgbClr val="8CA0BE"/>
                </a:solidFill>
                <a:latin typeface="Segoe UI"/>
              </a:rPr>
              <a:t>Feature contributions behind each 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120640"/>
            <a:ext cx="2889504" cy="109728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266944"/>
            <a:ext cx="32004" cy="804671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285231"/>
            <a:ext cx="2578608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EAF0F7"/>
                </a:solidFill>
                <a:latin typeface="Segoe UI"/>
              </a:rPr>
              <a:t>What should we do?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80" b="0">
                <a:solidFill>
                  <a:srgbClr val="8CA0BE"/>
                </a:solidFill>
                <a:latin typeface="Segoe UI"/>
              </a:rPr>
              <a:t>A retention action matched to the risk drivers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21024" y="5120640"/>
            <a:ext cx="2889504" cy="109728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21024" y="5266944"/>
            <a:ext cx="32004" cy="804671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191" y="5285231"/>
            <a:ext cx="2578608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EAF0F7"/>
                </a:solidFill>
                <a:latin typeface="Segoe UI"/>
              </a:rPr>
              <a:t>What is at stake?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80" b="0">
                <a:solidFill>
                  <a:srgbClr val="8CA0BE"/>
                </a:solidFill>
                <a:latin typeface="Segoe UI"/>
              </a:rPr>
              <a:t>Monthly recurring revenue exposed in each risk 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7184" y="170078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8CA0BE"/>
                </a:solidFill>
                <a:latin typeface="Consolas"/>
              </a:rPr>
              <a:t>THE BASE RATE</a:t>
            </a:r>
          </a:p>
        </p:txBody>
      </p:sp>
      <p:pic>
        <p:nvPicPr>
          <p:cNvPr id="21" name="Picture 20" descr="chart_churn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796" y="1956815"/>
            <a:ext cx="3566159" cy="356615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87184" y="5614416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8CA0BE"/>
                </a:solidFill>
                <a:latin typeface="Segoe UI"/>
              </a:rPr>
              <a:t>1,869 churned · 5,174 retained of 7,043. Predicting "nobody churns" is already 73.46% accurate — which is why accuracy alone decides nothing here.</a:t>
            </a:r>
          </a:p>
        </p:txBody>
      </p:sp>
      <p:sp>
        <p:nvSpPr>
          <p:cNvPr id="23" name="Rectangle 22">
            <a:hlinkClick action="ppaction://hlinksldjump" r:id="rId4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lide navigation 01" descr="Click to navigate to slide 01 of 22">
            <a:hlinkClick action="ppaction://hlinksldjump" r:id="rId4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5" name="Rectangle 24">
            <a:hlinkClick action="ppaction://hlinksldjump" r:id="rId5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lide navigation 02" descr="Click to navigate to slide 02 of 22">
            <a:hlinkClick action="ppaction://hlinksldjump" r:id="rId5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7" name="Rectangle 26">
            <a:hlinkClick action="ppaction://hlinksldjump" r:id="rId6"/>
          </p:cNvPr>
          <p:cNvSpPr/>
          <p:nvPr/>
        </p:nvSpPr>
        <p:spPr>
          <a:xfrm>
            <a:off x="1590474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lide navigation 03" descr="Click to navigate to slide 03 of 22">
            <a:hlinkClick action="ppaction://hlinksldjump" r:id="rId6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9" name="Rectangle 28">
            <a:hlinkClick action="ppaction://hlinksldjump" r:id="rId7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lide navigation 04" descr="Click to navigate to slide 04 of 22">
            <a:hlinkClick action="ppaction://hlinksldjump" r:id="rId7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1" name="Rectangle 30">
            <a:hlinkClick action="ppaction://hlinksldjump" r:id="rId8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lide navigation 05" descr="Click to navigate to slide 05 of 22">
            <a:hlinkClick action="ppaction://hlinksldjump" r:id="rId8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3" name="Rectangle 32">
            <a:hlinkClick action="ppaction://hlinksldjump" r:id="rId9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lide navigation 06" descr="Click to navigate to slide 06 of 22">
            <a:hlinkClick action="ppaction://hlinksldjump" r:id="rId9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5" name="Rectangle 34">
            <a:hlinkClick action="ppaction://hlinksldjump" r:id="rId10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lide navigation 07" descr="Click to navigate to slide 07 of 22">
            <a:hlinkClick action="ppaction://hlinksldjump" r:id="rId10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7" name="Rectangle 36">
            <a:hlinkClick action="ppaction://hlinksldjump" r:id="rId11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lide navigation 08" descr="Click to navigate to slide 08 of 22">
            <a:hlinkClick action="ppaction://hlinksldjump" r:id="rId11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9" name="Rectangle 38">
            <a:hlinkClick action="ppaction://hlinksldjump" r:id="rId12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lide navigation 09" descr="Click to navigate to slide 09 of 22">
            <a:hlinkClick action="ppaction://hlinksldjump" r:id="rId12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1" name="Rectangle 40">
            <a:hlinkClick action="ppaction://hlinksldjump" r:id="rId13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lide navigation 10" descr="Click to navigate to slide 10 of 22">
            <a:hlinkClick action="ppaction://hlinksldjump" r:id="rId13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3" name="Rectangle 42">
            <a:hlinkClick action="ppaction://hlinksldjump" r:id="rId14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lide navigation 11" descr="Click to navigate to slide 11 of 22">
            <a:hlinkClick action="ppaction://hlinksldjump" r:id="rId14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5" name="Rectangle 44">
            <a:hlinkClick action="ppaction://hlinksldjump" r:id="rId15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lide navigation 12" descr="Click to navigate to slide 12 of 22">
            <a:hlinkClick action="ppaction://hlinksldjump" r:id="rId15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7" name="Rectangle 46">
            <a:hlinkClick action="ppaction://hlinksldjump" r:id="rId16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lide navigation 13" descr="Click to navigate to slide 13 of 22">
            <a:hlinkClick action="ppaction://hlinksldjump" r:id="rId16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9" name="Rectangle 48">
            <a:hlinkClick action="ppaction://hlinksldjump" r:id="rId17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lide navigation 14" descr="Click to navigate to slide 14 of 22">
            <a:hlinkClick action="ppaction://hlinksldjump" r:id="rId17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1" name="Rectangle 50">
            <a:hlinkClick action="ppaction://hlinksldjump" r:id="rId18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lide navigation 15" descr="Click to navigate to slide 15 of 22">
            <a:hlinkClick action="ppaction://hlinksldjump" r:id="rId18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3" name="Rectangle 52">
            <a:hlinkClick action="ppaction://hlinksldjump" r:id="rId19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lide navigation 16" descr="Click to navigate to slide 16 of 22">
            <a:hlinkClick action="ppaction://hlinksldjump" r:id="rId19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5" name="Rectangle 54">
            <a:hlinkClick action="ppaction://hlinksldjump" r:id="rId20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lide navigation 17" descr="Click to navigate to slide 17 of 22">
            <a:hlinkClick action="ppaction://hlinksldjump" r:id="rId20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7" name="Rectangle 56">
            <a:hlinkClick action="ppaction://hlinksldjump" r:id="rId21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lide navigation 18" descr="Click to navigate to slide 18 of 22">
            <a:hlinkClick action="ppaction://hlinksldjump" r:id="rId21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9" name="Rectangle 58">
            <a:hlinkClick action="ppaction://hlinksldjump" r:id="rId22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lide navigation 19" descr="Click to navigate to slide 19 of 22">
            <a:hlinkClick action="ppaction://hlinksldjump" r:id="rId22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1" name="Rectangle 60">
            <a:hlinkClick action="ppaction://hlinksldjump" r:id="rId23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lide navigation 20" descr="Click to navigate to slide 20 of 22">
            <a:hlinkClick action="ppaction://hlinksldjump" r:id="rId23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3" name="Rectangle 62">
            <a:hlinkClick action="ppaction://hlinksldjump" r:id="rId24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lide navigation 21" descr="Click to navigate to slide 21 of 22">
            <a:hlinkClick action="ppaction://hlinksldjump" r:id="rId24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5" name="Rectangle 64">
            <a:hlinkClick action="ppaction://hlinksldjump" r:id="rId25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lide navigation 22" descr="Click to navigate to slide 22 of 22">
            <a:hlinkClick action="ppaction://hlinksldjump" r:id="rId25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01 · BUSINESS UNDERSTANDING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COMPLEMENTARY ANALYTICS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What RetainIQ adds to the existing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Portfolio-level understanding and customer-level scoring work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5428335" cy="2816352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6431" y="1517904"/>
            <a:ext cx="5428335" cy="2816352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00784"/>
            <a:ext cx="50259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4C8DFF"/>
                </a:solidFill>
                <a:latin typeface="Consolas"/>
              </a:rPr>
              <a:t>POWER BI · PORTFOLIO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029967"/>
            <a:ext cx="502599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EAF0F7"/>
                </a:solidFill>
                <a:latin typeface="Segoe UI"/>
              </a:rPr>
              <a:t>Historical and aggregate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42032"/>
            <a:ext cx="5025999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20" b="0">
                <a:solidFill>
                  <a:srgbClr val="EAF0F7"/>
                </a:solidFill>
                <a:latin typeface="Segoe UI"/>
              </a:rPr>
              <a:t>▸  Portfolio-level historical churn and KPIs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20" b="0">
                <a:solidFill>
                  <a:srgbClr val="EAF0F7"/>
                </a:solidFill>
                <a:latin typeface="Segoe UI"/>
              </a:rPr>
              <a:t>▸  Segment patterns across contract, tenure, and services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20" b="0">
                <a:solidFill>
                  <a:srgbClr val="EAF0F7"/>
                </a:solidFill>
                <a:latin typeface="Segoe UI"/>
              </a:rPr>
              <a:t>▸  Describes what happened and where churn concentrates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7599" y="1700784"/>
            <a:ext cx="50259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2FD8B4"/>
                </a:solidFill>
                <a:latin typeface="Consolas"/>
              </a:rPr>
              <a:t>RETAINIQ · CUSTOMER-LEVEL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7599" y="2029967"/>
            <a:ext cx="502599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EAF0F7"/>
                </a:solidFill>
                <a:latin typeface="Segoe UI"/>
              </a:rPr>
              <a:t>Scoring that supports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599" y="2542032"/>
            <a:ext cx="5025999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▸  Scores uploaded customer rows with the deployed Logistic Regression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▸  Returns churn probabilities and risk tiers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▸  Shows coefficient-based drivers with rule-based suggestions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▸  Supports bulk review and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17136"/>
            <a:ext cx="11057839" cy="1572768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663440"/>
            <a:ext cx="10655503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F5A623"/>
                </a:solidFill>
                <a:latin typeface="Consolas"/>
              </a:rPr>
              <a:t>COMPLEMENTARY, NOT A REPLACEMENT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120" b="0">
                <a:solidFill>
                  <a:srgbClr val="EAF0F7"/>
                </a:solidFill>
                <a:latin typeface="Segoe UI"/>
              </a:rPr>
              <a:t>Power BI describes portfolio patterns; RetainIQ adds individual customer scoring and operational next steps.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>
                <a:solidFill>
                  <a:srgbClr val="8CA0BE"/>
                </a:solidFill>
                <a:latin typeface="Segoe UI"/>
              </a:rPr>
              <a:t>Campaign uplift has not been measured. Revenue is exposure at risk, not confirmed savings.</a:t>
            </a:r>
          </a:p>
        </p:txBody>
      </p:sp>
      <p:sp>
        <p:nvSpPr>
          <p:cNvPr id="17" name="Rectangle 16">
            <a:hlinkClick action="ppaction://hlinksldjump" r:id="rId3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lide navigation 01" descr="Click to navigate to slide 01 of 22">
            <a:hlinkClick action="ppaction://hlinksldjump" r:id="rId3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9" name="Rectangle 18">
            <a:hlinkClick action="ppaction://hlinksldjump" r:id="rId4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lide navigation 02" descr="Click to navigate to slide 02 of 22">
            <a:hlinkClick action="ppaction://hlinksldjump" r:id="rId4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1" name="Rectangle 20">
            <a:hlinkClick action="ppaction://hlinksldjump" r:id="rId5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lide navigation 03" descr="Click to navigate to slide 03 of 22">
            <a:hlinkClick action="ppaction://hlinksldjump" r:id="rId5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3" name="Rectangle 22">
            <a:hlinkClick action="ppaction://hlinksldjump" r:id="rId6"/>
          </p:cNvPr>
          <p:cNvSpPr/>
          <p:nvPr/>
        </p:nvSpPr>
        <p:spPr>
          <a:xfrm>
            <a:off x="2093103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lide navigation 04" descr="Click to navigate to slide 04 of 22">
            <a:hlinkClick action="ppaction://hlinksldjump" r:id="rId6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5" name="Rectangle 24">
            <a:hlinkClick action="ppaction://hlinksldjump" r:id="rId7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lide navigation 05" descr="Click to navigate to slide 05 of 22">
            <a:hlinkClick action="ppaction://hlinksldjump" r:id="rId7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7" name="Rectangle 26">
            <a:hlinkClick action="ppaction://hlinksldjump" r:id="rId8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lide navigation 06" descr="Click to navigate to slide 06 of 22">
            <a:hlinkClick action="ppaction://hlinksldjump" r:id="rId8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9" name="Rectangle 28">
            <a:hlinkClick action="ppaction://hlinksldjump" r:id="rId9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lide navigation 07" descr="Click to navigate to slide 07 of 22">
            <a:hlinkClick action="ppaction://hlinksldjump" r:id="rId9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1" name="Rectangle 30">
            <a:hlinkClick action="ppaction://hlinksldjump" r:id="rId10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lide navigation 08" descr="Click to navigate to slide 08 of 22">
            <a:hlinkClick action="ppaction://hlinksldjump" r:id="rId10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3" name="Rectangle 32">
            <a:hlinkClick action="ppaction://hlinksldjump" r:id="rId11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lide navigation 09" descr="Click to navigate to slide 09 of 22">
            <a:hlinkClick action="ppaction://hlinksldjump" r:id="rId11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5" name="Rectangle 34">
            <a:hlinkClick action="ppaction://hlinksldjump" r:id="rId12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lide navigation 10" descr="Click to navigate to slide 10 of 22">
            <a:hlinkClick action="ppaction://hlinksldjump" r:id="rId12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7" name="Rectangle 36">
            <a:hlinkClick action="ppaction://hlinksldjump" r:id="rId13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lide navigation 11" descr="Click to navigate to slide 11 of 22">
            <a:hlinkClick action="ppaction://hlinksldjump" r:id="rId13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9" name="Rectangle 38">
            <a:hlinkClick action="ppaction://hlinksldjump" r:id="rId14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lide navigation 12" descr="Click to navigate to slide 12 of 22">
            <a:hlinkClick action="ppaction://hlinksldjump" r:id="rId14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1" name="Rectangle 40">
            <a:hlinkClick action="ppaction://hlinksldjump" r:id="rId15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lide navigation 13" descr="Click to navigate to slide 13 of 22">
            <a:hlinkClick action="ppaction://hlinksldjump" r:id="rId15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3" name="Rectangle 42">
            <a:hlinkClick action="ppaction://hlinksldjump" r:id="rId16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lide navigation 14" descr="Click to navigate to slide 14 of 22">
            <a:hlinkClick action="ppaction://hlinksldjump" r:id="rId16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5" name="Rectangle 44">
            <a:hlinkClick action="ppaction://hlinksldjump" r:id="rId17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lide navigation 15" descr="Click to navigate to slide 15 of 22">
            <a:hlinkClick action="ppaction://hlinksldjump" r:id="rId17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7" name="Rectangle 46">
            <a:hlinkClick action="ppaction://hlinksldjump" r:id="rId18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lide navigation 16" descr="Click to navigate to slide 16 of 22">
            <a:hlinkClick action="ppaction://hlinksldjump" r:id="rId18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9" name="Rectangle 48">
            <a:hlinkClick action="ppaction://hlinksldjump" r:id="rId19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lide navigation 17" descr="Click to navigate to slide 17 of 22">
            <a:hlinkClick action="ppaction://hlinksldjump" r:id="rId19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1" name="Rectangle 50">
            <a:hlinkClick action="ppaction://hlinksldjump" r:id="rId20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lide navigation 18" descr="Click to navigate to slide 18 of 22">
            <a:hlinkClick action="ppaction://hlinksldjump" r:id="rId20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3" name="Rectangle 52">
            <a:hlinkClick action="ppaction://hlinksldjump" r:id="rId21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lide navigation 19" descr="Click to navigate to slide 19 of 22">
            <a:hlinkClick action="ppaction://hlinksldjump" r:id="rId21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5" name="Rectangle 54">
            <a:hlinkClick action="ppaction://hlinksldjump" r:id="rId22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lide navigation 20" descr="Click to navigate to slide 20 of 22">
            <a:hlinkClick action="ppaction://hlinksldjump" r:id="rId22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7" name="Rectangle 56">
            <a:hlinkClick action="ppaction://hlinksldjump" r:id="rId23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lide navigation 21" descr="Click to navigate to slide 21 of 22">
            <a:hlinkClick action="ppaction://hlinksldjump" r:id="rId23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9" name="Rectangle 58">
            <a:hlinkClick action="ppaction://hlinksldjump" r:id="rId24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lide navigation 22" descr="Click to navigate to slide 22 of 22">
            <a:hlinkClick action="ppaction://hlinksldjump" r:id="rId24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02  · 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The data that records the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IBM Telco Customer Churn — 7,043 customers, 34 raw fields, one binary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2094524" cy="1078992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45919"/>
            <a:ext cx="183849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100" b="1">
                <a:solidFill>
                  <a:srgbClr val="EAF0F7"/>
                </a:solidFill>
                <a:latin typeface="Segoe UI"/>
              </a:rPr>
              <a:t>7,043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756" y="1517904"/>
            <a:ext cx="2094524" cy="1078992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4060" y="1645919"/>
            <a:ext cx="183849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100" b="1">
                <a:solidFill>
                  <a:srgbClr val="EAF0F7"/>
                </a:solidFill>
                <a:latin typeface="Segoe UI"/>
              </a:rPr>
              <a:t>34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RAW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8585" y="1517904"/>
            <a:ext cx="2094524" cy="1078992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4889" y="1645919"/>
            <a:ext cx="183849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100" b="1">
                <a:solidFill>
                  <a:srgbClr val="EAF0F7"/>
                </a:solidFill>
                <a:latin typeface="Segoe UI"/>
              </a:rPr>
              <a:t>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ML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9413" y="1517904"/>
            <a:ext cx="2094524" cy="1078992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5717" y="1645919"/>
            <a:ext cx="183849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100" b="1">
                <a:solidFill>
                  <a:srgbClr val="FF5C6C"/>
                </a:solidFill>
                <a:latin typeface="Segoe UI"/>
              </a:rPr>
              <a:t>26.54%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CHURN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0242" y="1517904"/>
            <a:ext cx="2094524" cy="1078992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6546" y="1645919"/>
            <a:ext cx="183849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100" b="1">
                <a:solidFill>
                  <a:srgbClr val="4C8DFF"/>
                </a:solidFill>
                <a:latin typeface="Segoe UI"/>
              </a:rPr>
              <a:t>80 / 20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STRATIFIED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79776"/>
            <a:ext cx="5394960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2FD8B4"/>
                </a:solidFill>
                <a:latin typeface="Segoe UI"/>
              </a:rPr>
              <a:t>What a row contains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30" b="0">
                <a:solidFill>
                  <a:srgbClr val="EAF0F7"/>
                </a:solidFill>
                <a:latin typeface="Segoe UI"/>
              </a:rPr>
              <a:t>  ▸  Customer profile — gender, senior citizen, partner, dependents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30" b="0">
                <a:solidFill>
                  <a:srgbClr val="EAF0F7"/>
                </a:solidFill>
                <a:latin typeface="Segoe UI"/>
              </a:rPr>
              <a:t>  ▸  Services — phone, internet, security, backup, protection, support, streaming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30" b="0">
                <a:solidFill>
                  <a:srgbClr val="EAF0F7"/>
                </a:solidFill>
                <a:latin typeface="Segoe UI"/>
              </a:rPr>
              <a:t>  ▸  Contract &amp; billing — contract type, payment method, paperless, charges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30" b="0">
                <a:solidFill>
                  <a:srgbClr val="EAF0F7"/>
                </a:solidFill>
                <a:latin typeface="Segoe UI"/>
              </a:rPr>
              <a:t>  ▸  Value — tenure, monthly charges, total charges, CLTV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130" b="0">
                <a:solidFill>
                  <a:srgbClr val="8CA0BE"/>
                </a:solidFill>
                <a:latin typeface="Segoe UI"/>
              </a:rPr>
              <a:t>Target: Churn Label (Yes / No), converted to 1 / 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779776"/>
            <a:ext cx="5358384" cy="1645919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907792"/>
            <a:ext cx="4992624" cy="140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4C8DFF"/>
                </a:solidFill>
                <a:latin typeface="Segoe UI"/>
              </a:rPr>
              <a:t>CLASS BALANCE AND THE SPLIT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1,869 churned and 5,174 retained. Stratified 80/20 split: 5,634 train and 1,409 test rows; both round to 26.54% churn. The test rows were held out from fitting, then used to compare candidate models—so this is not a final untouched validation 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572000"/>
            <a:ext cx="5358384" cy="1645919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700016"/>
            <a:ext cx="4992624" cy="140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2FD8B4"/>
                </a:solidFill>
                <a:latin typeface="Segoe UI"/>
              </a:rPr>
              <a:t>TRAIN / SERVE PARITY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The 30 encoded columns are frozen in feature_columns.pkl and rebuilt by the same preprocessing code for every upload — training and live scoring cannot drift apart. There is a unit test for exactly this.</a:t>
            </a:r>
          </a:p>
        </p:txBody>
      </p:sp>
      <p:sp>
        <p:nvSpPr>
          <p:cNvPr id="22" name="Rectangle 21">
            <a:hlinkClick action="ppaction://hlinksldjump" r:id="rId3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lide navigation 01" descr="Click to navigate to slide 01 of 22">
            <a:hlinkClick action="ppaction://hlinksldjump" r:id="rId3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4" name="Rectangle 23">
            <a:hlinkClick action="ppaction://hlinksldjump" r:id="rId4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lide navigation 02" descr="Click to navigate to slide 02 of 22">
            <a:hlinkClick action="ppaction://hlinksldjump" r:id="rId4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6" name="Rectangle 25">
            <a:hlinkClick action="ppaction://hlinksldjump" r:id="rId5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ide navigation 03" descr="Click to navigate to slide 03 of 22">
            <a:hlinkClick action="ppaction://hlinksldjump" r:id="rId5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lide navigation 04" descr="Click to navigate to slide 04 of 22">
            <a:hlinkClick action="ppaction://hlinksldjump" r:id="rId6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0" name="Rectangle 29">
            <a:hlinkClick action="ppaction://hlinksldjump" r:id="rId7"/>
          </p:cNvPr>
          <p:cNvSpPr/>
          <p:nvPr/>
        </p:nvSpPr>
        <p:spPr>
          <a:xfrm>
            <a:off x="2595732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lide navigation 05" descr="Click to navigate to slide 05 of 22">
            <a:hlinkClick action="ppaction://hlinksldjump" r:id="rId7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2" name="Rectangle 31">
            <a:hlinkClick action="ppaction://hlinksldjump" r:id="rId8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lide navigation 06" descr="Click to navigate to slide 06 of 22">
            <a:hlinkClick action="ppaction://hlinksldjump" r:id="rId8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4" name="Rectangle 33">
            <a:hlinkClick action="ppaction://hlinksldjump" r:id="rId9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lide navigation 07" descr="Click to navigate to slide 07 of 22">
            <a:hlinkClick action="ppaction://hlinksldjump" r:id="rId9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6" name="Rectangle 35">
            <a:hlinkClick action="ppaction://hlinksldjump" r:id="rId10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lide navigation 08" descr="Click to navigate to slide 08 of 22">
            <a:hlinkClick action="ppaction://hlinksldjump" r:id="rId10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8" name="Rectangle 37">
            <a:hlinkClick action="ppaction://hlinksldjump" r:id="rId11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lide navigation 09" descr="Click to navigate to slide 09 of 22">
            <a:hlinkClick action="ppaction://hlinksldjump" r:id="rId11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0" name="Rectangle 39">
            <a:hlinkClick action="ppaction://hlinksldjump" r:id="rId12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lide navigation 10" descr="Click to navigate to slide 10 of 22">
            <a:hlinkClick action="ppaction://hlinksldjump" r:id="rId12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2" name="Rectangle 41">
            <a:hlinkClick action="ppaction://hlinksldjump" r:id="rId13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lide navigation 11" descr="Click to navigate to slide 11 of 22">
            <a:hlinkClick action="ppaction://hlinksldjump" r:id="rId13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4" name="Rectangle 43">
            <a:hlinkClick action="ppaction://hlinksldjump" r:id="rId14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lide navigation 12" descr="Click to navigate to slide 12 of 22">
            <a:hlinkClick action="ppaction://hlinksldjump" r:id="rId14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6" name="Rectangle 45">
            <a:hlinkClick action="ppaction://hlinksldjump" r:id="rId15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lide navigation 13" descr="Click to navigate to slide 13 of 22">
            <a:hlinkClick action="ppaction://hlinksldjump" r:id="rId15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8" name="Rectangle 47">
            <a:hlinkClick action="ppaction://hlinksldjump" r:id="rId16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lide navigation 14" descr="Click to navigate to slide 14 of 22">
            <a:hlinkClick action="ppaction://hlinksldjump" r:id="rId16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0" name="Rectangle 49">
            <a:hlinkClick action="ppaction://hlinksldjump" r:id="rId17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lide navigation 15" descr="Click to navigate to slide 15 of 22">
            <a:hlinkClick action="ppaction://hlinksldjump" r:id="rId17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2" name="Rectangle 51">
            <a:hlinkClick action="ppaction://hlinksldjump" r:id="rId18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lide navigation 16" descr="Click to navigate to slide 16 of 22">
            <a:hlinkClick action="ppaction://hlinksldjump" r:id="rId18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4" name="Rectangle 53">
            <a:hlinkClick action="ppaction://hlinksldjump" r:id="rId19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lide navigation 17" descr="Click to navigate to slide 17 of 22">
            <a:hlinkClick action="ppaction://hlinksldjump" r:id="rId19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6" name="Rectangle 55">
            <a:hlinkClick action="ppaction://hlinksldjump" r:id="rId20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lide navigation 18" descr="Click to navigate to slide 18 of 22">
            <a:hlinkClick action="ppaction://hlinksldjump" r:id="rId20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8" name="Rectangle 57">
            <a:hlinkClick action="ppaction://hlinksldjump" r:id="rId21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lide navigation 19" descr="Click to navigate to slide 19 of 22">
            <a:hlinkClick action="ppaction://hlinksldjump" r:id="rId21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0" name="Rectangle 59">
            <a:hlinkClick action="ppaction://hlinksldjump" r:id="rId22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lide navigation 20" descr="Click to navigate to slide 20 of 22">
            <a:hlinkClick action="ppaction://hlinksldjump" r:id="rId22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2" name="Rectangle 61">
            <a:hlinkClick action="ppaction://hlinksldjump" r:id="rId23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lide navigation 21" descr="Click to navigate to slide 21 of 22">
            <a:hlinkClick action="ppaction://hlinksldjump" r:id="rId23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4" name="Rectangle 63">
            <a:hlinkClick action="ppaction://hlinksldjump" r:id="rId24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lide navigation 22" descr="Click to navigate to slide 22 of 22">
            <a:hlinkClick action="ppaction://hlinksldjump" r:id="rId24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6" name="Rectangle 65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02 · DATA COLLECTION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03  ·  DATA CLEANING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From raw records to 30 model-ready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One reproducible pipeline, used identically in training and in the live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2558719" cy="11887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19072"/>
            <a:ext cx="2192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EAF0F7"/>
                </a:solidFill>
                <a:latin typeface="Segoe UI"/>
              </a:rPr>
              <a:t>Raw upload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8CA0BE"/>
                </a:solidFill>
                <a:latin typeface="Segoe UI"/>
              </a:rPr>
              <a:t>7,043 records · 34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935" y="1929384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2FD8B4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9967" y="1517904"/>
            <a:ext cx="2558719" cy="11887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2847" y="1719072"/>
            <a:ext cx="2192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EAF0F7"/>
                </a:solidFill>
                <a:latin typeface="Segoe UI"/>
              </a:rPr>
              <a:t>Clean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8CA0BE"/>
                </a:solidFill>
                <a:latin typeface="Segoe UI"/>
              </a:rPr>
              <a:t>types, blanks, duplicates, category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6975" y="1929384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2FD8B4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517904"/>
            <a:ext cx="2558719" cy="11887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719072"/>
            <a:ext cx="2192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EAF0F7"/>
                </a:solidFill>
                <a:latin typeface="Segoe UI"/>
              </a:rPr>
              <a:t>Encode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8CA0BE"/>
                </a:solidFill>
                <a:latin typeface="Segoe UI"/>
              </a:rPr>
              <a:t>16 categoricals → 27 flags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0015" y="1929384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2FD8B4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6047" y="1517904"/>
            <a:ext cx="2558719" cy="11887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48927" y="1719072"/>
            <a:ext cx="2192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EAF0F7"/>
                </a:solidFill>
                <a:latin typeface="Segoe UI"/>
              </a:rPr>
              <a:t>30 features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8CA0BE"/>
                </a:solidFill>
                <a:latin typeface="Segoe UI"/>
              </a:rPr>
              <a:t>frozen column contract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889504"/>
            <a:ext cx="11057839" cy="137160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017520"/>
            <a:ext cx="10692079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LEAKAGE PREVENTION — the detail that makes the results believable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Churn Score, Churn Reason, Churn Category and Customer Status were removed before training. All four are only known after a customer has already churned, so keeping them would inflate the metrics and break the model in production. This is the difference between a demo and a deployable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07408"/>
            <a:ext cx="11055096" cy="1810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2FD8B4"/>
                </a:solidFill>
                <a:latin typeface="Segoe UI"/>
              </a:rPr>
              <a:t>▸  Cleaning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EAF0F7"/>
                </a:solidFill>
                <a:latin typeface="Segoe UI"/>
              </a:rPr>
              <a:t>     Data-type correction, 11 blank TotalCharges values (all zero-tenure new customers), duplicate checks, categorical normalisation, removal of ID and geographic columns that carry no predictive value.</a:t>
            </a:r>
          </a:p>
          <a:p>
            <a:pPr algn="l">
              <a:lnSpc>
                <a:spcPct val="112000"/>
              </a:lnSpc>
              <a:spcBef>
                <a:spcPts val="900"/>
              </a:spcBef>
              <a:spcAft>
                <a:spcPts val="100"/>
              </a:spcAft>
            </a:pPr>
            <a:r>
              <a:rPr sz="1100" b="1">
                <a:solidFill>
                  <a:srgbClr val="2FD8B4"/>
                </a:solidFill>
                <a:latin typeface="Segoe UI"/>
              </a:rPr>
              <a:t>▸  Encoding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EAF0F7"/>
                </a:solidFill>
                <a:latin typeface="Segoe UI"/>
              </a:rPr>
              <a:t>     Every service column becomes an explicit flag — Contract_Two year, Tech Support_Yes, Internet Service_Fiber optic — so no ordering is invented where none exists: 3 numeric features + 27 flags = 30.</a:t>
            </a:r>
          </a:p>
        </p:txBody>
      </p:sp>
      <p:sp>
        <p:nvSpPr>
          <p:cNvPr id="21" name="Rectangle 20">
            <a:hlinkClick action="ppaction://hlinksldjump" r:id="rId3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lide navigation 01" descr="Click to navigate to slide 01 of 22">
            <a:hlinkClick action="ppaction://hlinksldjump" r:id="rId3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3" name="Rectangle 22">
            <a:hlinkClick action="ppaction://hlinksldjump" r:id="rId4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lide navigation 02" descr="Click to navigate to slide 02 of 22">
            <a:hlinkClick action="ppaction://hlinksldjump" r:id="rId4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5" name="Rectangle 24">
            <a:hlinkClick action="ppaction://hlinksldjump" r:id="rId5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lide navigation 03" descr="Click to navigate to slide 03 of 22">
            <a:hlinkClick action="ppaction://hlinksldjump" r:id="rId5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7" name="Rectangle 26">
            <a:hlinkClick action="ppaction://hlinksldjump" r:id="rId6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lide navigation 04" descr="Click to navigate to slide 04 of 22">
            <a:hlinkClick action="ppaction://hlinksldjump" r:id="rId6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9" name="Rectangle 28">
            <a:hlinkClick action="ppaction://hlinksldjump" r:id="rId7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lide navigation 05" descr="Click to navigate to slide 05 of 22">
            <a:hlinkClick action="ppaction://hlinksldjump" r:id="rId7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1" name="Rectangle 30">
            <a:hlinkClick action="ppaction://hlinksldjump" r:id="rId8"/>
          </p:cNvPr>
          <p:cNvSpPr/>
          <p:nvPr/>
        </p:nvSpPr>
        <p:spPr>
          <a:xfrm>
            <a:off x="3098361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lide navigation 06" descr="Click to navigate to slide 06 of 22">
            <a:hlinkClick action="ppaction://hlinksldjump" r:id="rId8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3" name="Rectangle 32">
            <a:hlinkClick action="ppaction://hlinksldjump" r:id="rId9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lide navigation 07" descr="Click to navigate to slide 07 of 22">
            <a:hlinkClick action="ppaction://hlinksldjump" r:id="rId9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5" name="Rectangle 34">
            <a:hlinkClick action="ppaction://hlinksldjump" r:id="rId10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lide navigation 08" descr="Click to navigate to slide 08 of 22">
            <a:hlinkClick action="ppaction://hlinksldjump" r:id="rId10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7" name="Rectangle 36">
            <a:hlinkClick action="ppaction://hlinksldjump" r:id="rId11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lide navigation 09" descr="Click to navigate to slide 09 of 22">
            <a:hlinkClick action="ppaction://hlinksldjump" r:id="rId11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9" name="Rectangle 38">
            <a:hlinkClick action="ppaction://hlinksldjump" r:id="rId12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lide navigation 10" descr="Click to navigate to slide 10 of 22">
            <a:hlinkClick action="ppaction://hlinksldjump" r:id="rId12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1" name="Rectangle 40">
            <a:hlinkClick action="ppaction://hlinksldjump" r:id="rId13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lide navigation 11" descr="Click to navigate to slide 11 of 22">
            <a:hlinkClick action="ppaction://hlinksldjump" r:id="rId13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3" name="Rectangle 42">
            <a:hlinkClick action="ppaction://hlinksldjump" r:id="rId14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lide navigation 12" descr="Click to navigate to slide 12 of 22">
            <a:hlinkClick action="ppaction://hlinksldjump" r:id="rId14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5" name="Rectangle 44">
            <a:hlinkClick action="ppaction://hlinksldjump" r:id="rId15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lide navigation 13" descr="Click to navigate to slide 13 of 22">
            <a:hlinkClick action="ppaction://hlinksldjump" r:id="rId15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7" name="Rectangle 46">
            <a:hlinkClick action="ppaction://hlinksldjump" r:id="rId16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lide navigation 14" descr="Click to navigate to slide 14 of 22">
            <a:hlinkClick action="ppaction://hlinksldjump" r:id="rId16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9" name="Rectangle 48">
            <a:hlinkClick action="ppaction://hlinksldjump" r:id="rId17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lide navigation 15" descr="Click to navigate to slide 15 of 22">
            <a:hlinkClick action="ppaction://hlinksldjump" r:id="rId17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1" name="Rectangle 50">
            <a:hlinkClick action="ppaction://hlinksldjump" r:id="rId18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lide navigation 16" descr="Click to navigate to slide 16 of 22">
            <a:hlinkClick action="ppaction://hlinksldjump" r:id="rId18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3" name="Rectangle 52">
            <a:hlinkClick action="ppaction://hlinksldjump" r:id="rId19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lide navigation 17" descr="Click to navigate to slide 17 of 22">
            <a:hlinkClick action="ppaction://hlinksldjump" r:id="rId19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5" name="Rectangle 54">
            <a:hlinkClick action="ppaction://hlinksldjump" r:id="rId20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lide navigation 18" descr="Click to navigate to slide 18 of 22">
            <a:hlinkClick action="ppaction://hlinksldjump" r:id="rId20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7" name="Rectangle 56">
            <a:hlinkClick action="ppaction://hlinksldjump" r:id="rId21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lide navigation 19" descr="Click to navigate to slide 19 of 22">
            <a:hlinkClick action="ppaction://hlinksldjump" r:id="rId21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9" name="Rectangle 58">
            <a:hlinkClick action="ppaction://hlinksldjump" r:id="rId22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lide navigation 20" descr="Click to navigate to slide 20 of 22">
            <a:hlinkClick action="ppaction://hlinksldjump" r:id="rId22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1" name="Rectangle 60">
            <a:hlinkClick action="ppaction://hlinksldjump" r:id="rId23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lide navigation 21" descr="Click to navigate to slide 21 of 22">
            <a:hlinkClick action="ppaction://hlinksldjump" r:id="rId23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3" name="Rectangle 62">
            <a:hlinkClick action="ppaction://hlinksldjump" r:id="rId24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lide navigation 22" descr="Click to navigate to slide 22 of 22">
            <a:hlinkClick action="ppaction://hlinksldjump" r:id="rId24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5" name="Rectangle 64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03 · DATA CLEANING &amp; PREPROCESSING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04  · 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What the data said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Three patterns that shaped the model — and the retention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9855"/>
            <a:ext cx="5440680" cy="2925057"/>
          </a:xfrm>
          <a:prstGeom prst="rect">
            <a:avLst/>
          </a:prstGeom>
        </p:spPr>
      </p:pic>
      <p:pic>
        <p:nvPicPr>
          <p:cNvPr id="8" name="Picture 7" descr="chart_ten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517904"/>
            <a:ext cx="4772086" cy="310895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773168"/>
            <a:ext cx="3576218" cy="1444751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919472"/>
            <a:ext cx="32004" cy="1152143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937759"/>
            <a:ext cx="3210458" cy="1133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2FD8B4"/>
                </a:solidFill>
                <a:latin typeface="Segoe UI"/>
              </a:rPr>
              <a:t>Contract is the strongest signal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19" b="0">
                <a:solidFill>
                  <a:srgbClr val="EAF0F7"/>
                </a:solidFill>
                <a:latin typeface="Segoe UI"/>
              </a:rPr>
              <a:t>42.7% churn on month-to-month vs 2.8% on two-year contracts — a 15× gap.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4773168"/>
            <a:ext cx="3576218" cy="1444751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7738" y="4919472"/>
            <a:ext cx="32004" cy="1152143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0618" y="4937759"/>
            <a:ext cx="3210458" cy="1133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Churn is front-loaded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19" b="0">
                <a:solidFill>
                  <a:srgbClr val="EAF0F7"/>
                </a:solidFill>
                <a:latin typeface="Segoe UI"/>
              </a:rPr>
              <a:t>47.4% of first-year customers churn; 55.5% of all churners are in year one. Churned customers average 18.0 months vs 37.6.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8548" y="4773168"/>
            <a:ext cx="3576218" cy="1444751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8548" y="4919472"/>
            <a:ext cx="32004" cy="1152143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1428" y="4937759"/>
            <a:ext cx="3210458" cy="1133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4C8DFF"/>
                </a:solidFill>
                <a:latin typeface="Segoe UI"/>
              </a:rPr>
              <a:t>It is a service-experience story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19" b="0">
                <a:solidFill>
                  <a:srgbClr val="EAF0F7"/>
                </a:solidFill>
                <a:latin typeface="Segoe UI"/>
              </a:rPr>
              <a:t>Fiber optic 41.9% vs 7.4% with no internet; customers without tech support or online security churn at 41.6% and 41.8%.</a:t>
            </a:r>
          </a:p>
        </p:txBody>
      </p:sp>
      <p:sp>
        <p:nvSpPr>
          <p:cNvPr id="18" name="Rectangle 17">
            <a:hlinkClick action="ppaction://hlinksldjump" r:id="rId5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lide navigation 01" descr="Click to navigate to slide 01 of 22">
            <a:hlinkClick action="ppaction://hlinksldjump" r:id="rId5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0" name="Rectangle 19">
            <a:hlinkClick action="ppaction://hlinksldjump" r:id="rId6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lide navigation 02" descr="Click to navigate to slide 02 of 22">
            <a:hlinkClick action="ppaction://hlinksldjump" r:id="rId6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2" name="Rectangle 21">
            <a:hlinkClick action="ppaction://hlinksldjump" r:id="rId7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lide navigation 03" descr="Click to navigate to slide 03 of 22">
            <a:hlinkClick action="ppaction://hlinksldjump" r:id="rId7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4" name="Rectangle 23">
            <a:hlinkClick action="ppaction://hlinksldjump" r:id="rId8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lide navigation 04" descr="Click to navigate to slide 04 of 22">
            <a:hlinkClick action="ppaction://hlinksldjump" r:id="rId8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6" name="Rectangle 25">
            <a:hlinkClick action="ppaction://hlinksldjump" r:id="rId9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ide navigation 05" descr="Click to navigate to slide 05 of 22">
            <a:hlinkClick action="ppaction://hlinksldjump" r:id="rId9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8" name="Rectangle 27">
            <a:hlinkClick action="ppaction://hlinksldjump" r:id="rId10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lide navigation 06" descr="Click to navigate to slide 06 of 22">
            <a:hlinkClick action="ppaction://hlinksldjump" r:id="rId10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0" name="Rectangle 29">
            <a:hlinkClick action="ppaction://hlinksldjump" r:id="rId11"/>
          </p:cNvPr>
          <p:cNvSpPr/>
          <p:nvPr/>
        </p:nvSpPr>
        <p:spPr>
          <a:xfrm>
            <a:off x="3600990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lide navigation 07" descr="Click to navigate to slide 07 of 22">
            <a:hlinkClick action="ppaction://hlinksldjump" r:id="rId11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2" name="Rectangle 31">
            <a:hlinkClick action="ppaction://hlinksldjump" r:id="rId12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lide navigation 08" descr="Click to navigate to slide 08 of 22">
            <a:hlinkClick action="ppaction://hlinksldjump" r:id="rId12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4" name="Rectangle 33">
            <a:hlinkClick action="ppaction://hlinksldjump" r:id="rId13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lide navigation 09" descr="Click to navigate to slide 09 of 22">
            <a:hlinkClick action="ppaction://hlinksldjump" r:id="rId13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6" name="Rectangle 35">
            <a:hlinkClick action="ppaction://hlinksldjump" r:id="rId14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lide navigation 10" descr="Click to navigate to slide 10 of 22">
            <a:hlinkClick action="ppaction://hlinksldjump" r:id="rId14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8" name="Rectangle 37">
            <a:hlinkClick action="ppaction://hlinksldjump" r:id="rId15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lide navigation 11" descr="Click to navigate to slide 11 of 22">
            <a:hlinkClick action="ppaction://hlinksldjump" r:id="rId15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0" name="Rectangle 39">
            <a:hlinkClick action="ppaction://hlinksldjump" r:id="rId16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lide navigation 12" descr="Click to navigate to slide 12 of 22">
            <a:hlinkClick action="ppaction://hlinksldjump" r:id="rId16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2" name="Rectangle 41">
            <a:hlinkClick action="ppaction://hlinksldjump" r:id="rId17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lide navigation 13" descr="Click to navigate to slide 13 of 22">
            <a:hlinkClick action="ppaction://hlinksldjump" r:id="rId17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4" name="Rectangle 43">
            <a:hlinkClick action="ppaction://hlinksldjump" r:id="rId18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lide navigation 14" descr="Click to navigate to slide 14 of 22">
            <a:hlinkClick action="ppaction://hlinksldjump" r:id="rId18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6" name="Rectangle 45">
            <a:hlinkClick action="ppaction://hlinksldjump" r:id="rId19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lide navigation 15" descr="Click to navigate to slide 15 of 22">
            <a:hlinkClick action="ppaction://hlinksldjump" r:id="rId19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8" name="Rectangle 47">
            <a:hlinkClick action="ppaction://hlinksldjump" r:id="rId20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lide navigation 16" descr="Click to navigate to slide 16 of 22">
            <a:hlinkClick action="ppaction://hlinksldjump" r:id="rId20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0" name="Rectangle 49">
            <a:hlinkClick action="ppaction://hlinksldjump" r:id="rId21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lide navigation 17" descr="Click to navigate to slide 17 of 22">
            <a:hlinkClick action="ppaction://hlinksldjump" r:id="rId21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2" name="Rectangle 51">
            <a:hlinkClick action="ppaction://hlinksldjump" r:id="rId22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lide navigation 18" descr="Click to navigate to slide 18 of 22">
            <a:hlinkClick action="ppaction://hlinksldjump" r:id="rId22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4" name="Rectangle 53">
            <a:hlinkClick action="ppaction://hlinksldjump" r:id="rId23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lide navigation 19" descr="Click to navigate to slide 19 of 22">
            <a:hlinkClick action="ppaction://hlinksldjump" r:id="rId23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6" name="Rectangle 55">
            <a:hlinkClick action="ppaction://hlinksldjump" r:id="rId24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lide navigation 20" descr="Click to navigate to slide 20 of 22">
            <a:hlinkClick action="ppaction://hlinksldjump" r:id="rId24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8" name="Rectangle 57">
            <a:hlinkClick action="ppaction://hlinksldjump" r:id="rId25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lide navigation 21" descr="Click to navigate to slide 21 of 22">
            <a:hlinkClick action="ppaction://hlinksldjump" r:id="rId25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0" name="Rectangle 59">
            <a:hlinkClick action="ppaction://hlinksldjump" r:id="rId26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lide navigation 22" descr="Click to navigate to slide 22 of 22">
            <a:hlinkClick action="ppaction://hlinksldjump" r:id="rId26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2" name="Rectangle 61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04 · EXPLORATORY DATA ANALYSIS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05  · 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Thirty features, one frozen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Three numeric measures, twenty-seven explicit flags — and a test that guards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3584448" cy="1133855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45919"/>
            <a:ext cx="3328415" cy="932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800" b="1">
                <a:solidFill>
                  <a:srgbClr val="4C8DFF"/>
                </a:solidFill>
                <a:latin typeface="Segoe UI"/>
              </a:rPr>
              <a:t>3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CA0BE"/>
                </a:solidFill>
                <a:latin typeface="Segoe UI"/>
              </a:rPr>
              <a:t>NUMERIC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517904"/>
            <a:ext cx="3584448" cy="1133855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645919"/>
            <a:ext cx="3328415" cy="932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800" b="1">
                <a:solidFill>
                  <a:srgbClr val="F5A623"/>
                </a:solidFill>
                <a:latin typeface="Segoe UI"/>
              </a:rPr>
              <a:t>27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CA0BE"/>
                </a:solidFill>
                <a:latin typeface="Segoe UI"/>
              </a:rPr>
              <a:t>BINARY FLAGS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7" y="1517904"/>
            <a:ext cx="3557016" cy="1133855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1" y="1645919"/>
            <a:ext cx="3300984" cy="932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800" b="1">
                <a:solidFill>
                  <a:srgbClr val="2FD8B4"/>
                </a:solidFill>
                <a:latin typeface="Segoe UI"/>
              </a:rPr>
              <a:t>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CA0BE"/>
                </a:solidFill>
                <a:latin typeface="Segoe UI"/>
              </a:rPr>
              <a:t>TOTAL MODEL INPUTS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34639"/>
            <a:ext cx="5440680" cy="3383279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99232"/>
            <a:ext cx="5038344" cy="305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4C8DFF"/>
                </a:solidFill>
                <a:latin typeface="Consolas"/>
              </a:rPr>
              <a:t>THE THREE NUMERIC MEASURES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Tenure Months, Monthly Charges, Total Charges — the only continuous quantities the model sees.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F5A623"/>
                </a:solidFill>
                <a:latin typeface="Consolas"/>
              </a:rPr>
              <a:t>WHY FLAGS, NOT NUMBERS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Assigning 1, 2, 3 to DSL / Fiber / None would invent an ordering that does not exist. Flags keep the model honest about what these categories actually are.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8CA0BE"/>
                </a:solidFill>
                <a:latin typeface="Segoe UI"/>
              </a:rPr>
              <a:t>Eleven Total Charges values are blank — every one of them belongs to a zero-tenure customer, so the missing rows never hide a churn signal.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34639"/>
            <a:ext cx="5449824" cy="3383279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999232"/>
            <a:ext cx="5084064" cy="305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2FD8B4"/>
                </a:solidFill>
                <a:latin typeface="Consolas"/>
              </a:rPr>
              <a:t>THE COLUMN CONTRACT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The exact 30 column names are saved to feature_columns.pkl alongside the model. The app rebuilds a feature frame and checks it against that list before scoring.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080" b="0">
                <a:solidFill>
                  <a:srgbClr val="8CA0BE"/>
                </a:solidFill>
                <a:latin typeface="Segoe UI"/>
              </a:rPr>
              <a:t>If the two ever disagree, the request fails loudly rather than silently scoring on a misaligned frame — the most common way a student project works in the notebook and quietly breaks in the app.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2FD8B4"/>
                </a:solidFill>
                <a:latin typeface="Segoe UI"/>
              </a:rPr>
              <a:t>Uploads are validated against that same list, so a mismatched CSV is rejected before a single row is scored.</a:t>
            </a:r>
          </a:p>
        </p:txBody>
      </p:sp>
      <p:sp>
        <p:nvSpPr>
          <p:cNvPr id="17" name="Rectangle 16">
            <a:hlinkClick action="ppaction://hlinksldjump" r:id="rId3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lide navigation 01" descr="Click to navigate to slide 01 of 22">
            <a:hlinkClick action="ppaction://hlinksldjump" r:id="rId3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9" name="Rectangle 18">
            <a:hlinkClick action="ppaction://hlinksldjump" r:id="rId4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lide navigation 02" descr="Click to navigate to slide 02 of 22">
            <a:hlinkClick action="ppaction://hlinksldjump" r:id="rId4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1" name="Rectangle 20">
            <a:hlinkClick action="ppaction://hlinksldjump" r:id="rId5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lide navigation 03" descr="Click to navigate to slide 03 of 22">
            <a:hlinkClick action="ppaction://hlinksldjump" r:id="rId5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3" name="Rectangle 22">
            <a:hlinkClick action="ppaction://hlinksldjump" r:id="rId6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lide navigation 04" descr="Click to navigate to slide 04 of 22">
            <a:hlinkClick action="ppaction://hlinksldjump" r:id="rId6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5" name="Rectangle 24">
            <a:hlinkClick action="ppaction://hlinksldjump" r:id="rId7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lide navigation 05" descr="Click to navigate to slide 05 of 22">
            <a:hlinkClick action="ppaction://hlinksldjump" r:id="rId7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7" name="Rectangle 26">
            <a:hlinkClick action="ppaction://hlinksldjump" r:id="rId8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lide navigation 06" descr="Click to navigate to slide 06 of 22">
            <a:hlinkClick action="ppaction://hlinksldjump" r:id="rId8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9" name="Rectangle 28">
            <a:hlinkClick action="ppaction://hlinksldjump" r:id="rId9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lide navigation 07" descr="Click to navigate to slide 07 of 22">
            <a:hlinkClick action="ppaction://hlinksldjump" r:id="rId9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1" name="Rectangle 30">
            <a:hlinkClick action="ppaction://hlinksldjump" r:id="rId10"/>
          </p:cNvPr>
          <p:cNvSpPr/>
          <p:nvPr/>
        </p:nvSpPr>
        <p:spPr>
          <a:xfrm>
            <a:off x="4103619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lide navigation 08" descr="Click to navigate to slide 08 of 22">
            <a:hlinkClick action="ppaction://hlinksldjump" r:id="rId10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3" name="Rectangle 32">
            <a:hlinkClick action="ppaction://hlinksldjump" r:id="rId11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lide navigation 09" descr="Click to navigate to slide 09 of 22">
            <a:hlinkClick action="ppaction://hlinksldjump" r:id="rId11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5" name="Rectangle 34">
            <a:hlinkClick action="ppaction://hlinksldjump" r:id="rId12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lide navigation 10" descr="Click to navigate to slide 10 of 22">
            <a:hlinkClick action="ppaction://hlinksldjump" r:id="rId12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7" name="Rectangle 36">
            <a:hlinkClick action="ppaction://hlinksldjump" r:id="rId13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lide navigation 11" descr="Click to navigate to slide 11 of 22">
            <a:hlinkClick action="ppaction://hlinksldjump" r:id="rId13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9" name="Rectangle 38">
            <a:hlinkClick action="ppaction://hlinksldjump" r:id="rId14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lide navigation 12" descr="Click to navigate to slide 12 of 22">
            <a:hlinkClick action="ppaction://hlinksldjump" r:id="rId14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1" name="Rectangle 40">
            <a:hlinkClick action="ppaction://hlinksldjump" r:id="rId15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lide navigation 13" descr="Click to navigate to slide 13 of 22">
            <a:hlinkClick action="ppaction://hlinksldjump" r:id="rId15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3" name="Rectangle 42">
            <a:hlinkClick action="ppaction://hlinksldjump" r:id="rId16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lide navigation 14" descr="Click to navigate to slide 14 of 22">
            <a:hlinkClick action="ppaction://hlinksldjump" r:id="rId16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5" name="Rectangle 44">
            <a:hlinkClick action="ppaction://hlinksldjump" r:id="rId17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lide navigation 15" descr="Click to navigate to slide 15 of 22">
            <a:hlinkClick action="ppaction://hlinksldjump" r:id="rId17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7" name="Rectangle 46">
            <a:hlinkClick action="ppaction://hlinksldjump" r:id="rId18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lide navigation 16" descr="Click to navigate to slide 16 of 22">
            <a:hlinkClick action="ppaction://hlinksldjump" r:id="rId18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9" name="Rectangle 48">
            <a:hlinkClick action="ppaction://hlinksldjump" r:id="rId19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lide navigation 17" descr="Click to navigate to slide 17 of 22">
            <a:hlinkClick action="ppaction://hlinksldjump" r:id="rId19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1" name="Rectangle 50">
            <a:hlinkClick action="ppaction://hlinksldjump" r:id="rId20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lide navigation 18" descr="Click to navigate to slide 18 of 22">
            <a:hlinkClick action="ppaction://hlinksldjump" r:id="rId20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3" name="Rectangle 52">
            <a:hlinkClick action="ppaction://hlinksldjump" r:id="rId21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lide navigation 19" descr="Click to navigate to slide 19 of 22">
            <a:hlinkClick action="ppaction://hlinksldjump" r:id="rId21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5" name="Rectangle 54">
            <a:hlinkClick action="ppaction://hlinksldjump" r:id="rId22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lide navigation 20" descr="Click to navigate to slide 20 of 22">
            <a:hlinkClick action="ppaction://hlinksldjump" r:id="rId22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7" name="Rectangle 56">
            <a:hlinkClick action="ppaction://hlinksldjump" r:id="rId23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lide navigation 21" descr="Click to navigate to slide 21 of 22">
            <a:hlinkClick action="ppaction://hlinksldjump" r:id="rId23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9" name="Rectangle 58">
            <a:hlinkClick action="ppaction://hlinksldjump" r:id="rId24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lide navigation 22" descr="Click to navigate to slide 22 of 22">
            <a:hlinkClick action="ppaction://hlinksldjump" r:id="rId24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05 · FEATURE ENGINEERING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06  ·  MODEL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Four algorithms, one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Same features, same split, same scoring code — only the algorithm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9627"/>
            <a:ext cx="6501384" cy="35924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24344" y="1572768"/>
            <a:ext cx="4300423" cy="3566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80" b="1">
                <a:solidFill>
                  <a:srgbClr val="2FD8B4"/>
                </a:solidFill>
                <a:latin typeface="Segoe UI"/>
              </a:rPr>
              <a:t>▸  Logistic Regression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EAF0F7"/>
                </a:solidFill>
                <a:latin typeface="Segoe UI"/>
              </a:rPr>
              <a:t>     linear baseline; interpretable coefficients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100"/>
              </a:spcAft>
            </a:pPr>
            <a:r>
              <a:rPr sz="1080" b="1">
                <a:solidFill>
                  <a:srgbClr val="2FD8B4"/>
                </a:solidFill>
                <a:latin typeface="Segoe UI"/>
              </a:rPr>
              <a:t>▸  Random Forest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EAF0F7"/>
                </a:solidFill>
                <a:latin typeface="Segoe UI"/>
              </a:rPr>
              <a:t>     bagged trees; captures non-linearity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100"/>
              </a:spcAft>
            </a:pPr>
            <a:r>
              <a:rPr sz="1080" b="1">
                <a:solidFill>
                  <a:srgbClr val="2FD8B4"/>
                </a:solidFill>
                <a:latin typeface="Segoe UI"/>
              </a:rPr>
              <a:t>▸  XGBoost &amp; LightGBM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EAF0F7"/>
                </a:solidFill>
                <a:latin typeface="Segoe UI"/>
              </a:rPr>
              <a:t>     gradient boosting; strong on tabular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24344" y="4151376"/>
            <a:ext cx="4300423" cy="1042415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88936" y="4261104"/>
            <a:ext cx="39712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19" b="1">
                <a:solidFill>
                  <a:srgbClr val="F5A623"/>
                </a:solidFill>
                <a:latin typeface="Segoe UI"/>
              </a:rPr>
              <a:t>Benchmark ladder (F1)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19" b="0">
                <a:solidFill>
                  <a:srgbClr val="EAF0F7"/>
                </a:solidFill>
                <a:latin typeface="Consolas"/>
              </a:rPr>
              <a:t>LR 60.6 · LightGBM 59.6 · XGBoost 58.5 · RF 57.1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340096"/>
            <a:ext cx="11057839" cy="877824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468112"/>
            <a:ext cx="10692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WHY FOUR MODELS AND NOT ONE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A single model proves nothing. Four algorithms on the same pipeline show the result is a property of the features and the problem — not of one lucky configuration. Accuracy, precision, recall, F1 and ROC-AUC were all recorded, and the winner was chosen on F1 and ROC-AUC, never accuracy.</a:t>
            </a:r>
          </a:p>
        </p:txBody>
      </p:sp>
      <p:sp>
        <p:nvSpPr>
          <p:cNvPr id="13" name="Rectangle 12">
            <a:hlinkClick action="ppaction://hlinksldjump" r:id="rId4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lide navigation 01" descr="Click to navigate to slide 01 of 22">
            <a:hlinkClick action="ppaction://hlinksldjump" r:id="rId4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5" name="Rectangle 14">
            <a:hlinkClick action="ppaction://hlinksldjump" r:id="rId5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lide navigation 02" descr="Click to navigate to slide 02 of 22">
            <a:hlinkClick action="ppaction://hlinksldjump" r:id="rId5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7" name="Rectangle 16">
            <a:hlinkClick action="ppaction://hlinksldjump" r:id="rId6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lide navigation 03" descr="Click to navigate to slide 03 of 22">
            <a:hlinkClick action="ppaction://hlinksldjump" r:id="rId6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9" name="Rectangle 18">
            <a:hlinkClick action="ppaction://hlinksldjump" r:id="rId7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lide navigation 04" descr="Click to navigate to slide 04 of 22">
            <a:hlinkClick action="ppaction://hlinksldjump" r:id="rId7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1" name="Rectangle 20">
            <a:hlinkClick action="ppaction://hlinksldjump" r:id="rId8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lide navigation 05" descr="Click to navigate to slide 05 of 22">
            <a:hlinkClick action="ppaction://hlinksldjump" r:id="rId8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3" name="Rectangle 22">
            <a:hlinkClick action="ppaction://hlinksldjump" r:id="rId9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lide navigation 06" descr="Click to navigate to slide 06 of 22">
            <a:hlinkClick action="ppaction://hlinksldjump" r:id="rId9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5" name="Rectangle 24">
            <a:hlinkClick action="ppaction://hlinksldjump" r:id="rId10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lide navigation 07" descr="Click to navigate to slide 07 of 22">
            <a:hlinkClick action="ppaction://hlinksldjump" r:id="rId10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7" name="Rectangle 26">
            <a:hlinkClick action="ppaction://hlinksldjump" r:id="rId11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lide navigation 08" descr="Click to navigate to slide 08 of 22">
            <a:hlinkClick action="ppaction://hlinksldjump" r:id="rId11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9" name="Rectangle 28">
            <a:hlinkClick action="ppaction://hlinksldjump" r:id="rId12"/>
          </p:cNvPr>
          <p:cNvSpPr/>
          <p:nvPr/>
        </p:nvSpPr>
        <p:spPr>
          <a:xfrm>
            <a:off x="4606248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lide navigation 09" descr="Click to navigate to slide 09 of 22">
            <a:hlinkClick action="ppaction://hlinksldjump" r:id="rId12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1" name="Rectangle 30">
            <a:hlinkClick action="ppaction://hlinksldjump" r:id="rId13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lide navigation 10" descr="Click to navigate to slide 10 of 22">
            <a:hlinkClick action="ppaction://hlinksldjump" r:id="rId13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3" name="Rectangle 32">
            <a:hlinkClick action="ppaction://hlinksldjump" r:id="rId14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lide navigation 11" descr="Click to navigate to slide 11 of 22">
            <a:hlinkClick action="ppaction://hlinksldjump" r:id="rId14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5" name="Rectangle 34">
            <a:hlinkClick action="ppaction://hlinksldjump" r:id="rId15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lide navigation 12" descr="Click to navigate to slide 12 of 22">
            <a:hlinkClick action="ppaction://hlinksldjump" r:id="rId15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7" name="Rectangle 36">
            <a:hlinkClick action="ppaction://hlinksldjump" r:id="rId16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lide navigation 13" descr="Click to navigate to slide 13 of 22">
            <a:hlinkClick action="ppaction://hlinksldjump" r:id="rId16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9" name="Rectangle 38">
            <a:hlinkClick action="ppaction://hlinksldjump" r:id="rId17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lide navigation 14" descr="Click to navigate to slide 14 of 22">
            <a:hlinkClick action="ppaction://hlinksldjump" r:id="rId17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1" name="Rectangle 40">
            <a:hlinkClick action="ppaction://hlinksldjump" r:id="rId18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lide navigation 15" descr="Click to navigate to slide 15 of 22">
            <a:hlinkClick action="ppaction://hlinksldjump" r:id="rId18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3" name="Rectangle 42">
            <a:hlinkClick action="ppaction://hlinksldjump" r:id="rId19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lide navigation 16" descr="Click to navigate to slide 16 of 22">
            <a:hlinkClick action="ppaction://hlinksldjump" r:id="rId19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5" name="Rectangle 44">
            <a:hlinkClick action="ppaction://hlinksldjump" r:id="rId20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lide navigation 17" descr="Click to navigate to slide 17 of 22">
            <a:hlinkClick action="ppaction://hlinksldjump" r:id="rId20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7" name="Rectangle 46">
            <a:hlinkClick action="ppaction://hlinksldjump" r:id="rId21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lide navigation 18" descr="Click to navigate to slide 18 of 22">
            <a:hlinkClick action="ppaction://hlinksldjump" r:id="rId21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9" name="Rectangle 48">
            <a:hlinkClick action="ppaction://hlinksldjump" r:id="rId22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lide navigation 19" descr="Click to navigate to slide 19 of 22">
            <a:hlinkClick action="ppaction://hlinksldjump" r:id="rId22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1" name="Rectangle 50">
            <a:hlinkClick action="ppaction://hlinksldjump" r:id="rId23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lide navigation 20" descr="Click to navigate to slide 20 of 22">
            <a:hlinkClick action="ppaction://hlinksldjump" r:id="rId23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3" name="Rectangle 52">
            <a:hlinkClick action="ppaction://hlinksldjump" r:id="rId24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lide navigation 21" descr="Click to navigate to slide 21 of 22">
            <a:hlinkClick action="ppaction://hlinksldjump" r:id="rId24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5" name="Rectangle 54">
            <a:hlinkClick action="ppaction://hlinksldjump" r:id="rId25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lide navigation 22" descr="Click to navigate to slide 22 of 22">
            <a:hlinkClick action="ppaction://hlinksldjump" r:id="rId25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06 · MODEL DEVELOPMENT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07  · 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Measuring the model — and its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Held-out test set of 1,409 customers, plus five-fold cross-validation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3408697" cy="2523861"/>
          </a:xfrm>
          <a:prstGeom prst="rect">
            <a:avLst/>
          </a:prstGeom>
        </p:spPr>
      </p:pic>
      <p:pic>
        <p:nvPicPr>
          <p:cNvPr id="8" name="Picture 7" descr="chart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505" y="1517904"/>
            <a:ext cx="7466261" cy="252386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279392"/>
            <a:ext cx="2094524" cy="106070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407407"/>
            <a:ext cx="1838492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EAF0F7"/>
                </a:solidFill>
                <a:latin typeface="Segoe UI"/>
              </a:rPr>
              <a:t>80.34%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756" y="4279392"/>
            <a:ext cx="2094524" cy="106070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4060" y="4407407"/>
            <a:ext cx="1838492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EAF0F7"/>
                </a:solidFill>
                <a:latin typeface="Segoe UI"/>
              </a:rPr>
              <a:t>64.74%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8585" y="4279392"/>
            <a:ext cx="2094524" cy="106070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4889" y="4407407"/>
            <a:ext cx="1838492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F5A623"/>
                </a:solidFill>
                <a:latin typeface="Segoe UI"/>
              </a:rPr>
              <a:t>56.95%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9413" y="4279392"/>
            <a:ext cx="2094524" cy="106070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5717" y="4407407"/>
            <a:ext cx="1838492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2FD8B4"/>
                </a:solidFill>
                <a:latin typeface="Segoe UI"/>
              </a:rPr>
              <a:t>60.60%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F1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30242" y="4279392"/>
            <a:ext cx="2094524" cy="106070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6546" y="4407407"/>
            <a:ext cx="1838492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2FD8B4"/>
                </a:solidFill>
                <a:latin typeface="Segoe UI"/>
              </a:rPr>
              <a:t>84.91%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ROC-AUC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431536"/>
            <a:ext cx="11057839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8CA0BE"/>
                </a:solidFill>
                <a:latin typeface="Segoe UI"/>
              </a:rPr>
              <a:t>Honest reading: of 374 churners in the test set the model catches 213. The deployed 60.60% F1 sits inside a cross-validated range of 62.11% ± 2.96% (accuracy 81.19% ± 1.18%), so the single split is not carrying the result — and recall is the number this project works on next.</a:t>
            </a:r>
          </a:p>
        </p:txBody>
      </p:sp>
      <p:sp>
        <p:nvSpPr>
          <p:cNvPr id="20" name="Rectangle 19">
            <a:hlinkClick action="ppaction://hlinksldjump" r:id="rId5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lide navigation 01" descr="Click to navigate to slide 01 of 22">
            <a:hlinkClick action="ppaction://hlinksldjump" r:id="rId5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2" name="Rectangle 21">
            <a:hlinkClick action="ppaction://hlinksldjump" r:id="rId6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lide navigation 02" descr="Click to navigate to slide 02 of 22">
            <a:hlinkClick action="ppaction://hlinksldjump" r:id="rId6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4" name="Rectangle 23">
            <a:hlinkClick action="ppaction://hlinksldjump" r:id="rId7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lide navigation 03" descr="Click to navigate to slide 03 of 22">
            <a:hlinkClick action="ppaction://hlinksldjump" r:id="rId7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6" name="Rectangle 25">
            <a:hlinkClick action="ppaction://hlinksldjump" r:id="rId8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ide navigation 04" descr="Click to navigate to slide 04 of 22">
            <a:hlinkClick action="ppaction://hlinksldjump" r:id="rId8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8" name="Rectangle 27">
            <a:hlinkClick action="ppaction://hlinksldjump" r:id="rId9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lide navigation 05" descr="Click to navigate to slide 05 of 22">
            <a:hlinkClick action="ppaction://hlinksldjump" r:id="rId9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0" name="Rectangle 29">
            <a:hlinkClick action="ppaction://hlinksldjump" r:id="rId10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lide navigation 06" descr="Click to navigate to slide 06 of 22">
            <a:hlinkClick action="ppaction://hlinksldjump" r:id="rId10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2" name="Rectangle 31">
            <a:hlinkClick action="ppaction://hlinksldjump" r:id="rId11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lide navigation 07" descr="Click to navigate to slide 07 of 22">
            <a:hlinkClick action="ppaction://hlinksldjump" r:id="rId11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4" name="Rectangle 33">
            <a:hlinkClick action="ppaction://hlinksldjump" r:id="rId12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lide navigation 08" descr="Click to navigate to slide 08 of 22">
            <a:hlinkClick action="ppaction://hlinksldjump" r:id="rId12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6" name="Rectangle 35">
            <a:hlinkClick action="ppaction://hlinksldjump" r:id="rId13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lide navigation 09" descr="Click to navigate to slide 09 of 22">
            <a:hlinkClick action="ppaction://hlinksldjump" r:id="rId13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8" name="Rectangle 37">
            <a:hlinkClick action="ppaction://hlinksldjump" r:id="rId14"/>
          </p:cNvPr>
          <p:cNvSpPr/>
          <p:nvPr/>
        </p:nvSpPr>
        <p:spPr>
          <a:xfrm>
            <a:off x="5108877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lide navigation 10" descr="Click to navigate to slide 10 of 22">
            <a:hlinkClick action="ppaction://hlinksldjump" r:id="rId14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0" name="Rectangle 39">
            <a:hlinkClick action="ppaction://hlinksldjump" r:id="rId15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lide navigation 11" descr="Click to navigate to slide 11 of 22">
            <a:hlinkClick action="ppaction://hlinksldjump" r:id="rId15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2" name="Rectangle 41">
            <a:hlinkClick action="ppaction://hlinksldjump" r:id="rId16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lide navigation 12" descr="Click to navigate to slide 12 of 22">
            <a:hlinkClick action="ppaction://hlinksldjump" r:id="rId16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4" name="Rectangle 43">
            <a:hlinkClick action="ppaction://hlinksldjump" r:id="rId17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lide navigation 13" descr="Click to navigate to slide 13 of 22">
            <a:hlinkClick action="ppaction://hlinksldjump" r:id="rId17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6" name="Rectangle 45">
            <a:hlinkClick action="ppaction://hlinksldjump" r:id="rId18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lide navigation 14" descr="Click to navigate to slide 14 of 22">
            <a:hlinkClick action="ppaction://hlinksldjump" r:id="rId18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8" name="Rectangle 47">
            <a:hlinkClick action="ppaction://hlinksldjump" r:id="rId19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lide navigation 15" descr="Click to navigate to slide 15 of 22">
            <a:hlinkClick action="ppaction://hlinksldjump" r:id="rId19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0" name="Rectangle 49">
            <a:hlinkClick action="ppaction://hlinksldjump" r:id="rId20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lide navigation 16" descr="Click to navigate to slide 16 of 22">
            <a:hlinkClick action="ppaction://hlinksldjump" r:id="rId20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2" name="Rectangle 51">
            <a:hlinkClick action="ppaction://hlinksldjump" r:id="rId21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lide navigation 17" descr="Click to navigate to slide 17 of 22">
            <a:hlinkClick action="ppaction://hlinksldjump" r:id="rId21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4" name="Rectangle 53">
            <a:hlinkClick action="ppaction://hlinksldjump" r:id="rId22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lide navigation 18" descr="Click to navigate to slide 18 of 22">
            <a:hlinkClick action="ppaction://hlinksldjump" r:id="rId22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6" name="Rectangle 55">
            <a:hlinkClick action="ppaction://hlinksldjump" r:id="rId23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lide navigation 19" descr="Click to navigate to slide 19 of 22">
            <a:hlinkClick action="ppaction://hlinksldjump" r:id="rId23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8" name="Rectangle 57">
            <a:hlinkClick action="ppaction://hlinksldjump" r:id="rId24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lide navigation 20" descr="Click to navigate to slide 20 of 22">
            <a:hlinkClick action="ppaction://hlinksldjump" r:id="rId24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0" name="Rectangle 59">
            <a:hlinkClick action="ppaction://hlinksldjump" r:id="rId25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lide navigation 21" descr="Click to navigate to slide 21 of 22">
            <a:hlinkClick action="ppaction://hlinksldjump" r:id="rId25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2" name="Rectangle 61">
            <a:hlinkClick action="ppaction://hlinksldjump" r:id="rId26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lide navigation 22" descr="Click to navigate to slide 22 of 22">
            <a:hlinkClick action="ppaction://hlinksldjump" r:id="rId26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4" name="Rectangle 63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07 · MODEL EVALUATION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08  · 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Why Logistic Regression 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Four models, five metrics, one decision — made on F1 and ROC-AUC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3977639" cy="665683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704441"/>
            <a:ext cx="3758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8CA0BE"/>
                </a:solidFill>
                <a:latin typeface="Consolas"/>
              </a:rP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4568" y="1517904"/>
            <a:ext cx="1426464" cy="665683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3" y="1704441"/>
            <a:ext cx="1207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8CA0BE"/>
                </a:solidFill>
                <a:latin typeface="Consolas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1031" y="1517904"/>
            <a:ext cx="1426464" cy="665683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7" y="1704441"/>
            <a:ext cx="1207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8CA0BE"/>
                </a:solidFill>
                <a:latin typeface="Consolas"/>
              </a:rPr>
              <a:t>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496" y="1517904"/>
            <a:ext cx="1298448" cy="665683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1704441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8CA0BE"/>
                </a:solidFill>
                <a:latin typeface="Consolas"/>
              </a:rPr>
              <a:t>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95944" y="1517904"/>
            <a:ext cx="1298448" cy="665683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704441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8CA0BE"/>
                </a:solidFill>
                <a:latin typeface="Consolas"/>
              </a:rPr>
              <a:t>F1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94392" y="1517904"/>
            <a:ext cx="1636776" cy="665683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8" y="1704441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8CA0BE"/>
                </a:solidFill>
                <a:latin typeface="Consolas"/>
              </a:rPr>
              <a:t>ROC-AUC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197303"/>
            <a:ext cx="3977639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383840"/>
            <a:ext cx="3758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EAF0F7"/>
                </a:solidFill>
                <a:latin typeface="Segoe UI"/>
              </a:rPr>
              <a:t>Logistic Regression  ← selected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4568" y="2197303"/>
            <a:ext cx="1426464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2383840"/>
            <a:ext cx="1207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FD8B4"/>
                </a:solidFill>
                <a:latin typeface="Consolas"/>
              </a:rPr>
              <a:t>80.34%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71031" y="2197303"/>
            <a:ext cx="1426464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7" y="2383840"/>
            <a:ext cx="1207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FD8B4"/>
                </a:solidFill>
                <a:latin typeface="Consolas"/>
              </a:rPr>
              <a:t>64.74%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97496" y="2197303"/>
            <a:ext cx="1298448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25512" y="2383840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FD8B4"/>
                </a:solidFill>
                <a:latin typeface="Consolas"/>
              </a:rPr>
              <a:t>56.95%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95944" y="2197303"/>
            <a:ext cx="1298448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2383840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FD8B4"/>
                </a:solidFill>
                <a:latin typeface="Consolas"/>
              </a:rPr>
              <a:t>60.60%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94392" y="2197303"/>
            <a:ext cx="1636776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8" y="23838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FD8B4"/>
                </a:solidFill>
                <a:latin typeface="Consolas"/>
              </a:rPr>
              <a:t>84.91%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2876702"/>
            <a:ext cx="3977639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3063240"/>
            <a:ext cx="3758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Segoe UI"/>
              </a:rPr>
              <a:t>LightGBM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44568" y="2876702"/>
            <a:ext cx="1426464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2583" y="3063240"/>
            <a:ext cx="1207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80.06%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71031" y="2876702"/>
            <a:ext cx="1426464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7" y="3063240"/>
            <a:ext cx="1207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64.49%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97496" y="2876702"/>
            <a:ext cx="1298448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25512" y="3063240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55.35%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95944" y="2876702"/>
            <a:ext cx="1298448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3960" y="3063240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59.57%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94392" y="2876702"/>
            <a:ext cx="1636776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22408" y="30632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84.71%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3556101"/>
            <a:ext cx="3977639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" y="3742639"/>
            <a:ext cx="3758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Segoe UI"/>
              </a:rPr>
              <a:t>XGBoost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44568" y="3556101"/>
            <a:ext cx="1426464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72583" y="3742639"/>
            <a:ext cx="1207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79.06%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71031" y="3556101"/>
            <a:ext cx="1426464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99047" y="3742639"/>
            <a:ext cx="1207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61.72%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97496" y="3556101"/>
            <a:ext cx="1298448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25512" y="3742639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55.61%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95944" y="3556101"/>
            <a:ext cx="1298448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60" y="3742639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58.51%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94392" y="3556101"/>
            <a:ext cx="1636776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2408" y="3742639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83.34%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4235500"/>
            <a:ext cx="3977639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" y="4422038"/>
            <a:ext cx="3758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Segoe UI"/>
              </a:rPr>
              <a:t>Random Forest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44568" y="4235500"/>
            <a:ext cx="1426464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72583" y="4422038"/>
            <a:ext cx="1207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78.99%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71031" y="4235500"/>
            <a:ext cx="1426464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99047" y="4422038"/>
            <a:ext cx="1207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62.34%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97496" y="4235500"/>
            <a:ext cx="1298448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25512" y="4422038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52.67%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95944" y="4235500"/>
            <a:ext cx="1298448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23960" y="4422038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57.10%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94392" y="4235500"/>
            <a:ext cx="1636776" cy="665683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22408" y="442203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AF0F7"/>
                </a:solidFill>
                <a:latin typeface="Consolas"/>
              </a:rPr>
              <a:t>83.48%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6928" y="5047488"/>
            <a:ext cx="11057839" cy="1170431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9808" y="5175503"/>
            <a:ext cx="10692079" cy="932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2FD8B4"/>
                </a:solidFill>
                <a:latin typeface="Segoe UI"/>
              </a:rPr>
              <a:t>THE DECISION RULE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Accuracy alone would have picked LightGBM by one hundredth of a point. The choice was made on F1 and ROC-AUC, because a retention team cares about ranking risk correctly and catching churners — not about the share of all customers classified correctly. Logistic Regression also wins on being explainable, which the next phase depends on.</a:t>
            </a:r>
          </a:p>
        </p:txBody>
      </p:sp>
      <p:sp>
        <p:nvSpPr>
          <p:cNvPr id="69" name="Rectangle 68">
            <a:hlinkClick action="ppaction://hlinksldjump" r:id="rId3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lide navigation 01" descr="Click to navigate to slide 01 of 22">
            <a:hlinkClick action="ppaction://hlinksldjump" r:id="rId3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1" name="Rectangle 70">
            <a:hlinkClick action="ppaction://hlinksldjump" r:id="rId4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lide navigation 02" descr="Click to navigate to slide 02 of 22">
            <a:hlinkClick action="ppaction://hlinksldjump" r:id="rId4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3" name="Rectangle 72">
            <a:hlinkClick action="ppaction://hlinksldjump" r:id="rId5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lide navigation 03" descr="Click to navigate to slide 03 of 22">
            <a:hlinkClick action="ppaction://hlinksldjump" r:id="rId5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5" name="Rectangle 74">
            <a:hlinkClick action="ppaction://hlinksldjump" r:id="rId6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lide navigation 04" descr="Click to navigate to slide 04 of 22">
            <a:hlinkClick action="ppaction://hlinksldjump" r:id="rId6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7" name="Rectangle 76">
            <a:hlinkClick action="ppaction://hlinksldjump" r:id="rId7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lide navigation 05" descr="Click to navigate to slide 05 of 22">
            <a:hlinkClick action="ppaction://hlinksldjump" r:id="rId7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9" name="Rectangle 78">
            <a:hlinkClick action="ppaction://hlinksldjump" r:id="rId8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lide navigation 06" descr="Click to navigate to slide 06 of 22">
            <a:hlinkClick action="ppaction://hlinksldjump" r:id="rId8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1" name="Rectangle 80">
            <a:hlinkClick action="ppaction://hlinksldjump" r:id="rId9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lide navigation 07" descr="Click to navigate to slide 07 of 22">
            <a:hlinkClick action="ppaction://hlinksldjump" r:id="rId9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3" name="Rectangle 82">
            <a:hlinkClick action="ppaction://hlinksldjump" r:id="rId10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lide navigation 08" descr="Click to navigate to slide 08 of 22">
            <a:hlinkClick action="ppaction://hlinksldjump" r:id="rId10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5" name="Rectangle 84">
            <a:hlinkClick action="ppaction://hlinksldjump" r:id="rId11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lide navigation 09" descr="Click to navigate to slide 09 of 22">
            <a:hlinkClick action="ppaction://hlinksldjump" r:id="rId11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7" name="Rectangle 86">
            <a:hlinkClick action="ppaction://hlinksldjump" r:id="rId12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lide navigation 10" descr="Click to navigate to slide 10 of 22">
            <a:hlinkClick action="ppaction://hlinksldjump" r:id="rId12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9" name="Rectangle 88">
            <a:hlinkClick action="ppaction://hlinksldjump" r:id="rId13"/>
          </p:cNvPr>
          <p:cNvSpPr/>
          <p:nvPr/>
        </p:nvSpPr>
        <p:spPr>
          <a:xfrm>
            <a:off x="5611506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lide navigation 11" descr="Click to navigate to slide 11 of 22">
            <a:hlinkClick action="ppaction://hlinksldjump" r:id="rId13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91" name="Rectangle 90">
            <a:hlinkClick action="ppaction://hlinksldjump" r:id="rId14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lide navigation 12" descr="Click to navigate to slide 12 of 22">
            <a:hlinkClick action="ppaction://hlinksldjump" r:id="rId14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93" name="Rectangle 92">
            <a:hlinkClick action="ppaction://hlinksldjump" r:id="rId15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lide navigation 13" descr="Click to navigate to slide 13 of 22">
            <a:hlinkClick action="ppaction://hlinksldjump" r:id="rId15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95" name="Rectangle 94">
            <a:hlinkClick action="ppaction://hlinksldjump" r:id="rId16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lide navigation 14" descr="Click to navigate to slide 14 of 22">
            <a:hlinkClick action="ppaction://hlinksldjump" r:id="rId16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97" name="Rectangle 96">
            <a:hlinkClick action="ppaction://hlinksldjump" r:id="rId17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lide navigation 15" descr="Click to navigate to slide 15 of 22">
            <a:hlinkClick action="ppaction://hlinksldjump" r:id="rId17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99" name="Rectangle 98">
            <a:hlinkClick action="ppaction://hlinksldjump" r:id="rId18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lide navigation 16" descr="Click to navigate to slide 16 of 22">
            <a:hlinkClick action="ppaction://hlinksldjump" r:id="rId18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01" name="Rectangle 100">
            <a:hlinkClick action="ppaction://hlinksldjump" r:id="rId19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lide navigation 17" descr="Click to navigate to slide 17 of 22">
            <a:hlinkClick action="ppaction://hlinksldjump" r:id="rId19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03" name="Rectangle 102">
            <a:hlinkClick action="ppaction://hlinksldjump" r:id="rId20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lide navigation 18" descr="Click to navigate to slide 18 of 22">
            <a:hlinkClick action="ppaction://hlinksldjump" r:id="rId20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05" name="Rectangle 104">
            <a:hlinkClick action="ppaction://hlinksldjump" r:id="rId21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lide navigation 19" descr="Click to navigate to slide 19 of 22">
            <a:hlinkClick action="ppaction://hlinksldjump" r:id="rId21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07" name="Rectangle 106">
            <a:hlinkClick action="ppaction://hlinksldjump" r:id="rId22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lide navigation 20" descr="Click to navigate to slide 20 of 22">
            <a:hlinkClick action="ppaction://hlinksldjump" r:id="rId22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09" name="Rectangle 108">
            <a:hlinkClick action="ppaction://hlinksldjump" r:id="rId23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lide navigation 21" descr="Click to navigate to slide 21 of 22">
            <a:hlinkClick action="ppaction://hlinksldjump" r:id="rId23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11" name="Rectangle 110">
            <a:hlinkClick action="ppaction://hlinksldjump" r:id="rId24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Slide navigation 22" descr="Click to navigate to slide 22 of 22">
            <a:hlinkClick action="ppaction://hlinksldjump" r:id="rId24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08 · MODEL SELECTION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08  ·  MODEL SELECTION  ·  THE OPERATING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The cut-off was a default — not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0.5 is arbitrary. Measuring it turns the model's weakest number into a 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7680959" cy="44659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49056" y="1517904"/>
            <a:ext cx="3175711" cy="2276856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1936" y="1664207"/>
            <a:ext cx="2809951" cy="1984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2FD8B4"/>
                </a:solidFill>
                <a:latin typeface="Consolas"/>
              </a:rPr>
              <a:t>WHAT THE SWEEP SHOWS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At 0.35 the model catches 71.7% of churners instead of 57.0%, and F1 actually improves to 62.98%. Both recall and F1 are better than the deployed setting.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49056" y="3941063"/>
            <a:ext cx="3175711" cy="2276856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1936" y="4069079"/>
            <a:ext cx="2809951" cy="2039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THE PROOF THAT MATTERS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Training with class_weight='balanced' lifts recall to 77.81% while ROC-AUC barely moves: 84.89 against 84.90. The model already ranks customers correctly — the 0.5 cut-off was throwing churners away.</a:t>
            </a:r>
          </a:p>
        </p:txBody>
      </p:sp>
      <p:sp>
        <p:nvSpPr>
          <p:cNvPr id="12" name="Rectangle 11">
            <a:hlinkClick action="ppaction://hlinksldjump" r:id="rId4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lide navigation 01" descr="Click to navigate to slide 01 of 22">
            <a:hlinkClick action="ppaction://hlinksldjump" r:id="rId4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4" name="Rectangle 13">
            <a:hlinkClick action="ppaction://hlinksldjump" r:id="rId5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lide navigation 02" descr="Click to navigate to slide 02 of 22">
            <a:hlinkClick action="ppaction://hlinksldjump" r:id="rId5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6" name="Rectangle 15">
            <a:hlinkClick action="ppaction://hlinksldjump" r:id="rId6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lide navigation 03" descr="Click to navigate to slide 03 of 22">
            <a:hlinkClick action="ppaction://hlinksldjump" r:id="rId6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8" name="Rectangle 17">
            <a:hlinkClick action="ppaction://hlinksldjump" r:id="rId7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lide navigation 04" descr="Click to navigate to slide 04 of 22">
            <a:hlinkClick action="ppaction://hlinksldjump" r:id="rId7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0" name="Rectangle 19">
            <a:hlinkClick action="ppaction://hlinksldjump" r:id="rId8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lide navigation 05" descr="Click to navigate to slide 05 of 22">
            <a:hlinkClick action="ppaction://hlinksldjump" r:id="rId8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2" name="Rectangle 21">
            <a:hlinkClick action="ppaction://hlinksldjump" r:id="rId9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lide navigation 06" descr="Click to navigate to slide 06 of 22">
            <a:hlinkClick action="ppaction://hlinksldjump" r:id="rId9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4" name="Rectangle 23">
            <a:hlinkClick action="ppaction://hlinksldjump" r:id="rId10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lide navigation 07" descr="Click to navigate to slide 07 of 22">
            <a:hlinkClick action="ppaction://hlinksldjump" r:id="rId10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6" name="Rectangle 25">
            <a:hlinkClick action="ppaction://hlinksldjump" r:id="rId11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ide navigation 08" descr="Click to navigate to slide 08 of 22">
            <a:hlinkClick action="ppaction://hlinksldjump" r:id="rId11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8" name="Rectangle 27">
            <a:hlinkClick action="ppaction://hlinksldjump" r:id="rId12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lide navigation 09" descr="Click to navigate to slide 09 of 22">
            <a:hlinkClick action="ppaction://hlinksldjump" r:id="rId12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0" name="Rectangle 29">
            <a:hlinkClick action="ppaction://hlinksldjump" r:id="rId13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lide navigation 10" descr="Click to navigate to slide 10 of 22">
            <a:hlinkClick action="ppaction://hlinksldjump" r:id="rId13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2" name="Rectangle 31">
            <a:hlinkClick action="ppaction://hlinksldjump" r:id="rId14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lide navigation 11" descr="Click to navigate to slide 11 of 22">
            <a:hlinkClick action="ppaction://hlinksldjump" r:id="rId14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4" name="Rectangle 33">
            <a:hlinkClick action="ppaction://hlinksldjump" r:id="rId15"/>
          </p:cNvPr>
          <p:cNvSpPr/>
          <p:nvPr/>
        </p:nvSpPr>
        <p:spPr>
          <a:xfrm>
            <a:off x="6114135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lide navigation 12" descr="Click to navigate to slide 12 of 22">
            <a:hlinkClick action="ppaction://hlinksldjump" r:id="rId15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6" name="Rectangle 35">
            <a:hlinkClick action="ppaction://hlinksldjump" r:id="rId16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lide navigation 13" descr="Click to navigate to slide 13 of 22">
            <a:hlinkClick action="ppaction://hlinksldjump" r:id="rId16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8" name="Rectangle 37">
            <a:hlinkClick action="ppaction://hlinksldjump" r:id="rId17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lide navigation 14" descr="Click to navigate to slide 14 of 22">
            <a:hlinkClick action="ppaction://hlinksldjump" r:id="rId17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0" name="Rectangle 39">
            <a:hlinkClick action="ppaction://hlinksldjump" r:id="rId18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lide navigation 15" descr="Click to navigate to slide 15 of 22">
            <a:hlinkClick action="ppaction://hlinksldjump" r:id="rId18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2" name="Rectangle 41">
            <a:hlinkClick action="ppaction://hlinksldjump" r:id="rId19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lide navigation 16" descr="Click to navigate to slide 16 of 22">
            <a:hlinkClick action="ppaction://hlinksldjump" r:id="rId19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4" name="Rectangle 43">
            <a:hlinkClick action="ppaction://hlinksldjump" r:id="rId20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lide navigation 17" descr="Click to navigate to slide 17 of 22">
            <a:hlinkClick action="ppaction://hlinksldjump" r:id="rId20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6" name="Rectangle 45">
            <a:hlinkClick action="ppaction://hlinksldjump" r:id="rId21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lide navigation 18" descr="Click to navigate to slide 18 of 22">
            <a:hlinkClick action="ppaction://hlinksldjump" r:id="rId21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8" name="Rectangle 47">
            <a:hlinkClick action="ppaction://hlinksldjump" r:id="rId22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lide navigation 19" descr="Click to navigate to slide 19 of 22">
            <a:hlinkClick action="ppaction://hlinksldjump" r:id="rId22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0" name="Rectangle 49">
            <a:hlinkClick action="ppaction://hlinksldjump" r:id="rId23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lide navigation 20" descr="Click to navigate to slide 20 of 22">
            <a:hlinkClick action="ppaction://hlinksldjump" r:id="rId23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2" name="Rectangle 51">
            <a:hlinkClick action="ppaction://hlinksldjump" r:id="rId24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lide navigation 21" descr="Click to navigate to slide 21 of 22">
            <a:hlinkClick action="ppaction://hlinksldjump" r:id="rId24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4" name="Rectangle 53">
            <a:hlinkClick action="ppaction://hlinksldjump" r:id="rId25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lide navigation 22" descr="Click to navigate to slide 22 of 22">
            <a:hlinkClick action="ppaction://hlinksldjump" r:id="rId25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6" name="Rectangle 55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08 · MODEL SELECTION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09  · 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Why the model flags a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The profile of the high-risk band, and a per-customer explanation in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high_risk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7315200" cy="36737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47303" y="1517904"/>
            <a:ext cx="3477463" cy="2276856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0183" y="1664207"/>
            <a:ext cx="3111703" cy="1984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2FD8B4"/>
                </a:solidFill>
                <a:latin typeface="Consolas"/>
              </a:rPr>
              <a:t>PER-CUSTOMER EXPLANATION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For each prediction the console shows the top drivers, computed as coefficient × customer value — the honest linear explanation for a logistic model, with human labels like "Fiber optic internet" or "Account tenure".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3" y="3941063"/>
            <a:ext cx="3477463" cy="2276856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4069079"/>
            <a:ext cx="3111703" cy="2039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ON SHAP — STATED PRECISELY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SHAP was explored during the project; summary, bar, dependence and waterfall plots are in the repository. Production explanation is aligned to the deployed Logistic Regression instead — accurate for a linear model, and it costs nothing at request time.</a:t>
            </a:r>
          </a:p>
        </p:txBody>
      </p:sp>
      <p:sp>
        <p:nvSpPr>
          <p:cNvPr id="12" name="Rectangle 11">
            <a:hlinkClick action="ppaction://hlinksldjump" r:id="rId4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lide navigation 01" descr="Click to navigate to slide 01 of 22">
            <a:hlinkClick action="ppaction://hlinksldjump" r:id="rId4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4" name="Rectangle 13">
            <a:hlinkClick action="ppaction://hlinksldjump" r:id="rId5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lide navigation 02" descr="Click to navigate to slide 02 of 22">
            <a:hlinkClick action="ppaction://hlinksldjump" r:id="rId5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6" name="Rectangle 15">
            <a:hlinkClick action="ppaction://hlinksldjump" r:id="rId6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lide navigation 03" descr="Click to navigate to slide 03 of 22">
            <a:hlinkClick action="ppaction://hlinksldjump" r:id="rId6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8" name="Rectangle 17">
            <a:hlinkClick action="ppaction://hlinksldjump" r:id="rId7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lide navigation 04" descr="Click to navigate to slide 04 of 22">
            <a:hlinkClick action="ppaction://hlinksldjump" r:id="rId7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0" name="Rectangle 19">
            <a:hlinkClick action="ppaction://hlinksldjump" r:id="rId8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lide navigation 05" descr="Click to navigate to slide 05 of 22">
            <a:hlinkClick action="ppaction://hlinksldjump" r:id="rId8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2" name="Rectangle 21">
            <a:hlinkClick action="ppaction://hlinksldjump" r:id="rId9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lide navigation 06" descr="Click to navigate to slide 06 of 22">
            <a:hlinkClick action="ppaction://hlinksldjump" r:id="rId9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4" name="Rectangle 23">
            <a:hlinkClick action="ppaction://hlinksldjump" r:id="rId10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lide navigation 07" descr="Click to navigate to slide 07 of 22">
            <a:hlinkClick action="ppaction://hlinksldjump" r:id="rId10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6" name="Rectangle 25">
            <a:hlinkClick action="ppaction://hlinksldjump" r:id="rId11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ide navigation 08" descr="Click to navigate to slide 08 of 22">
            <a:hlinkClick action="ppaction://hlinksldjump" r:id="rId11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8" name="Rectangle 27">
            <a:hlinkClick action="ppaction://hlinksldjump" r:id="rId12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lide navigation 09" descr="Click to navigate to slide 09 of 22">
            <a:hlinkClick action="ppaction://hlinksldjump" r:id="rId12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0" name="Rectangle 29">
            <a:hlinkClick action="ppaction://hlinksldjump" r:id="rId13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lide navigation 10" descr="Click to navigate to slide 10 of 22">
            <a:hlinkClick action="ppaction://hlinksldjump" r:id="rId13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2" name="Rectangle 31">
            <a:hlinkClick action="ppaction://hlinksldjump" r:id="rId14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lide navigation 11" descr="Click to navigate to slide 11 of 22">
            <a:hlinkClick action="ppaction://hlinksldjump" r:id="rId14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4" name="Rectangle 33">
            <a:hlinkClick action="ppaction://hlinksldjump" r:id="rId15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lide navigation 12" descr="Click to navigate to slide 12 of 22">
            <a:hlinkClick action="ppaction://hlinksldjump" r:id="rId15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6" name="Rectangle 35">
            <a:hlinkClick action="ppaction://hlinksldjump" r:id="rId16"/>
          </p:cNvPr>
          <p:cNvSpPr/>
          <p:nvPr/>
        </p:nvSpPr>
        <p:spPr>
          <a:xfrm>
            <a:off x="6616764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lide navigation 13" descr="Click to navigate to slide 13 of 22">
            <a:hlinkClick action="ppaction://hlinksldjump" r:id="rId16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8" name="Rectangle 37">
            <a:hlinkClick action="ppaction://hlinksldjump" r:id="rId17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lide navigation 14" descr="Click to navigate to slide 14 of 22">
            <a:hlinkClick action="ppaction://hlinksldjump" r:id="rId17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0" name="Rectangle 39">
            <a:hlinkClick action="ppaction://hlinksldjump" r:id="rId18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lide navigation 15" descr="Click to navigate to slide 15 of 22">
            <a:hlinkClick action="ppaction://hlinksldjump" r:id="rId18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2" name="Rectangle 41">
            <a:hlinkClick action="ppaction://hlinksldjump" r:id="rId19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lide navigation 16" descr="Click to navigate to slide 16 of 22">
            <a:hlinkClick action="ppaction://hlinksldjump" r:id="rId19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4" name="Rectangle 43">
            <a:hlinkClick action="ppaction://hlinksldjump" r:id="rId20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lide navigation 17" descr="Click to navigate to slide 17 of 22">
            <a:hlinkClick action="ppaction://hlinksldjump" r:id="rId20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6" name="Rectangle 45">
            <a:hlinkClick action="ppaction://hlinksldjump" r:id="rId21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lide navigation 18" descr="Click to navigate to slide 18 of 22">
            <a:hlinkClick action="ppaction://hlinksldjump" r:id="rId21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8" name="Rectangle 47">
            <a:hlinkClick action="ppaction://hlinksldjump" r:id="rId22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lide navigation 19" descr="Click to navigate to slide 19 of 22">
            <a:hlinkClick action="ppaction://hlinksldjump" r:id="rId22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0" name="Rectangle 49">
            <a:hlinkClick action="ppaction://hlinksldjump" r:id="rId23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lide navigation 20" descr="Click to navigate to slide 20 of 22">
            <a:hlinkClick action="ppaction://hlinksldjump" r:id="rId23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2" name="Rectangle 51">
            <a:hlinkClick action="ppaction://hlinksldjump" r:id="rId24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lide navigation 21" descr="Click to navigate to slide 21 of 22">
            <a:hlinkClick action="ppaction://hlinksldjump" r:id="rId24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4" name="Rectangle 53">
            <a:hlinkClick action="ppaction://hlinksldjump" r:id="rId25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lide navigation 22" descr="Click to navigate to slide 22 of 22">
            <a:hlinkClick action="ppaction://hlinksldjump" r:id="rId25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6" name="Rectangle 55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09 · EXPLAINABILITY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10  ·  RISK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Turning a probability into a work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Every scored customer lands in one of three operational bands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3539642" cy="91440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64207"/>
            <a:ext cx="313730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2FD8B4"/>
                </a:solidFill>
                <a:latin typeface="Consolas"/>
              </a:rPr>
              <a:t>&lt; 30%   LOW RISK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EAF0F7"/>
                </a:solidFill>
                <a:latin typeface="Segoe UI"/>
              </a:rPr>
              <a:t>4,435 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6026" y="1517904"/>
            <a:ext cx="3539642" cy="91440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7194" y="1664207"/>
            <a:ext cx="313730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F5A623"/>
                </a:solidFill>
                <a:latin typeface="Consolas"/>
              </a:rPr>
              <a:t>30 – 60%   MEDIUM RISK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EAF0F7"/>
                </a:solidFill>
                <a:latin typeface="Segoe UI"/>
              </a:rPr>
              <a:t>1,473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1517904"/>
            <a:ext cx="3539642" cy="91440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F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6292" y="1664207"/>
            <a:ext cx="313730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FF5C6C"/>
                </a:solidFill>
                <a:latin typeface="Consolas"/>
              </a:rPr>
              <a:t>≥ 60%   HIGH RISK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EAF0F7"/>
                </a:solidFill>
                <a:latin typeface="Segoe UI"/>
              </a:rPr>
              <a:t>1,135 customers</a:t>
            </a:r>
          </a:p>
        </p:txBody>
      </p:sp>
      <p:pic>
        <p:nvPicPr>
          <p:cNvPr id="13" name="Picture 12" descr="chart_risk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96896"/>
            <a:ext cx="7059168" cy="347383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82127" y="2651760"/>
            <a:ext cx="3742639" cy="1709928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7" y="2798064"/>
            <a:ext cx="3376879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2FD8B4"/>
                </a:solidFill>
                <a:latin typeface="Consolas"/>
              </a:rPr>
              <a:t>IN-DATASET CHECK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Across all 7,043 rows, observed churn rises from 9.5% (low) to 42.0% (medium) to 73.0% (high). This demonstrates risk ordering in this dataset, not independent or external 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4507992"/>
            <a:ext cx="3742639" cy="170992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F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7" y="4654296"/>
            <a:ext cx="3376879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FF5C6C"/>
                </a:solidFill>
                <a:latin typeface="Consolas"/>
              </a:rPr>
              <a:t>THE OPERATIONAL PAYOFF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The team can prioritise 1,135 high-risk rows (16.1% of the base). In this dataset, 73% of that band churned; its observed monthly charges total $92,539.</a:t>
            </a:r>
          </a:p>
        </p:txBody>
      </p:sp>
      <p:sp>
        <p:nvSpPr>
          <p:cNvPr id="18" name="Rectangle 17">
            <a:hlinkClick action="ppaction://hlinksldjump" r:id="rId4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lide navigation 01" descr="Click to navigate to slide 01 of 22">
            <a:hlinkClick action="ppaction://hlinksldjump" r:id="rId4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0" name="Rectangle 19">
            <a:hlinkClick action="ppaction://hlinksldjump" r:id="rId5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lide navigation 02" descr="Click to navigate to slide 02 of 22">
            <a:hlinkClick action="ppaction://hlinksldjump" r:id="rId5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2" name="Rectangle 21">
            <a:hlinkClick action="ppaction://hlinksldjump" r:id="rId6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lide navigation 03" descr="Click to navigate to slide 03 of 22">
            <a:hlinkClick action="ppaction://hlinksldjump" r:id="rId6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4" name="Rectangle 23">
            <a:hlinkClick action="ppaction://hlinksldjump" r:id="rId7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lide navigation 04" descr="Click to navigate to slide 04 of 22">
            <a:hlinkClick action="ppaction://hlinksldjump" r:id="rId7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6" name="Rectangle 25">
            <a:hlinkClick action="ppaction://hlinksldjump" r:id="rId8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ide navigation 05" descr="Click to navigate to slide 05 of 22">
            <a:hlinkClick action="ppaction://hlinksldjump" r:id="rId8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8" name="Rectangle 27">
            <a:hlinkClick action="ppaction://hlinksldjump" r:id="rId9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lide navigation 06" descr="Click to navigate to slide 06 of 22">
            <a:hlinkClick action="ppaction://hlinksldjump" r:id="rId9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0" name="Rectangle 29">
            <a:hlinkClick action="ppaction://hlinksldjump" r:id="rId10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lide navigation 07" descr="Click to navigate to slide 07 of 22">
            <a:hlinkClick action="ppaction://hlinksldjump" r:id="rId10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2" name="Rectangle 31">
            <a:hlinkClick action="ppaction://hlinksldjump" r:id="rId11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lide navigation 08" descr="Click to navigate to slide 08 of 22">
            <a:hlinkClick action="ppaction://hlinksldjump" r:id="rId11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4" name="Rectangle 33">
            <a:hlinkClick action="ppaction://hlinksldjump" r:id="rId12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lide navigation 09" descr="Click to navigate to slide 09 of 22">
            <a:hlinkClick action="ppaction://hlinksldjump" r:id="rId12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6" name="Rectangle 35">
            <a:hlinkClick action="ppaction://hlinksldjump" r:id="rId13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lide navigation 10" descr="Click to navigate to slide 10 of 22">
            <a:hlinkClick action="ppaction://hlinksldjump" r:id="rId13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8" name="Rectangle 37">
            <a:hlinkClick action="ppaction://hlinksldjump" r:id="rId14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lide navigation 11" descr="Click to navigate to slide 11 of 22">
            <a:hlinkClick action="ppaction://hlinksldjump" r:id="rId14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0" name="Rectangle 39">
            <a:hlinkClick action="ppaction://hlinksldjump" r:id="rId15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lide navigation 12" descr="Click to navigate to slide 12 of 22">
            <a:hlinkClick action="ppaction://hlinksldjump" r:id="rId15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2" name="Rectangle 41">
            <a:hlinkClick action="ppaction://hlinksldjump" r:id="rId16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lide navigation 13" descr="Click to navigate to slide 13 of 22">
            <a:hlinkClick action="ppaction://hlinksldjump" r:id="rId16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4" name="Rectangle 43">
            <a:hlinkClick action="ppaction://hlinksldjump" r:id="rId17"/>
          </p:cNvPr>
          <p:cNvSpPr/>
          <p:nvPr/>
        </p:nvSpPr>
        <p:spPr>
          <a:xfrm>
            <a:off x="7119393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lide navigation 14" descr="Click to navigate to slide 14 of 22">
            <a:hlinkClick action="ppaction://hlinksldjump" r:id="rId17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6" name="Rectangle 45">
            <a:hlinkClick action="ppaction://hlinksldjump" r:id="rId18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lide navigation 15" descr="Click to navigate to slide 15 of 22">
            <a:hlinkClick action="ppaction://hlinksldjump" r:id="rId18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8" name="Rectangle 47">
            <a:hlinkClick action="ppaction://hlinksldjump" r:id="rId19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lide navigation 16" descr="Click to navigate to slide 16 of 22">
            <a:hlinkClick action="ppaction://hlinksldjump" r:id="rId19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0" name="Rectangle 49">
            <a:hlinkClick action="ppaction://hlinksldjump" r:id="rId20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lide navigation 17" descr="Click to navigate to slide 17 of 22">
            <a:hlinkClick action="ppaction://hlinksldjump" r:id="rId20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2" name="Rectangle 51">
            <a:hlinkClick action="ppaction://hlinksldjump" r:id="rId21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lide navigation 18" descr="Click to navigate to slide 18 of 22">
            <a:hlinkClick action="ppaction://hlinksldjump" r:id="rId21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4" name="Rectangle 53">
            <a:hlinkClick action="ppaction://hlinksldjump" r:id="rId22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lide navigation 19" descr="Click to navigate to slide 19 of 22">
            <a:hlinkClick action="ppaction://hlinksldjump" r:id="rId22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6" name="Rectangle 55">
            <a:hlinkClick action="ppaction://hlinksldjump" r:id="rId23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lide navigation 20" descr="Click to navigate to slide 20 of 22">
            <a:hlinkClick action="ppaction://hlinksldjump" r:id="rId23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8" name="Rectangle 57">
            <a:hlinkClick action="ppaction://hlinksldjump" r:id="rId24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lide navigation 21" descr="Click to navigate to slide 21 of 22">
            <a:hlinkClick action="ppaction://hlinksldjump" r:id="rId24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0" name="Rectangle 59">
            <a:hlinkClick action="ppaction://hlinksldjump" r:id="rId25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lide navigation 22" descr="Click to navigate to slide 22 of 22">
            <a:hlinkClick action="ppaction://hlinksldjump" r:id="rId25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2" name="Rectangle 61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10 · RISK SEGMENTATION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11  ·  RETENTION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From risk to action — and to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2,608 at-risk customers each received a specific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6492239" cy="28187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517904"/>
            <a:ext cx="4352544" cy="4700016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682495"/>
            <a:ext cx="4023360" cy="4370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2FD8B4"/>
                </a:solidFill>
                <a:latin typeface="Consolas"/>
              </a:rPr>
              <a:t>RECOMMENDATIONS ISSUED (FULL PORTFOLIO)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40" b="0">
                <a:solidFill>
                  <a:srgbClr val="EAF0F7"/>
                </a:solidFill>
                <a:latin typeface="Consolas"/>
              </a:rPr>
              <a:t>Promote Long-Term Contract            792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40" b="0">
                <a:solidFill>
                  <a:srgbClr val="EAF0F7"/>
                </a:solidFill>
                <a:latin typeface="Consolas"/>
              </a:rPr>
              <a:t>5% Discount Offer                            663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40" b="0">
                <a:solidFill>
                  <a:srgbClr val="EAF0F7"/>
                </a:solidFill>
                <a:latin typeface="Consolas"/>
              </a:rPr>
              <a:t>Offer 15% Discount                          658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40" b="0">
                <a:solidFill>
                  <a:srgbClr val="EAF0F7"/>
                </a:solidFill>
                <a:latin typeface="Consolas"/>
              </a:rPr>
              <a:t>Welcome Retention Package          430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40" b="0">
                <a:solidFill>
                  <a:srgbClr val="EAF0F7"/>
                </a:solidFill>
                <a:latin typeface="Consolas"/>
              </a:rPr>
              <a:t>Free Online Security                       45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40" b="0">
                <a:solidFill>
                  <a:srgbClr val="EAF0F7"/>
                </a:solidFill>
                <a:latin typeface="Consolas"/>
              </a:rPr>
              <a:t>Switch to Autopay / Check-in          18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40" b="0">
                <a:solidFill>
                  <a:srgbClr val="EAF0F7"/>
                </a:solidFill>
                <a:latin typeface="Consolas"/>
              </a:rPr>
              <a:t>Free Premium Support                      2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19" b="0">
                <a:solidFill>
                  <a:srgbClr val="8CA0BE"/>
                </a:solidFill>
                <a:latin typeface="Segoe UI"/>
              </a:rPr>
              <a:t>Driven by each customer's own risk factors — a month-to-month customer with no security gets a different offer than a loyal high-value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718304"/>
            <a:ext cx="6492240" cy="1499615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846320"/>
            <a:ext cx="6126479" cy="1261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SPEAK PRECISELY ABOUT THIS NUMBER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80" b="0">
                <a:solidFill>
                  <a:srgbClr val="EAF0F7"/>
                </a:solidFill>
                <a:latin typeface="Segoe UI"/>
              </a:rPr>
              <a:t>RetainIQ reports monthly revenue at risk — the recurring charges sitting inside flagged customers. $92,539/month in high risk, $200,302 including medium. It is exposure, not money already saved.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4718304"/>
            <a:ext cx="4352544" cy="1499615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4864608"/>
            <a:ext cx="4023360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2FD8B4"/>
                </a:solidFill>
                <a:latin typeface="Consolas"/>
              </a:rPr>
              <a:t>DECISION FRAMEWORK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40" b="0">
                <a:solidFill>
                  <a:srgbClr val="EAF0F7"/>
                </a:solidFill>
                <a:latin typeface="Segoe UI"/>
              </a:rPr>
              <a:t>Data → insight → prediction → explanation → action → business value. The platform deliberately does not stop at step three.</a:t>
            </a:r>
          </a:p>
        </p:txBody>
      </p:sp>
      <p:sp>
        <p:nvSpPr>
          <p:cNvPr id="14" name="Rectangle 13">
            <a:hlinkClick action="ppaction://hlinksldjump" r:id="rId4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lide navigation 01" descr="Click to navigate to slide 01 of 22">
            <a:hlinkClick action="ppaction://hlinksldjump" r:id="rId4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6" name="Rectangle 15">
            <a:hlinkClick action="ppaction://hlinksldjump" r:id="rId5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lide navigation 02" descr="Click to navigate to slide 02 of 22">
            <a:hlinkClick action="ppaction://hlinksldjump" r:id="rId5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8" name="Rectangle 17">
            <a:hlinkClick action="ppaction://hlinksldjump" r:id="rId6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lide navigation 03" descr="Click to navigate to slide 03 of 22">
            <a:hlinkClick action="ppaction://hlinksldjump" r:id="rId6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0" name="Rectangle 19">
            <a:hlinkClick action="ppaction://hlinksldjump" r:id="rId7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lide navigation 04" descr="Click to navigate to slide 04 of 22">
            <a:hlinkClick action="ppaction://hlinksldjump" r:id="rId7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2" name="Rectangle 21">
            <a:hlinkClick action="ppaction://hlinksldjump" r:id="rId8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lide navigation 05" descr="Click to navigate to slide 05 of 22">
            <a:hlinkClick action="ppaction://hlinksldjump" r:id="rId8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4" name="Rectangle 23">
            <a:hlinkClick action="ppaction://hlinksldjump" r:id="rId9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lide navigation 06" descr="Click to navigate to slide 06 of 22">
            <a:hlinkClick action="ppaction://hlinksldjump" r:id="rId9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6" name="Rectangle 25">
            <a:hlinkClick action="ppaction://hlinksldjump" r:id="rId10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ide navigation 07" descr="Click to navigate to slide 07 of 22">
            <a:hlinkClick action="ppaction://hlinksldjump" r:id="rId10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8" name="Rectangle 27">
            <a:hlinkClick action="ppaction://hlinksldjump" r:id="rId11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lide navigation 08" descr="Click to navigate to slide 08 of 22">
            <a:hlinkClick action="ppaction://hlinksldjump" r:id="rId11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0" name="Rectangle 29">
            <a:hlinkClick action="ppaction://hlinksldjump" r:id="rId12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lide navigation 09" descr="Click to navigate to slide 09 of 22">
            <a:hlinkClick action="ppaction://hlinksldjump" r:id="rId12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2" name="Rectangle 31">
            <a:hlinkClick action="ppaction://hlinksldjump" r:id="rId13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lide navigation 10" descr="Click to navigate to slide 10 of 22">
            <a:hlinkClick action="ppaction://hlinksldjump" r:id="rId13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4" name="Rectangle 33">
            <a:hlinkClick action="ppaction://hlinksldjump" r:id="rId14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lide navigation 11" descr="Click to navigate to slide 11 of 22">
            <a:hlinkClick action="ppaction://hlinksldjump" r:id="rId14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6" name="Rectangle 35">
            <a:hlinkClick action="ppaction://hlinksldjump" r:id="rId15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lide navigation 12" descr="Click to navigate to slide 12 of 22">
            <a:hlinkClick action="ppaction://hlinksldjump" r:id="rId15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8" name="Rectangle 37">
            <a:hlinkClick action="ppaction://hlinksldjump" r:id="rId16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lide navigation 13" descr="Click to navigate to slide 13 of 22">
            <a:hlinkClick action="ppaction://hlinksldjump" r:id="rId16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0" name="Rectangle 39">
            <a:hlinkClick action="ppaction://hlinksldjump" r:id="rId17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lide navigation 14" descr="Click to navigate to slide 14 of 22">
            <a:hlinkClick action="ppaction://hlinksldjump" r:id="rId17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2" name="Rectangle 41">
            <a:hlinkClick action="ppaction://hlinksldjump" r:id="rId18"/>
          </p:cNvPr>
          <p:cNvSpPr/>
          <p:nvPr/>
        </p:nvSpPr>
        <p:spPr>
          <a:xfrm>
            <a:off x="7622022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lide navigation 15" descr="Click to navigate to slide 15 of 22">
            <a:hlinkClick action="ppaction://hlinksldjump" r:id="rId18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4" name="Rectangle 43">
            <a:hlinkClick action="ppaction://hlinksldjump" r:id="rId19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lide navigation 16" descr="Click to navigate to slide 16 of 22">
            <a:hlinkClick action="ppaction://hlinksldjump" r:id="rId19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6" name="Rectangle 45">
            <a:hlinkClick action="ppaction://hlinksldjump" r:id="rId20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lide navigation 17" descr="Click to navigate to slide 17 of 22">
            <a:hlinkClick action="ppaction://hlinksldjump" r:id="rId20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8" name="Rectangle 47">
            <a:hlinkClick action="ppaction://hlinksldjump" r:id="rId21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lide navigation 18" descr="Click to navigate to slide 18 of 22">
            <a:hlinkClick action="ppaction://hlinksldjump" r:id="rId21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0" name="Rectangle 49">
            <a:hlinkClick action="ppaction://hlinksldjump" r:id="rId22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lide navigation 19" descr="Click to navigate to slide 19 of 22">
            <a:hlinkClick action="ppaction://hlinksldjump" r:id="rId22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2" name="Rectangle 51">
            <a:hlinkClick action="ppaction://hlinksldjump" r:id="rId23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lide navigation 20" descr="Click to navigate to slide 20 of 22">
            <a:hlinkClick action="ppaction://hlinksldjump" r:id="rId23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4" name="Rectangle 53">
            <a:hlinkClick action="ppaction://hlinksldjump" r:id="rId24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lide navigation 21" descr="Click to navigate to slide 21 of 22">
            <a:hlinkClick action="ppaction://hlinksldjump" r:id="rId24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6" name="Rectangle 55">
            <a:hlinkClick action="ppaction://hlinksldjump" r:id="rId25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lide navigation 22" descr="Click to navigate to slide 22 of 22">
            <a:hlinkClick action="ppaction://hlinksldjump" r:id="rId25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8" name="Rectangle 57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11 · RETENTION INTELLIGENCE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12  ·  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The descriptive layer beneath the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A four-page Power BI dashboard for the people who fund the retention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3491" y="1517904"/>
            <a:ext cx="5233273" cy="2980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1_executive_overview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87" y="1600200"/>
            <a:ext cx="5068681" cy="28163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53835" y="1517904"/>
            <a:ext cx="5234025" cy="2980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ge3_risk_intelligence.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131" y="1600200"/>
            <a:ext cx="5069433" cy="28163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608576"/>
            <a:ext cx="2641015" cy="118872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736592"/>
            <a:ext cx="32004" cy="932688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754880"/>
            <a:ext cx="22569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2FD8B4"/>
                </a:solidFill>
                <a:latin typeface="Segoe UI"/>
              </a:rPr>
              <a:t>Executive overview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EAF0F7"/>
                </a:solidFill>
                <a:latin typeface="Segoe UI"/>
              </a:rPr>
              <a:t>Portfolio KPIs, churn rate and revenue in one view for management.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2535" y="4608576"/>
            <a:ext cx="2641015" cy="118872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72535" y="4736592"/>
            <a:ext cx="32004" cy="93268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5415" y="4754880"/>
            <a:ext cx="22569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4C8DFF"/>
                </a:solidFill>
                <a:latin typeface="Segoe UI"/>
              </a:rPr>
              <a:t>Customer insights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EAF0F7"/>
                </a:solidFill>
                <a:latin typeface="Segoe UI"/>
              </a:rPr>
              <a:t>Where churn concentrates — contract, tenure, service mix.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8143" y="4608576"/>
            <a:ext cx="2641015" cy="118872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8143" y="4736592"/>
            <a:ext cx="32004" cy="93268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1023" y="4754880"/>
            <a:ext cx="22569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Risk intelligence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EAF0F7"/>
                </a:solidFill>
                <a:latin typeface="Segoe UI"/>
              </a:rPr>
              <a:t>The scored risk distribution carried into BI.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3751" y="4608576"/>
            <a:ext cx="2641015" cy="118872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3751" y="4736592"/>
            <a:ext cx="32004" cy="932688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6631" y="4754880"/>
            <a:ext cx="22569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5C6C"/>
                </a:solidFill>
                <a:latin typeface="Segoe UI"/>
              </a:rPr>
              <a:t>Retention strategy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EAF0F7"/>
                </a:solidFill>
                <a:latin typeface="Segoe UI"/>
              </a:rPr>
              <a:t>Which actions are recommended, and to how many customers.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907024"/>
            <a:ext cx="11057839" cy="310896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925312"/>
            <a:ext cx="106920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u="sng">
                <a:solidFill>
                  <a:srgbClr val="4C8DFF"/>
                </a:solidFill>
                <a:latin typeface="Consolas"/>
                <a:hlinkClick r:id="rId4"/>
              </a:rPr>
              <a:t>OPEN THE EDITABLE POWER BI TEMPLATE (.PBIT)  ↗</a:t>
            </a:r>
          </a:p>
        </p:txBody>
      </p:sp>
      <p:sp>
        <p:nvSpPr>
          <p:cNvPr id="25" name="Rectangle 24">
            <a:hlinkClick action="ppaction://hlinksldjump" r:id="rId6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lide navigation 01" descr="Click to navigate to slide 01 of 22">
            <a:hlinkClick action="ppaction://hlinksldjump" r:id="rId6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7" name="Rectangle 26">
            <a:hlinkClick action="ppaction://hlinksldjump" r:id="rId7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lide navigation 02" descr="Click to navigate to slide 02 of 22">
            <a:hlinkClick action="ppaction://hlinksldjump" r:id="rId7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9" name="Rectangle 28">
            <a:hlinkClick action="ppaction://hlinksldjump" r:id="rId8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lide navigation 03" descr="Click to navigate to slide 03 of 22">
            <a:hlinkClick action="ppaction://hlinksldjump" r:id="rId8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1" name="Rectangle 30">
            <a:hlinkClick action="ppaction://hlinksldjump" r:id="rId9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lide navigation 04" descr="Click to navigate to slide 04 of 22">
            <a:hlinkClick action="ppaction://hlinksldjump" r:id="rId9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3" name="Rectangle 32">
            <a:hlinkClick action="ppaction://hlinksldjump" r:id="rId10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lide navigation 05" descr="Click to navigate to slide 05 of 22">
            <a:hlinkClick action="ppaction://hlinksldjump" r:id="rId10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5" name="Rectangle 34">
            <a:hlinkClick action="ppaction://hlinksldjump" r:id="rId11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lide navigation 06" descr="Click to navigate to slide 06 of 22">
            <a:hlinkClick action="ppaction://hlinksldjump" r:id="rId11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7" name="Rectangle 36">
            <a:hlinkClick action="ppaction://hlinksldjump" r:id="rId12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lide navigation 07" descr="Click to navigate to slide 07 of 22">
            <a:hlinkClick action="ppaction://hlinksldjump" r:id="rId12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9" name="Rectangle 38">
            <a:hlinkClick action="ppaction://hlinksldjump" r:id="rId13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lide navigation 08" descr="Click to navigate to slide 08 of 22">
            <a:hlinkClick action="ppaction://hlinksldjump" r:id="rId13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1" name="Rectangle 40">
            <a:hlinkClick action="ppaction://hlinksldjump" r:id="rId14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lide navigation 09" descr="Click to navigate to slide 09 of 22">
            <a:hlinkClick action="ppaction://hlinksldjump" r:id="rId14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3" name="Rectangle 42">
            <a:hlinkClick action="ppaction://hlinksldjump" r:id="rId15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lide navigation 10" descr="Click to navigate to slide 10 of 22">
            <a:hlinkClick action="ppaction://hlinksldjump" r:id="rId15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5" name="Rectangle 44">
            <a:hlinkClick action="ppaction://hlinksldjump" r:id="rId16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lide navigation 11" descr="Click to navigate to slide 11 of 22">
            <a:hlinkClick action="ppaction://hlinksldjump" r:id="rId16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7" name="Rectangle 46">
            <a:hlinkClick action="ppaction://hlinksldjump" r:id="rId17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lide navigation 12" descr="Click to navigate to slide 12 of 22">
            <a:hlinkClick action="ppaction://hlinksldjump" r:id="rId17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9" name="Rectangle 48">
            <a:hlinkClick action="ppaction://hlinksldjump" r:id="rId18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lide navigation 13" descr="Click to navigate to slide 13 of 22">
            <a:hlinkClick action="ppaction://hlinksldjump" r:id="rId18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1" name="Rectangle 50">
            <a:hlinkClick action="ppaction://hlinksldjump" r:id="rId19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lide navigation 14" descr="Click to navigate to slide 14 of 22">
            <a:hlinkClick action="ppaction://hlinksldjump" r:id="rId19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3" name="Rectangle 52">
            <a:hlinkClick action="ppaction://hlinksldjump" r:id="rId20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lide navigation 15" descr="Click to navigate to slide 15 of 22">
            <a:hlinkClick action="ppaction://hlinksldjump" r:id="rId20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5" name="Rectangle 54">
            <a:hlinkClick action="ppaction://hlinksldjump" r:id="rId21"/>
          </p:cNvPr>
          <p:cNvSpPr/>
          <p:nvPr/>
        </p:nvSpPr>
        <p:spPr>
          <a:xfrm>
            <a:off x="8124651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lide navigation 16" descr="Click to navigate to slide 16 of 22">
            <a:hlinkClick action="ppaction://hlinksldjump" r:id="rId21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7" name="Rectangle 56">
            <a:hlinkClick action="ppaction://hlinksldjump" r:id="rId22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lide navigation 17" descr="Click to navigate to slide 17 of 22">
            <a:hlinkClick action="ppaction://hlinksldjump" r:id="rId22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9" name="Rectangle 58">
            <a:hlinkClick action="ppaction://hlinksldjump" r:id="rId23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lide navigation 18" descr="Click to navigate to slide 18 of 22">
            <a:hlinkClick action="ppaction://hlinksldjump" r:id="rId23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1" name="Rectangle 60">
            <a:hlinkClick action="ppaction://hlinksldjump" r:id="rId24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lide navigation 19" descr="Click to navigate to slide 19 of 22">
            <a:hlinkClick action="ppaction://hlinksldjump" r:id="rId24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3" name="Rectangle 62">
            <a:hlinkClick action="ppaction://hlinksldjump" r:id="rId25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lide navigation 20" descr="Click to navigate to slide 20 of 22">
            <a:hlinkClick action="ppaction://hlinksldjump" r:id="rId25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5" name="Rectangle 64">
            <a:hlinkClick action="ppaction://hlinksldjump" r:id="rId26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lide navigation 21" descr="Click to navigate to slide 21 of 22">
            <a:hlinkClick action="ppaction://hlinksldjump" r:id="rId26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7" name="Rectangle 66">
            <a:hlinkClick action="ppaction://hlinksldjump" r:id="rId27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lide navigation 22" descr="Click to navigate to slide 22 of 22">
            <a:hlinkClick action="ppaction://hlinksldjump" r:id="rId27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9" name="Rectangle 68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12 · BUSINESS INTELLIGENCE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13  · 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The product: a Signal Ops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A working Flask application — bulk scoring, dashboard, private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.predic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4644813" cy="3531648"/>
          </a:xfrm>
          <a:prstGeom prst="rect">
            <a:avLst/>
          </a:prstGeom>
        </p:spPr>
      </p:pic>
      <p:pic>
        <p:nvPicPr>
          <p:cNvPr id="8" name="Picture 7" descr="04.Bulk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09" y="1517904"/>
            <a:ext cx="6211857" cy="35316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5193791"/>
            <a:ext cx="11057839" cy="1024127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5321807"/>
            <a:ext cx="8570671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80" b="1">
                <a:solidFill>
                  <a:srgbClr val="2FD8B4"/>
                </a:solidFill>
                <a:latin typeface="Consolas"/>
              </a:rPr>
              <a:t>WHAT A REVIEWER DOES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>
                <a:solidFill>
                  <a:srgbClr val="EAF0F7"/>
                </a:solidFill>
                <a:latin typeface="Segoe UI"/>
              </a:rPr>
              <a:t>Upload a CSV  →  validate the file before scoring  →  score the whole portfolio
Read churn rate, risk split and revenue at risk  →  drill into a customer  →  download a private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13087" y="5321807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40" b="1">
                <a:solidFill>
                  <a:srgbClr val="8CA0BE"/>
                </a:solidFill>
                <a:latin typeface="Consolas"/>
              </a:rPr>
              <a:t>REPORTS ARE PRIVATE — SCOPED BY SIGNED COOKIE</a:t>
            </a:r>
          </a:p>
        </p:txBody>
      </p:sp>
      <p:sp>
        <p:nvSpPr>
          <p:cNvPr id="12" name="Rectangle 11">
            <a:hlinkClick action="ppaction://hlinksldjump" r:id="rId5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lide navigation 01" descr="Click to navigate to slide 01 of 22">
            <a:hlinkClick action="ppaction://hlinksldjump" r:id="rId5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4" name="Rectangle 13">
            <a:hlinkClick action="ppaction://hlinksldjump" r:id="rId6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lide navigation 02" descr="Click to navigate to slide 02 of 22">
            <a:hlinkClick action="ppaction://hlinksldjump" r:id="rId6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6" name="Rectangle 15">
            <a:hlinkClick action="ppaction://hlinksldjump" r:id="rId7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lide navigation 03" descr="Click to navigate to slide 03 of 22">
            <a:hlinkClick action="ppaction://hlinksldjump" r:id="rId7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8" name="Rectangle 17">
            <a:hlinkClick action="ppaction://hlinksldjump" r:id="rId8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lide navigation 04" descr="Click to navigate to slide 04 of 22">
            <a:hlinkClick action="ppaction://hlinksldjump" r:id="rId8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0" name="Rectangle 19">
            <a:hlinkClick action="ppaction://hlinksldjump" r:id="rId9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lide navigation 05" descr="Click to navigate to slide 05 of 22">
            <a:hlinkClick action="ppaction://hlinksldjump" r:id="rId9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2" name="Rectangle 21">
            <a:hlinkClick action="ppaction://hlinksldjump" r:id="rId10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lide navigation 06" descr="Click to navigate to slide 06 of 22">
            <a:hlinkClick action="ppaction://hlinksldjump" r:id="rId10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4" name="Rectangle 23">
            <a:hlinkClick action="ppaction://hlinksldjump" r:id="rId11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lide navigation 07" descr="Click to navigate to slide 07 of 22">
            <a:hlinkClick action="ppaction://hlinksldjump" r:id="rId11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6" name="Rectangle 25">
            <a:hlinkClick action="ppaction://hlinksldjump" r:id="rId12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ide navigation 08" descr="Click to navigate to slide 08 of 22">
            <a:hlinkClick action="ppaction://hlinksldjump" r:id="rId12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8" name="Rectangle 27">
            <a:hlinkClick action="ppaction://hlinksldjump" r:id="rId13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lide navigation 09" descr="Click to navigate to slide 09 of 22">
            <a:hlinkClick action="ppaction://hlinksldjump" r:id="rId13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0" name="Rectangle 29">
            <a:hlinkClick action="ppaction://hlinksldjump" r:id="rId14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lide navigation 10" descr="Click to navigate to slide 10 of 22">
            <a:hlinkClick action="ppaction://hlinksldjump" r:id="rId14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2" name="Rectangle 31">
            <a:hlinkClick action="ppaction://hlinksldjump" r:id="rId15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lide navigation 11" descr="Click to navigate to slide 11 of 22">
            <a:hlinkClick action="ppaction://hlinksldjump" r:id="rId15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4" name="Rectangle 33">
            <a:hlinkClick action="ppaction://hlinksldjump" r:id="rId16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lide navigation 12" descr="Click to navigate to slide 12 of 22">
            <a:hlinkClick action="ppaction://hlinksldjump" r:id="rId16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6" name="Rectangle 35">
            <a:hlinkClick action="ppaction://hlinksldjump" r:id="rId17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lide navigation 13" descr="Click to navigate to slide 13 of 22">
            <a:hlinkClick action="ppaction://hlinksldjump" r:id="rId17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8" name="Rectangle 37">
            <a:hlinkClick action="ppaction://hlinksldjump" r:id="rId18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lide navigation 14" descr="Click to navigate to slide 14 of 22">
            <a:hlinkClick action="ppaction://hlinksldjump" r:id="rId18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0" name="Rectangle 39">
            <a:hlinkClick action="ppaction://hlinksldjump" r:id="rId19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lide navigation 15" descr="Click to navigate to slide 15 of 22">
            <a:hlinkClick action="ppaction://hlinksldjump" r:id="rId19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2" name="Rectangle 41">
            <a:hlinkClick action="ppaction://hlinksldjump" r:id="rId20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lide navigation 16" descr="Click to navigate to slide 16 of 22">
            <a:hlinkClick action="ppaction://hlinksldjump" r:id="rId20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4" name="Rectangle 43">
            <a:hlinkClick action="ppaction://hlinksldjump" r:id="rId21"/>
          </p:cNvPr>
          <p:cNvSpPr/>
          <p:nvPr/>
        </p:nvSpPr>
        <p:spPr>
          <a:xfrm>
            <a:off x="8627280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lide navigation 17" descr="Click to navigate to slide 17 of 22">
            <a:hlinkClick action="ppaction://hlinksldjump" r:id="rId21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6" name="Rectangle 45">
            <a:hlinkClick action="ppaction://hlinksldjump" r:id="rId22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lide navigation 18" descr="Click to navigate to slide 18 of 22">
            <a:hlinkClick action="ppaction://hlinksldjump" r:id="rId22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8" name="Rectangle 47">
            <a:hlinkClick action="ppaction://hlinksldjump" r:id="rId23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lide navigation 19" descr="Click to navigate to slide 19 of 22">
            <a:hlinkClick action="ppaction://hlinksldjump" r:id="rId23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0" name="Rectangle 49">
            <a:hlinkClick action="ppaction://hlinksldjump" r:id="rId24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lide navigation 20" descr="Click to navigate to slide 20 of 22">
            <a:hlinkClick action="ppaction://hlinksldjump" r:id="rId24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2" name="Rectangle 51">
            <a:hlinkClick action="ppaction://hlinksldjump" r:id="rId25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lide navigation 21" descr="Click to navigate to slide 21 of 22">
            <a:hlinkClick action="ppaction://hlinksldjump" r:id="rId25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4" name="Rectangle 53">
            <a:hlinkClick action="ppaction://hlinksldjump" r:id="rId26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lide navigation 22" descr="Click to navigate to slide 22 of 22">
            <a:hlinkClick action="ppaction://hlinksldjump" r:id="rId26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6" name="Rectangle 55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13 · WEB APPLICATION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PHASE 14  · 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Making it survive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Free-tier hosting is unforgiving — these are the four problems it creates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5410047" cy="1773935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7"/>
            <a:ext cx="41148" cy="1481327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6217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2FD8B4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21991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19" b="1">
                <a:solidFill>
                  <a:srgbClr val="8CA0BE"/>
                </a:solidFill>
                <a:latin typeface="Consolas"/>
              </a:rPr>
              <a:t>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81328" y="1700784"/>
            <a:ext cx="22860" cy="1408175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19" y="1682495"/>
            <a:ext cx="4111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20" b="1">
                <a:solidFill>
                  <a:srgbClr val="EAF0F7"/>
                </a:solidFill>
                <a:latin typeface="Segoe UI"/>
              </a:rPr>
              <a:t>Slow bulk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029967"/>
            <a:ext cx="4111599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>
                <a:solidFill>
                  <a:srgbClr val="8CA0BE"/>
                </a:solidFill>
                <a:latin typeface="Segoe UI"/>
              </a:rPr>
              <a:t>A large CSV can outlast the default 30-second timeout, killing the worker and returning a 502.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19" y="2852927"/>
            <a:ext cx="4111599" cy="2743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016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5648" y="2884932"/>
            <a:ext cx="38921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90" b="1">
                <a:solidFill>
                  <a:srgbClr val="2FD8B4"/>
                </a:solidFill>
                <a:latin typeface="Consolas"/>
              </a:rPr>
              <a:t>→  TIMEOUT 300S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719" y="1517904"/>
            <a:ext cx="5410047" cy="1773935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4719" y="1664207"/>
            <a:ext cx="41148" cy="1481327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9311" y="1719072"/>
            <a:ext cx="6217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2FD8B4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9311" y="2221991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19" b="1">
                <a:solidFill>
                  <a:srgbClr val="8CA0BE"/>
                </a:solidFill>
                <a:latin typeface="Consolas"/>
              </a:rPr>
              <a:t>MODEL LOAD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29119" y="1700784"/>
            <a:ext cx="22860" cy="1408175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3711" y="1682495"/>
            <a:ext cx="4111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20" b="1">
                <a:solidFill>
                  <a:srgbClr val="EAF0F7"/>
                </a:solidFill>
                <a:latin typeface="Segoe UI"/>
              </a:rPr>
              <a:t>Reloading on every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3711" y="2029967"/>
            <a:ext cx="4111599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>
                <a:solidFill>
                  <a:srgbClr val="8CA0BE"/>
                </a:solidFill>
                <a:latin typeface="Segoe UI"/>
              </a:rPr>
              <a:t>Reading the model pickle for every request wastes scarce instance memory.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3711" y="2852927"/>
            <a:ext cx="4111599" cy="2743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016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3439" y="2884932"/>
            <a:ext cx="38921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90" b="1">
                <a:solidFill>
                  <a:srgbClr val="2FD8B4"/>
                </a:solidFill>
                <a:latin typeface="Consolas"/>
              </a:rPr>
              <a:t>→  GUNICORN PRELOAD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438144"/>
            <a:ext cx="5410047" cy="1773935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584448"/>
            <a:ext cx="41148" cy="1481327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39312"/>
            <a:ext cx="6217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2FD8B4"/>
                </a:solidFill>
                <a:latin typeface="Consola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42231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19" b="1">
                <a:solidFill>
                  <a:srgbClr val="8CA0BE"/>
                </a:solidFill>
                <a:latin typeface="Consolas"/>
              </a:rPr>
              <a:t>MEMORY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81328" y="3621024"/>
            <a:ext cx="22860" cy="1408175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19" y="3602736"/>
            <a:ext cx="4111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20" b="1">
                <a:solidFill>
                  <a:srgbClr val="EAF0F7"/>
                </a:solidFill>
                <a:latin typeface="Segoe UI"/>
              </a:rPr>
              <a:t>Long-lived workers grow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19" y="3950208"/>
            <a:ext cx="4111599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>
                <a:solidFill>
                  <a:srgbClr val="8CA0BE"/>
                </a:solidFill>
                <a:latin typeface="Segoe UI"/>
              </a:rPr>
              <a:t>A worker can accumulate memory over time until the host kills the process.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45919" y="4773167"/>
            <a:ext cx="4111599" cy="2743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016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55648" y="4805171"/>
            <a:ext cx="38921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90" b="1">
                <a:solidFill>
                  <a:srgbClr val="2FD8B4"/>
                </a:solidFill>
                <a:latin typeface="Consolas"/>
              </a:rPr>
              <a:t>→  REQUEST RECYCLING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4719" y="3438144"/>
            <a:ext cx="5410047" cy="1773935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4719" y="3584448"/>
            <a:ext cx="41148" cy="148132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9311" y="3639312"/>
            <a:ext cx="6217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5A623"/>
                </a:solidFill>
                <a:latin typeface="Consola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9311" y="4142231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19" b="1">
                <a:solidFill>
                  <a:srgbClr val="8CA0BE"/>
                </a:solidFill>
                <a:latin typeface="Consolas"/>
              </a:rPr>
              <a:t>COLD START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29119" y="3621024"/>
            <a:ext cx="22860" cy="1408175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93711" y="3602736"/>
            <a:ext cx="4111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20" b="1">
                <a:solidFill>
                  <a:srgbClr val="EAF0F7"/>
                </a:solidFill>
                <a:latin typeface="Segoe UI"/>
              </a:rPr>
              <a:t>The free tier sleeps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93711" y="3950208"/>
            <a:ext cx="4111599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>
                <a:solidFill>
                  <a:srgbClr val="8CA0BE"/>
                </a:solidFill>
                <a:latin typeface="Segoe UI"/>
              </a:rPr>
              <a:t>After idle time, the host suspends the app and the first visitor waits for a cold start.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93711" y="4773167"/>
            <a:ext cx="4111599" cy="2743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016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3439" y="4805171"/>
            <a:ext cx="38921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90" b="1">
                <a:solidFill>
                  <a:srgbClr val="F5A623"/>
                </a:solidFill>
                <a:latin typeface="Consolas"/>
              </a:rPr>
              <a:t>→  WARM BEFORE DEMO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358383"/>
            <a:ext cx="11057839" cy="859535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397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5678423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1">
                <a:solidFill>
                  <a:srgbClr val="4C8DFF"/>
                </a:solidFill>
                <a:latin typeface="Consolas"/>
              </a:rPr>
              <a:t>DEPLOYMENT
STACK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0" y="5650992"/>
            <a:ext cx="1554480" cy="29260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889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59152" y="5692140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>
                <a:solidFill>
                  <a:srgbClr val="2FD8B4"/>
                </a:solidFill>
                <a:latin typeface="Consolas"/>
              </a:rPr>
              <a:t>GUNICORN · GTHREAD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31920" y="5650992"/>
            <a:ext cx="1188720" cy="29260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889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05072" y="5692140"/>
            <a:ext cx="1042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>
                <a:solidFill>
                  <a:srgbClr val="4C8DFF"/>
                </a:solidFill>
                <a:latin typeface="Consolas"/>
              </a:rPr>
              <a:t>TIMEOUT 300S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12080" y="5650992"/>
            <a:ext cx="1572768" cy="29260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889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85232" y="5692140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>
                <a:solidFill>
                  <a:srgbClr val="2FD8B4"/>
                </a:solidFill>
                <a:latin typeface="Consolas"/>
              </a:rPr>
              <a:t>PRELOAD + RECYCLE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76288" y="5650992"/>
            <a:ext cx="1755648" cy="29260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889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5692140"/>
            <a:ext cx="1609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>
                <a:solidFill>
                  <a:srgbClr val="4C8DFF"/>
                </a:solidFill>
                <a:latin typeface="Consolas"/>
              </a:rPr>
              <a:t>DOCKERFILE · PROCFILE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23376" y="5650992"/>
            <a:ext cx="1783080" cy="29260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889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96528" y="5692140"/>
            <a:ext cx="1636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>
                <a:solidFill>
                  <a:srgbClr val="2FD8B4"/>
                </a:solidFill>
                <a:latin typeface="Consolas"/>
              </a:rPr>
              <a:t>PINNED REQS · RENDER</a:t>
            </a:r>
          </a:p>
        </p:txBody>
      </p:sp>
      <p:sp>
        <p:nvSpPr>
          <p:cNvPr id="55" name="Rectangle 54">
            <a:hlinkClick action="ppaction://hlinksldjump" r:id="rId3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lide navigation 01" descr="Click to navigate to slide 01 of 22">
            <a:hlinkClick action="ppaction://hlinksldjump" r:id="rId3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7" name="Rectangle 56">
            <a:hlinkClick action="ppaction://hlinksldjump" r:id="rId4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lide navigation 02" descr="Click to navigate to slide 02 of 22">
            <a:hlinkClick action="ppaction://hlinksldjump" r:id="rId4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9" name="Rectangle 58">
            <a:hlinkClick action="ppaction://hlinksldjump" r:id="rId5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lide navigation 03" descr="Click to navigate to slide 03 of 22">
            <a:hlinkClick action="ppaction://hlinksldjump" r:id="rId5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1" name="Rectangle 60">
            <a:hlinkClick action="ppaction://hlinksldjump" r:id="rId6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lide navigation 04" descr="Click to navigate to slide 04 of 22">
            <a:hlinkClick action="ppaction://hlinksldjump" r:id="rId6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3" name="Rectangle 62">
            <a:hlinkClick action="ppaction://hlinksldjump" r:id="rId7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lide navigation 05" descr="Click to navigate to slide 05 of 22">
            <a:hlinkClick action="ppaction://hlinksldjump" r:id="rId7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5" name="Rectangle 64">
            <a:hlinkClick action="ppaction://hlinksldjump" r:id="rId8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lide navigation 06" descr="Click to navigate to slide 06 of 22">
            <a:hlinkClick action="ppaction://hlinksldjump" r:id="rId8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7" name="Rectangle 66">
            <a:hlinkClick action="ppaction://hlinksldjump" r:id="rId9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lide navigation 07" descr="Click to navigate to slide 07 of 22">
            <a:hlinkClick action="ppaction://hlinksldjump" r:id="rId9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9" name="Rectangle 68">
            <a:hlinkClick action="ppaction://hlinksldjump" r:id="rId10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lide navigation 08" descr="Click to navigate to slide 08 of 22">
            <a:hlinkClick action="ppaction://hlinksldjump" r:id="rId10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1" name="Rectangle 70">
            <a:hlinkClick action="ppaction://hlinksldjump" r:id="rId11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lide navigation 09" descr="Click to navigate to slide 09 of 22">
            <a:hlinkClick action="ppaction://hlinksldjump" r:id="rId11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3" name="Rectangle 72">
            <a:hlinkClick action="ppaction://hlinksldjump" r:id="rId12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lide navigation 10" descr="Click to navigate to slide 10 of 22">
            <a:hlinkClick action="ppaction://hlinksldjump" r:id="rId12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5" name="Rectangle 74">
            <a:hlinkClick action="ppaction://hlinksldjump" r:id="rId13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lide navigation 11" descr="Click to navigate to slide 11 of 22">
            <a:hlinkClick action="ppaction://hlinksldjump" r:id="rId13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7" name="Rectangle 76">
            <a:hlinkClick action="ppaction://hlinksldjump" r:id="rId14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lide navigation 12" descr="Click to navigate to slide 12 of 22">
            <a:hlinkClick action="ppaction://hlinksldjump" r:id="rId14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9" name="Rectangle 78">
            <a:hlinkClick action="ppaction://hlinksldjump" r:id="rId15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lide navigation 13" descr="Click to navigate to slide 13 of 22">
            <a:hlinkClick action="ppaction://hlinksldjump" r:id="rId15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1" name="Rectangle 80">
            <a:hlinkClick action="ppaction://hlinksldjump" r:id="rId16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lide navigation 14" descr="Click to navigate to slide 14 of 22">
            <a:hlinkClick action="ppaction://hlinksldjump" r:id="rId16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3" name="Rectangle 82">
            <a:hlinkClick action="ppaction://hlinksldjump" r:id="rId17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lide navigation 15" descr="Click to navigate to slide 15 of 22">
            <a:hlinkClick action="ppaction://hlinksldjump" r:id="rId17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5" name="Rectangle 84">
            <a:hlinkClick action="ppaction://hlinksldjump" r:id="rId18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lide navigation 16" descr="Click to navigate to slide 16 of 22">
            <a:hlinkClick action="ppaction://hlinksldjump" r:id="rId18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7" name="Rectangle 86">
            <a:hlinkClick action="ppaction://hlinksldjump" r:id="rId19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lide navigation 17" descr="Click to navigate to slide 17 of 22">
            <a:hlinkClick action="ppaction://hlinksldjump" r:id="rId19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9" name="Rectangle 88">
            <a:hlinkClick action="ppaction://hlinksldjump" r:id="rId20"/>
          </p:cNvPr>
          <p:cNvSpPr/>
          <p:nvPr/>
        </p:nvSpPr>
        <p:spPr>
          <a:xfrm>
            <a:off x="9129909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lide navigation 18" descr="Click to navigate to slide 18 of 22">
            <a:hlinkClick action="ppaction://hlinksldjump" r:id="rId20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91" name="Rectangle 90">
            <a:hlinkClick action="ppaction://hlinksldjump" r:id="rId21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lide navigation 19" descr="Click to navigate to slide 19 of 22">
            <a:hlinkClick action="ppaction://hlinksldjump" r:id="rId21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93" name="Rectangle 92">
            <a:hlinkClick action="ppaction://hlinksldjump" r:id="rId22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lide navigation 20" descr="Click to navigate to slide 20 of 22">
            <a:hlinkClick action="ppaction://hlinksldjump" r:id="rId22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95" name="Rectangle 94">
            <a:hlinkClick action="ppaction://hlinksldjump" r:id="rId23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lide navigation 21" descr="Click to navigate to slide 21 of 22">
            <a:hlinkClick action="ppaction://hlinksldjump" r:id="rId23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97" name="Rectangle 96">
            <a:hlinkClick action="ppaction://hlinksldjump" r:id="rId24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lide navigation 22" descr="Click to navigate to slide 22 of 22">
            <a:hlinkClick action="ppaction://hlinksldjump" r:id="rId24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99" name="Rectangle 98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   ·   PHASE 14 · DEPLOYMENT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Tools behind the RetainIQ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A shared Python path keeps model training and live scoring in sync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2834640" cy="4700016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27631"/>
            <a:ext cx="2542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1">
                <a:solidFill>
                  <a:srgbClr val="8CA0BE"/>
                </a:solidFill>
                <a:latin typeface="Consolas"/>
              </a:rPr>
              <a:t>TOOLS 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47672"/>
            <a:ext cx="1216152" cy="932688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1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" y="2029967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2" y="2478024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19" b="1">
                <a:solidFill>
                  <a:srgbClr val="EAF0F7"/>
                </a:solidFill>
                <a:latin typeface="Segoe UI"/>
              </a:rPr>
              <a:t>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39112" y="1947672"/>
            <a:ext cx="1216152" cy="932688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1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n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164" y="2029967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4832" y="2478024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19" b="1">
                <a:solidFill>
                  <a:srgbClr val="EAF0F7"/>
                </a:solidFill>
                <a:latin typeface="Segoe UI"/>
              </a:rPr>
              <a:t>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953512"/>
            <a:ext cx="1216152" cy="932688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1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ikitle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" y="3035808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8952" y="3483864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19" b="1">
                <a:solidFill>
                  <a:srgbClr val="EAF0F7"/>
                </a:solidFill>
                <a:latin typeface="Segoe UI"/>
              </a:rPr>
              <a:t>Scikit-learn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39112" y="2953512"/>
            <a:ext cx="1216152" cy="932688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1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l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5164" y="3035808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084832" y="3483864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19" b="1">
                <a:solidFill>
                  <a:srgbClr val="EAF0F7"/>
                </a:solidFill>
                <a:latin typeface="Segoe UI"/>
              </a:rPr>
              <a:t>Flask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959352"/>
            <a:ext cx="1216152" cy="932688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1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st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284" y="4041648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8952" y="4489704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19" b="1">
                <a:solidFill>
                  <a:srgbClr val="EAF0F7"/>
                </a:solidFill>
                <a:latin typeface="Segoe UI"/>
              </a:rPr>
              <a:t>FastAPI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39112" y="3959352"/>
            <a:ext cx="1216152" cy="932688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1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o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5164" y="4041648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84832" y="4489704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19" b="1">
                <a:solidFill>
                  <a:srgbClr val="EAF0F7"/>
                </a:solidFill>
                <a:latin typeface="Segoe UI"/>
              </a:rPr>
              <a:t>Docker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965192"/>
            <a:ext cx="1216152" cy="932688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1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owerb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7360" y="5047488"/>
            <a:ext cx="287895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58952" y="5495544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19" b="1">
                <a:solidFill>
                  <a:srgbClr val="EAF0F7"/>
                </a:solidFill>
                <a:latin typeface="Segoe UI"/>
              </a:rPr>
              <a:t>Power BI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39112" y="4965192"/>
            <a:ext cx="1216152" cy="932688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 w="12700">
            <a:solidFill>
              <a:srgbClr val="1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githu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5164" y="5047488"/>
            <a:ext cx="384048" cy="3840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084832" y="5495544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19" b="1">
                <a:solidFill>
                  <a:srgbClr val="EAF0F7"/>
                </a:solidFill>
                <a:latin typeface="Segoe UI"/>
              </a:rPr>
              <a:t>GitHub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84448" y="1517904"/>
            <a:ext cx="8040319" cy="1078992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84448" y="1517904"/>
            <a:ext cx="41148" cy="1078992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85616" y="1645919"/>
            <a:ext cx="765627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19" b="1">
                <a:solidFill>
                  <a:srgbClr val="2FD8B4"/>
                </a:solidFill>
                <a:latin typeface="Consolas"/>
              </a:rPr>
              <a:t>LANGUAGE &amp; DATA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0" b="0">
                <a:solidFill>
                  <a:srgbClr val="EAF0F7"/>
                </a:solidFill>
                <a:latin typeface="Segoe UI"/>
              </a:rPr>
              <a:t>Python 3.11 · Pandas · NumPy · SQL Server · SQLAlchemy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84448" y="2724911"/>
            <a:ext cx="8040319" cy="1078992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84448" y="2724911"/>
            <a:ext cx="41148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85616" y="2852927"/>
            <a:ext cx="765627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19" b="1">
                <a:solidFill>
                  <a:srgbClr val="F5A623"/>
                </a:solidFill>
                <a:latin typeface="Consolas"/>
              </a:rPr>
              <a:t>MACHINE LEARNING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0" b="0">
                <a:solidFill>
                  <a:srgbClr val="EAF0F7"/>
                </a:solidFill>
                <a:latin typeface="Segoe UI"/>
              </a:rPr>
              <a:t>Scikit-learn · Logistic Regression (deployed) · Random Forest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0" b="0">
                <a:solidFill>
                  <a:srgbClr val="EAF0F7"/>
                </a:solidFill>
                <a:latin typeface="Segoe UI"/>
              </a:rPr>
              <a:t>XGBoost · LightGBM · Joblib · SHAP (research only)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84448" y="3931920"/>
            <a:ext cx="8040319" cy="1078992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84448" y="3931920"/>
            <a:ext cx="41148" cy="10789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5616" y="4059935"/>
            <a:ext cx="765627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19" b="1">
                <a:solidFill>
                  <a:srgbClr val="4C8DFF"/>
                </a:solidFill>
                <a:latin typeface="Consolas"/>
              </a:rPr>
              <a:t>WEB APPLICATION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0" b="0">
                <a:solidFill>
                  <a:srgbClr val="EAF0F7"/>
                </a:solidFill>
                <a:latin typeface="Segoe UI"/>
              </a:rPr>
              <a:t>Flask · Jinja2 · HTML5/CSS3 · Vanilla JavaScript · Gunicorn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84448" y="5138927"/>
            <a:ext cx="8040319" cy="1078992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584448" y="5138927"/>
            <a:ext cx="41148" cy="10789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85616" y="5266943"/>
            <a:ext cx="765627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19" b="1">
                <a:solidFill>
                  <a:srgbClr val="FF5C6C"/>
                </a:solidFill>
                <a:latin typeface="Consolas"/>
              </a:rPr>
              <a:t>API &amp; DELIVERY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0" b="0">
                <a:solidFill>
                  <a:srgbClr val="EAF0F7"/>
                </a:solidFill>
                <a:latin typeface="Segoe UI"/>
              </a:rPr>
              <a:t>FastAPI + Pydantic · Docker · Render · Git/GitHub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70" b="0">
                <a:solidFill>
                  <a:srgbClr val="EAF0F7"/>
                </a:solidFill>
                <a:latin typeface="Segoe UI"/>
              </a:rPr>
              <a:t>Power BI · .pbix report · .pbit template</a:t>
            </a:r>
          </a:p>
        </p:txBody>
      </p:sp>
      <p:sp>
        <p:nvSpPr>
          <p:cNvPr id="45" name="Rectangle 44">
            <a:hlinkClick action="ppaction://hlinksldjump" r:id="rId11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lide navigation 01" descr="Click to navigate to slide 01 of 22">
            <a:hlinkClick action="ppaction://hlinksldjump" r:id="rId11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7" name="Rectangle 46">
            <a:hlinkClick action="ppaction://hlinksldjump" r:id="rId12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lide navigation 02" descr="Click to navigate to slide 02 of 22">
            <a:hlinkClick action="ppaction://hlinksldjump" r:id="rId12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9" name="Rectangle 48">
            <a:hlinkClick action="ppaction://hlinksldjump" r:id="rId13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lide navigation 03" descr="Click to navigate to slide 03 of 22">
            <a:hlinkClick action="ppaction://hlinksldjump" r:id="rId13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1" name="Rectangle 50">
            <a:hlinkClick action="ppaction://hlinksldjump" r:id="rId14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lide navigation 04" descr="Click to navigate to slide 04 of 22">
            <a:hlinkClick action="ppaction://hlinksldjump" r:id="rId14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3" name="Rectangle 52">
            <a:hlinkClick action="ppaction://hlinksldjump" r:id="rId15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lide navigation 05" descr="Click to navigate to slide 05 of 22">
            <a:hlinkClick action="ppaction://hlinksldjump" r:id="rId15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5" name="Rectangle 54">
            <a:hlinkClick action="ppaction://hlinksldjump" r:id="rId16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lide navigation 06" descr="Click to navigate to slide 06 of 22">
            <a:hlinkClick action="ppaction://hlinksldjump" r:id="rId16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7" name="Rectangle 56">
            <a:hlinkClick action="ppaction://hlinksldjump" r:id="rId17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lide navigation 07" descr="Click to navigate to slide 07 of 22">
            <a:hlinkClick action="ppaction://hlinksldjump" r:id="rId17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9" name="Rectangle 58">
            <a:hlinkClick action="ppaction://hlinksldjump" r:id="rId18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lide navigation 08" descr="Click to navigate to slide 08 of 22">
            <a:hlinkClick action="ppaction://hlinksldjump" r:id="rId18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1" name="Rectangle 60">
            <a:hlinkClick action="ppaction://hlinksldjump" r:id="rId19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lide navigation 09" descr="Click to navigate to slide 09 of 22">
            <a:hlinkClick action="ppaction://hlinksldjump" r:id="rId19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3" name="Rectangle 62">
            <a:hlinkClick action="ppaction://hlinksldjump" r:id="rId20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lide navigation 10" descr="Click to navigate to slide 10 of 22">
            <a:hlinkClick action="ppaction://hlinksldjump" r:id="rId20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5" name="Rectangle 64">
            <a:hlinkClick action="ppaction://hlinksldjump" r:id="rId21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lide navigation 11" descr="Click to navigate to slide 11 of 22">
            <a:hlinkClick action="ppaction://hlinksldjump" r:id="rId21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7" name="Rectangle 66">
            <a:hlinkClick action="ppaction://hlinksldjump" r:id="rId22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lide navigation 12" descr="Click to navigate to slide 12 of 22">
            <a:hlinkClick action="ppaction://hlinksldjump" r:id="rId22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9" name="Rectangle 68">
            <a:hlinkClick action="ppaction://hlinksldjump" r:id="rId23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lide navigation 13" descr="Click to navigate to slide 13 of 22">
            <a:hlinkClick action="ppaction://hlinksldjump" r:id="rId23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1" name="Rectangle 70">
            <a:hlinkClick action="ppaction://hlinksldjump" r:id="rId24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lide navigation 14" descr="Click to navigate to slide 14 of 22">
            <a:hlinkClick action="ppaction://hlinksldjump" r:id="rId24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3" name="Rectangle 72">
            <a:hlinkClick action="ppaction://hlinksldjump" r:id="rId25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lide navigation 15" descr="Click to navigate to slide 15 of 22">
            <a:hlinkClick action="ppaction://hlinksldjump" r:id="rId25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5" name="Rectangle 74">
            <a:hlinkClick action="ppaction://hlinksldjump" r:id="rId26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lide navigation 16" descr="Click to navigate to slide 16 of 22">
            <a:hlinkClick action="ppaction://hlinksldjump" r:id="rId26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7" name="Rectangle 76">
            <a:hlinkClick action="ppaction://hlinksldjump" r:id="rId27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lide navigation 17" descr="Click to navigate to slide 17 of 22">
            <a:hlinkClick action="ppaction://hlinksldjump" r:id="rId27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9" name="Rectangle 78">
            <a:hlinkClick action="ppaction://hlinksldjump" r:id="rId28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lide navigation 18" descr="Click to navigate to slide 18 of 22">
            <a:hlinkClick action="ppaction://hlinksldjump" r:id="rId28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1" name="Rectangle 80">
            <a:hlinkClick action="ppaction://hlinksldjump" r:id="rId29"/>
          </p:cNvPr>
          <p:cNvSpPr/>
          <p:nvPr/>
        </p:nvSpPr>
        <p:spPr>
          <a:xfrm>
            <a:off x="9632538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lide navigation 19" descr="Click to navigate to slide 19 of 22">
            <a:hlinkClick action="ppaction://hlinksldjump" r:id="rId29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3" name="Rectangle 82">
            <a:hlinkClick action="ppaction://hlinksldjump" r:id="rId30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lide navigation 20" descr="Click to navigate to slide 20 of 22">
            <a:hlinkClick action="ppaction://hlinksldjump" r:id="rId30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5" name="Rectangle 84">
            <a:hlinkClick action="ppaction://hlinksldjump" r:id="rId31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lide navigation 21" descr="Click to navigate to slide 21 of 22">
            <a:hlinkClick action="ppaction://hlinksldjump" r:id="rId31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7" name="Rectangle 86">
            <a:hlinkClick action="ppaction://hlinksldjump" r:id="rId32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lide navigation 22" descr="Click to navigate to slide 22 of 22">
            <a:hlinkClick action="ppaction://hlinksldjump" r:id="rId32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9" name="Rectangle 88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RESPONSIBLE AI, LIMITS &amp; THE NEXT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What this model should not be trusted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Where it breaks, who it might treat unfairly, and what the next cycle fixes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3527450" cy="4700016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82495"/>
            <a:ext cx="3125114" cy="4370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1">
                <a:solidFill>
                  <a:srgbClr val="F5A623"/>
                </a:solidFill>
                <a:latin typeface="Consolas"/>
              </a:rPr>
              <a:t>LIMITATIONS — STATED PLAINLY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▸  Trained on historical data from one telecom; behaviour may not transfer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▸  56.95% recall at the deployed threshold — two in five churners missed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▸  No live behavioural feed, no drift monitoring, no automatic retraining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▸  Probabilities are not guarantees; recommendations are decision support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▸  Revenue figures are exposure, not realised savings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2122" y="1517904"/>
            <a:ext cx="3527450" cy="4700016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F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3290" y="1682495"/>
            <a:ext cx="3125114" cy="4370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1">
                <a:solidFill>
                  <a:srgbClr val="FF5C6C"/>
                </a:solidFill>
                <a:latin typeface="Consolas"/>
              </a:rPr>
              <a:t>FAIRNESS — AN OPEN QUESTION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▸  Senior-customer churn is 41.7% vs 23.6% for non-seniors (1.77×); the overall rate is 26.54%. Senior status is a model input; whether scores or offers concentrate unevenly requires a subgroup audit.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▸  A blanket age-based discount could be inequitable or perceived as exploitative pricing.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▸  No bias audit has been run. Before this touched real customers, that would be a prerequisite, not a nice-to-have.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517904"/>
            <a:ext cx="3527450" cy="4700016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524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8484" y="1682495"/>
            <a:ext cx="3125114" cy="4370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1">
                <a:solidFill>
                  <a:srgbClr val="4C8DFF"/>
                </a:solidFill>
                <a:latin typeface="Consolas"/>
              </a:rPr>
              <a:t>THE NEXT CYCLE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▸  Move the operating point deliberately — 0.35 catches 71.7% of churners at no cost to F1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▸  Decide the threshold with the business: a wasted offer is cheap, a lost customer is not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▸  Bias audit across age and other protected attributes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60" b="0">
                <a:solidFill>
                  <a:srgbClr val="EAF0F7"/>
                </a:solidFill>
                <a:latin typeface="Segoe UI"/>
              </a:rPr>
              <a:t>▸  Drift detection and scheduled retraining — which sends the project back to Phase 02</a:t>
            </a:r>
          </a:p>
        </p:txBody>
      </p:sp>
      <p:sp>
        <p:nvSpPr>
          <p:cNvPr id="13" name="Rectangle 12">
            <a:hlinkClick action="ppaction://hlinksldjump" r:id="rId3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lide navigation 01" descr="Click to navigate to slide 01 of 22">
            <a:hlinkClick action="ppaction://hlinksldjump" r:id="rId3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5" name="Rectangle 14">
            <a:hlinkClick action="ppaction://hlinksldjump" r:id="rId4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lide navigation 02" descr="Click to navigate to slide 02 of 22">
            <a:hlinkClick action="ppaction://hlinksldjump" r:id="rId4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7" name="Rectangle 16">
            <a:hlinkClick action="ppaction://hlinksldjump" r:id="rId5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lide navigation 03" descr="Click to navigate to slide 03 of 22">
            <a:hlinkClick action="ppaction://hlinksldjump" r:id="rId5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9" name="Rectangle 18">
            <a:hlinkClick action="ppaction://hlinksldjump" r:id="rId6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lide navigation 04" descr="Click to navigate to slide 04 of 22">
            <a:hlinkClick action="ppaction://hlinksldjump" r:id="rId6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1" name="Rectangle 20">
            <a:hlinkClick action="ppaction://hlinksldjump" r:id="rId7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lide navigation 05" descr="Click to navigate to slide 05 of 22">
            <a:hlinkClick action="ppaction://hlinksldjump" r:id="rId7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3" name="Rectangle 22">
            <a:hlinkClick action="ppaction://hlinksldjump" r:id="rId8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lide navigation 06" descr="Click to navigate to slide 06 of 22">
            <a:hlinkClick action="ppaction://hlinksldjump" r:id="rId8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5" name="Rectangle 24">
            <a:hlinkClick action="ppaction://hlinksldjump" r:id="rId9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lide navigation 07" descr="Click to navigate to slide 07 of 22">
            <a:hlinkClick action="ppaction://hlinksldjump" r:id="rId9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7" name="Rectangle 26">
            <a:hlinkClick action="ppaction://hlinksldjump" r:id="rId10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lide navigation 08" descr="Click to navigate to slide 08 of 22">
            <a:hlinkClick action="ppaction://hlinksldjump" r:id="rId10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9" name="Rectangle 28">
            <a:hlinkClick action="ppaction://hlinksldjump" r:id="rId11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lide navigation 09" descr="Click to navigate to slide 09 of 22">
            <a:hlinkClick action="ppaction://hlinksldjump" r:id="rId11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1" name="Rectangle 30">
            <a:hlinkClick action="ppaction://hlinksldjump" r:id="rId12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lide navigation 10" descr="Click to navigate to slide 10 of 22">
            <a:hlinkClick action="ppaction://hlinksldjump" r:id="rId12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3" name="Rectangle 32">
            <a:hlinkClick action="ppaction://hlinksldjump" r:id="rId13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lide navigation 11" descr="Click to navigate to slide 11 of 22">
            <a:hlinkClick action="ppaction://hlinksldjump" r:id="rId13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5" name="Rectangle 34">
            <a:hlinkClick action="ppaction://hlinksldjump" r:id="rId14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lide navigation 12" descr="Click to navigate to slide 12 of 22">
            <a:hlinkClick action="ppaction://hlinksldjump" r:id="rId14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7" name="Rectangle 36">
            <a:hlinkClick action="ppaction://hlinksldjump" r:id="rId15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lide navigation 13" descr="Click to navigate to slide 13 of 22">
            <a:hlinkClick action="ppaction://hlinksldjump" r:id="rId15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9" name="Rectangle 38">
            <a:hlinkClick action="ppaction://hlinksldjump" r:id="rId16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lide navigation 14" descr="Click to navigate to slide 14 of 22">
            <a:hlinkClick action="ppaction://hlinksldjump" r:id="rId16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1" name="Rectangle 40">
            <a:hlinkClick action="ppaction://hlinksldjump" r:id="rId17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lide navigation 15" descr="Click to navigate to slide 15 of 22">
            <a:hlinkClick action="ppaction://hlinksldjump" r:id="rId17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3" name="Rectangle 42">
            <a:hlinkClick action="ppaction://hlinksldjump" r:id="rId18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lide navigation 16" descr="Click to navigate to slide 16 of 22">
            <a:hlinkClick action="ppaction://hlinksldjump" r:id="rId18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5" name="Rectangle 44">
            <a:hlinkClick action="ppaction://hlinksldjump" r:id="rId19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lide navigation 17" descr="Click to navigate to slide 17 of 22">
            <a:hlinkClick action="ppaction://hlinksldjump" r:id="rId19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7" name="Rectangle 46">
            <a:hlinkClick action="ppaction://hlinksldjump" r:id="rId20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lide navigation 18" descr="Click to navigate to slide 18 of 22">
            <a:hlinkClick action="ppaction://hlinksldjump" r:id="rId20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9" name="Rectangle 48">
            <a:hlinkClick action="ppaction://hlinksldjump" r:id="rId21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lide navigation 19" descr="Click to navigate to slide 19 of 22">
            <a:hlinkClick action="ppaction://hlinksldjump" r:id="rId21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1" name="Rectangle 50">
            <a:hlinkClick action="ppaction://hlinksldjump" r:id="rId22"/>
          </p:cNvPr>
          <p:cNvSpPr/>
          <p:nvPr/>
        </p:nvSpPr>
        <p:spPr>
          <a:xfrm>
            <a:off x="10135168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lide navigation 20" descr="Click to navigate to slide 20 of 22">
            <a:hlinkClick action="ppaction://hlinksldjump" r:id="rId22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3" name="Rectangle 52">
            <a:hlinkClick action="ppaction://hlinksldjump" r:id="rId23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lide navigation 21" descr="Click to navigate to slide 21 of 22">
            <a:hlinkClick action="ppaction://hlinksldjump" r:id="rId23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5" name="Rectangle 54">
            <a:hlinkClick action="ppaction://hlinksldjump" r:id="rId24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lide navigation 22" descr="Click to navigate to slide 22 of 22">
            <a:hlinkClick action="ppaction://hlinksldjump" r:id="rId24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LIVE DEMO &amp; PROJECT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AF0F7"/>
                </a:solidFill>
                <a:latin typeface="Segoe UI"/>
              </a:rPr>
              <a:t>See it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60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8CA0BE"/>
                </a:solidFill>
                <a:latin typeface="Segoe UI"/>
              </a:rPr>
              <a:t>Scan to open the live application and score a customer portfolio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057839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5321808" cy="3968496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7780">
            <a:solidFill>
              <a:srgbClr val="2FD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809744" cy="3529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1" u="sng">
                <a:solidFill>
                  <a:srgbClr val="2FD8B4"/>
                </a:solidFill>
                <a:latin typeface="Consolas"/>
                <a:hlinkClick r:id="rId2"/>
              </a:rPr>
              <a:t>LIVE APPLICATION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100" b="1" u="sng">
                <a:solidFill>
                  <a:srgbClr val="4C8DFF"/>
                </a:solidFill>
                <a:latin typeface="Segoe UI"/>
                <a:hlinkClick r:id="rId2"/>
              </a:rPr>
              <a:t>retainiq-predictive-customer-retention-zq6x.onrender.com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080" b="0">
                <a:solidFill>
                  <a:srgbClr val="8CA0BE"/>
                </a:solidFill>
                <a:latin typeface="Segoe UI"/>
              </a:rPr>
              <a:t>Bulk score a customer CSV, read the dashboard, and download a private report. The model, risk bands, explanations and recommendations run live — the same code paths that produced every figure in this deck.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 u="sng">
                <a:solidFill>
                  <a:srgbClr val="4C8DFF"/>
                </a:solidFill>
                <a:latin typeface="Consolas"/>
                <a:hlinkClick r:id="rId3"/>
              </a:rPr>
              <a:t>SOURCE CODE</a:t>
            </a:r>
          </a:p>
          <a:p>
            <a:pPr algn="l">
              <a:lnSpc>
                <a:spcPct val="116000"/>
              </a:lnSpc>
              <a:spcAft>
                <a:spcPts val="1200"/>
              </a:spcAft>
            </a:pPr>
            <a:r>
              <a:rPr sz="1060" b="0" u="sng">
                <a:solidFill>
                  <a:srgbClr val="4C8DFF"/>
                </a:solidFill>
                <a:latin typeface="Consolas"/>
                <a:hlinkClick r:id="rId3"/>
              </a:rPr>
              <a:t>github.com/Logesh0247/RetainIQ_Signal_Ops_Console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040" b="0">
                <a:solidFill>
                  <a:srgbClr val="8CA0BE"/>
                </a:solidFill>
                <a:latin typeface="Segoe UI"/>
              </a:rPr>
              <a:t>Notebooks 01–09, the Flask console, the FastAPI wrapper and the nine-test suite are all in the repository.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40" b="0">
                <a:solidFill>
                  <a:srgbClr val="F5A623"/>
                </a:solidFill>
                <a:latin typeface="Segoe UI"/>
              </a:rPr>
              <a:t>The host is a free tier — open it once a minute before the review so the first scan is instant.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0176" y="1517904"/>
            <a:ext cx="2724912" cy="3968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qr_live_a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719072"/>
            <a:ext cx="2615184" cy="2615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0" y="4864608"/>
            <a:ext cx="24323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0A0F1C"/>
                </a:solidFill>
                <a:latin typeface="Consolas"/>
              </a:rPr>
              <a:t>SCAN FOR THE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0A0F1C"/>
                </a:solidFill>
                <a:latin typeface="Consolas"/>
              </a:rPr>
              <a:t>LIVE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6528" y="1517904"/>
            <a:ext cx="2825496" cy="3968496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qr_reposi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76" y="1737360"/>
            <a:ext cx="1143000" cy="1143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79408" y="1773936"/>
            <a:ext cx="60350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50" b="1">
                <a:solidFill>
                  <a:srgbClr val="8CA0BE"/>
                </a:solidFill>
                <a:latin typeface="Consolas"/>
              </a:rPr>
              <a:t>SOURCE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8CA0BE"/>
                </a:solidFill>
                <a:latin typeface="Consolas"/>
              </a:rPr>
              <a:t>REPO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2999232"/>
            <a:ext cx="245973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950" b="1">
                <a:solidFill>
                  <a:srgbClr val="2FD8B4"/>
                </a:solidFill>
                <a:latin typeface="Consolas"/>
              </a:rPr>
              <a:t>PROJECT TAKEAWAY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700" b="1">
                <a:solidFill>
                  <a:srgbClr val="EAF0F7"/>
                </a:solidFill>
                <a:latin typeface="Segoe UI"/>
              </a:rPr>
              <a:t>Probability → action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40" b="0">
                <a:solidFill>
                  <a:srgbClr val="8CA0BE"/>
                </a:solidFill>
                <a:latin typeface="Segoe UI"/>
              </a:rPr>
              <a:t>From churn risk to a prioritised, explained and costed retention response.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04120" y="4795113"/>
            <a:ext cx="89382" cy="170992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59568" y="4670755"/>
            <a:ext cx="89382" cy="295351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15016" y="4546396"/>
            <a:ext cx="89382" cy="4197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70464" y="4422038"/>
            <a:ext cx="89382" cy="544068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25912" y="4297680"/>
            <a:ext cx="89382" cy="668426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6692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8CA0BE"/>
                </a:solidFill>
                <a:latin typeface="Consolas"/>
              </a:rPr>
              <a:t>Logesh S.  ·  B.Sc. Data Science  ·  RetainIQ Signal Ops Console  ·  80.34% accuracy  ·  84.91% ROC-AUC</a:t>
            </a:r>
          </a:p>
        </p:txBody>
      </p:sp>
      <p:sp>
        <p:nvSpPr>
          <p:cNvPr id="23" name="Rectangle 22">
            <a:hlinkClick action="ppaction://hlinksldjump" r:id="rId7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lide navigation 01" descr="Click to navigate to slide 01 of 22">
            <a:hlinkClick action="ppaction://hlinksldjump" r:id="rId7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5" name="Rectangle 24">
            <a:hlinkClick action="ppaction://hlinksldjump" r:id="rId8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lide navigation 02" descr="Click to navigate to slide 02 of 22">
            <a:hlinkClick action="ppaction://hlinksldjump" r:id="rId8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7" name="Rectangle 26">
            <a:hlinkClick action="ppaction://hlinksldjump" r:id="rId9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lide navigation 03" descr="Click to navigate to slide 03 of 22">
            <a:hlinkClick action="ppaction://hlinksldjump" r:id="rId9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9" name="Rectangle 28">
            <a:hlinkClick action="ppaction://hlinksldjump" r:id="rId10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lide navigation 04" descr="Click to navigate to slide 04 of 22">
            <a:hlinkClick action="ppaction://hlinksldjump" r:id="rId10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1" name="Rectangle 30">
            <a:hlinkClick action="ppaction://hlinksldjump" r:id="rId11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lide navigation 05" descr="Click to navigate to slide 05 of 22">
            <a:hlinkClick action="ppaction://hlinksldjump" r:id="rId11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3" name="Rectangle 32">
            <a:hlinkClick action="ppaction://hlinksldjump" r:id="rId12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lide navigation 06" descr="Click to navigate to slide 06 of 22">
            <a:hlinkClick action="ppaction://hlinksldjump" r:id="rId12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5" name="Rectangle 34">
            <a:hlinkClick action="ppaction://hlinksldjump" r:id="rId13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lide navigation 07" descr="Click to navigate to slide 07 of 22">
            <a:hlinkClick action="ppaction://hlinksldjump" r:id="rId13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7" name="Rectangle 36">
            <a:hlinkClick action="ppaction://hlinksldjump" r:id="rId14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lide navigation 08" descr="Click to navigate to slide 08 of 22">
            <a:hlinkClick action="ppaction://hlinksldjump" r:id="rId14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9" name="Rectangle 38">
            <a:hlinkClick action="ppaction://hlinksldjump" r:id="rId15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lide navigation 09" descr="Click to navigate to slide 09 of 22">
            <a:hlinkClick action="ppaction://hlinksldjump" r:id="rId15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1" name="Rectangle 40">
            <a:hlinkClick action="ppaction://hlinksldjump" r:id="rId16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lide navigation 10" descr="Click to navigate to slide 10 of 22">
            <a:hlinkClick action="ppaction://hlinksldjump" r:id="rId16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3" name="Rectangle 42">
            <a:hlinkClick action="ppaction://hlinksldjump" r:id="rId17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lide navigation 11" descr="Click to navigate to slide 11 of 22">
            <a:hlinkClick action="ppaction://hlinksldjump" r:id="rId17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5" name="Rectangle 44">
            <a:hlinkClick action="ppaction://hlinksldjump" r:id="rId18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lide navigation 12" descr="Click to navigate to slide 12 of 22">
            <a:hlinkClick action="ppaction://hlinksldjump" r:id="rId18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7" name="Rectangle 46">
            <a:hlinkClick action="ppaction://hlinksldjump" r:id="rId19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lide navigation 13" descr="Click to navigate to slide 13 of 22">
            <a:hlinkClick action="ppaction://hlinksldjump" r:id="rId19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9" name="Rectangle 48">
            <a:hlinkClick action="ppaction://hlinksldjump" r:id="rId20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lide navigation 14" descr="Click to navigate to slide 14 of 22">
            <a:hlinkClick action="ppaction://hlinksldjump" r:id="rId20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1" name="Rectangle 50">
            <a:hlinkClick action="ppaction://hlinksldjump" r:id="rId21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lide navigation 15" descr="Click to navigate to slide 15 of 22">
            <a:hlinkClick action="ppaction://hlinksldjump" r:id="rId21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3" name="Rectangle 52">
            <a:hlinkClick action="ppaction://hlinksldjump" r:id="rId22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lide navigation 16" descr="Click to navigate to slide 16 of 22">
            <a:hlinkClick action="ppaction://hlinksldjump" r:id="rId22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5" name="Rectangle 54">
            <a:hlinkClick action="ppaction://hlinksldjump" r:id="rId23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lide navigation 17" descr="Click to navigate to slide 17 of 22">
            <a:hlinkClick action="ppaction://hlinksldjump" r:id="rId23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7" name="Rectangle 56">
            <a:hlinkClick action="ppaction://hlinksldjump" r:id="rId24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lide navigation 18" descr="Click to navigate to slide 18 of 22">
            <a:hlinkClick action="ppaction://hlinksldjump" r:id="rId24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9" name="Rectangle 58">
            <a:hlinkClick action="ppaction://hlinksldjump" r:id="rId25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lide navigation 19" descr="Click to navigate to slide 19 of 22">
            <a:hlinkClick action="ppaction://hlinksldjump" r:id="rId25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1" name="Rectangle 60">
            <a:hlinkClick action="ppaction://hlinksldjump" r:id="rId26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lide navigation 20" descr="Click to navigate to slide 20 of 22">
            <a:hlinkClick action="ppaction://hlinksldjump" r:id="rId26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3" name="Rectangle 62">
            <a:hlinkClick action="ppaction://hlinksldjump" r:id="rId27"/>
          </p:cNvPr>
          <p:cNvSpPr/>
          <p:nvPr/>
        </p:nvSpPr>
        <p:spPr>
          <a:xfrm>
            <a:off x="10637797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lide navigation 21" descr="Click to navigate to slide 21 of 22">
            <a:hlinkClick action="ppaction://hlinksldjump" r:id="rId27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5" name="Rectangle 64">
            <a:hlinkClick action="ppaction://hlinksldjump" r:id="rId28"/>
          </p:cNvPr>
          <p:cNvSpPr/>
          <p:nvPr/>
        </p:nvSpPr>
        <p:spPr>
          <a:xfrm>
            <a:off x="11140426" y="6309360"/>
            <a:ext cx="466053" cy="45720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lide navigation 22" descr="Click to navigate to slide 22 of 22">
            <a:hlinkClick action="ppaction://hlinksldjump" r:id="rId28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17904"/>
            <a:ext cx="11057839" cy="4553712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57839" cy="32004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73936"/>
            <a:ext cx="10143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D8B4"/>
                </a:solidFill>
                <a:latin typeface="Consolas"/>
              </a:rPr>
              <a:t>RETAINIQ · SIGNAL OPS CONSOLE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50992" y="2772460"/>
            <a:ext cx="110413" cy="211226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43016" y="2618841"/>
            <a:ext cx="110413" cy="364845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2465222"/>
            <a:ext cx="110413" cy="518464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7064" y="2311603"/>
            <a:ext cx="110413" cy="672084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9088" y="2157984"/>
            <a:ext cx="110413" cy="825703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17520"/>
            <a:ext cx="1014343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200" b="1">
                <a:solidFill>
                  <a:srgbClr val="EAF0F7"/>
                </a:solidFill>
                <a:latin typeface="Segoe UI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886200"/>
            <a:ext cx="101434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FD8B4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2" y="4370832"/>
            <a:ext cx="3447288" cy="12801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7" y="4572000"/>
            <a:ext cx="977767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8CA0BE"/>
                </a:solidFill>
                <a:latin typeface="Segoe UI"/>
              </a:rPr>
              <a:t>From churn probability to a prioritised, explained and costed retention 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5248656"/>
            <a:ext cx="101434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4C8DFF"/>
                </a:solidFill>
                <a:latin typeface="Consolas"/>
              </a:rPr>
              <a:t>LOGESH S.  ·  B.SC. DATA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559552"/>
            <a:ext cx="101434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8CA0BE"/>
                </a:solidFill>
                <a:latin typeface="Consolas"/>
              </a:rPr>
              <a:t>80.34% ACCURACY  ·  84.91% ROC-AUC  ·  7,043 CUSTOMERS SCORED  ·  $92,539 HIGH-RISK MONTHLY EXPOSURE</a:t>
            </a:r>
          </a:p>
        </p:txBody>
      </p:sp>
      <p:sp>
        <p:nvSpPr>
          <p:cNvPr id="18" name="Rectangle 17">
            <a:hlinkClick action="ppaction://hlinksldjump" r:id="rId3"/>
          </p:cNvPr>
          <p:cNvSpPr/>
          <p:nvPr/>
        </p:nvSpPr>
        <p:spPr>
          <a:xfrm>
            <a:off x="58521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lide navigation 01" descr="Click to navigate to slide 01 of 22">
            <a:hlinkClick action="ppaction://hlinksldjump" r:id="rId3"/>
          </p:cNvPr>
          <p:cNvSpPr txBox="1"/>
          <p:nvPr/>
        </p:nvSpPr>
        <p:spPr>
          <a:xfrm>
            <a:off x="56692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0" name="Rectangle 19">
            <a:hlinkClick action="ppaction://hlinksldjump" r:id="rId4"/>
          </p:cNvPr>
          <p:cNvSpPr/>
          <p:nvPr/>
        </p:nvSpPr>
        <p:spPr>
          <a:xfrm>
            <a:off x="108784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lide navigation 02" descr="Click to navigate to slide 02 of 22">
            <a:hlinkClick action="ppaction://hlinksldjump" r:id="rId4"/>
          </p:cNvPr>
          <p:cNvSpPr txBox="1"/>
          <p:nvPr/>
        </p:nvSpPr>
        <p:spPr>
          <a:xfrm>
            <a:off x="106955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159047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lide navigation 03" descr="Click to navigate to slide 03 of 22">
            <a:hlinkClick action="ppaction://hlinksldjump" r:id="rId5"/>
          </p:cNvPr>
          <p:cNvSpPr txBox="1"/>
          <p:nvPr/>
        </p:nvSpPr>
        <p:spPr>
          <a:xfrm>
            <a:off x="157218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4" name="Rectangle 23">
            <a:hlinkClick action="ppaction://hlinksldjump" r:id="rId6"/>
          </p:cNvPr>
          <p:cNvSpPr/>
          <p:nvPr/>
        </p:nvSpPr>
        <p:spPr>
          <a:xfrm>
            <a:off x="209310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lide navigation 04" descr="Click to navigate to slide 04 of 22">
            <a:hlinkClick action="ppaction://hlinksldjump" r:id="rId6"/>
          </p:cNvPr>
          <p:cNvSpPr txBox="1"/>
          <p:nvPr/>
        </p:nvSpPr>
        <p:spPr>
          <a:xfrm>
            <a:off x="207481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6" name="Rectangle 25">
            <a:hlinkClick action="ppaction://hlinksldjump" r:id="rId7"/>
          </p:cNvPr>
          <p:cNvSpPr/>
          <p:nvPr/>
        </p:nvSpPr>
        <p:spPr>
          <a:xfrm>
            <a:off x="259573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ide navigation 05" descr="Click to navigate to slide 05 of 22">
            <a:hlinkClick action="ppaction://hlinksldjump" r:id="rId7"/>
          </p:cNvPr>
          <p:cNvSpPr txBox="1"/>
          <p:nvPr/>
        </p:nvSpPr>
        <p:spPr>
          <a:xfrm>
            <a:off x="257744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8" name="Rectangle 27">
            <a:hlinkClick action="ppaction://hlinksldjump" r:id="rId8"/>
          </p:cNvPr>
          <p:cNvSpPr/>
          <p:nvPr/>
        </p:nvSpPr>
        <p:spPr>
          <a:xfrm>
            <a:off x="309836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lide navigation 06" descr="Click to navigate to slide 06 of 22">
            <a:hlinkClick action="ppaction://hlinksldjump" r:id="rId8"/>
          </p:cNvPr>
          <p:cNvSpPr txBox="1"/>
          <p:nvPr/>
        </p:nvSpPr>
        <p:spPr>
          <a:xfrm>
            <a:off x="308007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0" name="Rectangle 29">
            <a:hlinkClick action="ppaction://hlinksldjump" r:id="rId9"/>
          </p:cNvPr>
          <p:cNvSpPr/>
          <p:nvPr/>
        </p:nvSpPr>
        <p:spPr>
          <a:xfrm>
            <a:off x="360099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lide navigation 07" descr="Click to navigate to slide 07 of 22">
            <a:hlinkClick action="ppaction://hlinksldjump" r:id="rId9"/>
          </p:cNvPr>
          <p:cNvSpPr txBox="1"/>
          <p:nvPr/>
        </p:nvSpPr>
        <p:spPr>
          <a:xfrm>
            <a:off x="358270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2" name="Rectangle 31">
            <a:hlinkClick action="ppaction://hlinksldjump" r:id="rId10"/>
          </p:cNvPr>
          <p:cNvSpPr/>
          <p:nvPr/>
        </p:nvSpPr>
        <p:spPr>
          <a:xfrm>
            <a:off x="410361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lide navigation 08" descr="Click to navigate to slide 08 of 22">
            <a:hlinkClick action="ppaction://hlinksldjump" r:id="rId10"/>
          </p:cNvPr>
          <p:cNvSpPr txBox="1"/>
          <p:nvPr/>
        </p:nvSpPr>
        <p:spPr>
          <a:xfrm>
            <a:off x="408533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4" name="Rectangle 33">
            <a:hlinkClick action="ppaction://hlinksldjump" r:id="rId11"/>
          </p:cNvPr>
          <p:cNvSpPr/>
          <p:nvPr/>
        </p:nvSpPr>
        <p:spPr>
          <a:xfrm>
            <a:off x="460624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lide navigation 09" descr="Click to navigate to slide 09 of 22">
            <a:hlinkClick action="ppaction://hlinksldjump" r:id="rId11"/>
          </p:cNvPr>
          <p:cNvSpPr txBox="1"/>
          <p:nvPr/>
        </p:nvSpPr>
        <p:spPr>
          <a:xfrm>
            <a:off x="458796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6" name="Rectangle 35">
            <a:hlinkClick action="ppaction://hlinksldjump" r:id="rId12"/>
          </p:cNvPr>
          <p:cNvSpPr/>
          <p:nvPr/>
        </p:nvSpPr>
        <p:spPr>
          <a:xfrm>
            <a:off x="5108877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lide navigation 10" descr="Click to navigate to slide 10 of 22">
            <a:hlinkClick action="ppaction://hlinksldjump" r:id="rId12"/>
          </p:cNvPr>
          <p:cNvSpPr txBox="1"/>
          <p:nvPr/>
        </p:nvSpPr>
        <p:spPr>
          <a:xfrm>
            <a:off x="509058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8" name="Rectangle 37">
            <a:hlinkClick action="ppaction://hlinksldjump" r:id="rId13"/>
          </p:cNvPr>
          <p:cNvSpPr/>
          <p:nvPr/>
        </p:nvSpPr>
        <p:spPr>
          <a:xfrm>
            <a:off x="5611506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lide navigation 11" descr="Click to navigate to slide 11 of 22">
            <a:hlinkClick action="ppaction://hlinksldjump" r:id="rId13"/>
          </p:cNvPr>
          <p:cNvSpPr txBox="1"/>
          <p:nvPr/>
        </p:nvSpPr>
        <p:spPr>
          <a:xfrm>
            <a:off x="559321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0" name="Rectangle 39">
            <a:hlinkClick action="ppaction://hlinksldjump" r:id="rId14"/>
          </p:cNvPr>
          <p:cNvSpPr/>
          <p:nvPr/>
        </p:nvSpPr>
        <p:spPr>
          <a:xfrm>
            <a:off x="6114135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lide navigation 12" descr="Click to navigate to slide 12 of 22">
            <a:hlinkClick action="ppaction://hlinksldjump" r:id="rId14"/>
          </p:cNvPr>
          <p:cNvSpPr txBox="1"/>
          <p:nvPr/>
        </p:nvSpPr>
        <p:spPr>
          <a:xfrm>
            <a:off x="6095847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2" name="Rectangle 41">
            <a:hlinkClick action="ppaction://hlinksldjump" r:id="rId15"/>
          </p:cNvPr>
          <p:cNvSpPr/>
          <p:nvPr/>
        </p:nvSpPr>
        <p:spPr>
          <a:xfrm>
            <a:off x="6616764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lide navigation 13" descr="Click to navigate to slide 13 of 22">
            <a:hlinkClick action="ppaction://hlinksldjump" r:id="rId15"/>
          </p:cNvPr>
          <p:cNvSpPr txBox="1"/>
          <p:nvPr/>
        </p:nvSpPr>
        <p:spPr>
          <a:xfrm>
            <a:off x="6598476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4" name="Rectangle 43">
            <a:hlinkClick action="ppaction://hlinksldjump" r:id="rId16"/>
          </p:cNvPr>
          <p:cNvSpPr/>
          <p:nvPr/>
        </p:nvSpPr>
        <p:spPr>
          <a:xfrm>
            <a:off x="7119393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lide navigation 14" descr="Click to navigate to slide 14 of 22">
            <a:hlinkClick action="ppaction://hlinksldjump" r:id="rId16"/>
          </p:cNvPr>
          <p:cNvSpPr txBox="1"/>
          <p:nvPr/>
        </p:nvSpPr>
        <p:spPr>
          <a:xfrm>
            <a:off x="7101105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6" name="Rectangle 45">
            <a:hlinkClick action="ppaction://hlinksldjump" r:id="rId17"/>
          </p:cNvPr>
          <p:cNvSpPr/>
          <p:nvPr/>
        </p:nvSpPr>
        <p:spPr>
          <a:xfrm>
            <a:off x="7622022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lide navigation 15" descr="Click to navigate to slide 15 of 22">
            <a:hlinkClick action="ppaction://hlinksldjump" r:id="rId17"/>
          </p:cNvPr>
          <p:cNvSpPr txBox="1"/>
          <p:nvPr/>
        </p:nvSpPr>
        <p:spPr>
          <a:xfrm>
            <a:off x="7603734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8" name="Rectangle 47">
            <a:hlinkClick action="ppaction://hlinksldjump" r:id="rId18"/>
          </p:cNvPr>
          <p:cNvSpPr/>
          <p:nvPr/>
        </p:nvSpPr>
        <p:spPr>
          <a:xfrm>
            <a:off x="8124651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lide navigation 16" descr="Click to navigate to slide 16 of 22">
            <a:hlinkClick action="ppaction://hlinksldjump" r:id="rId18"/>
          </p:cNvPr>
          <p:cNvSpPr txBox="1"/>
          <p:nvPr/>
        </p:nvSpPr>
        <p:spPr>
          <a:xfrm>
            <a:off x="8106363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0" name="Rectangle 49">
            <a:hlinkClick action="ppaction://hlinksldjump" r:id="rId19"/>
          </p:cNvPr>
          <p:cNvSpPr/>
          <p:nvPr/>
        </p:nvSpPr>
        <p:spPr>
          <a:xfrm>
            <a:off x="8627280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lide navigation 17" descr="Click to navigate to slide 17 of 22">
            <a:hlinkClick action="ppaction://hlinksldjump" r:id="rId19"/>
          </p:cNvPr>
          <p:cNvSpPr txBox="1"/>
          <p:nvPr/>
        </p:nvSpPr>
        <p:spPr>
          <a:xfrm>
            <a:off x="8608992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2" name="Rectangle 51">
            <a:hlinkClick action="ppaction://hlinksldjump" r:id="rId20"/>
          </p:cNvPr>
          <p:cNvSpPr/>
          <p:nvPr/>
        </p:nvSpPr>
        <p:spPr>
          <a:xfrm>
            <a:off x="9129909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lide navigation 18" descr="Click to navigate to slide 18 of 22">
            <a:hlinkClick action="ppaction://hlinksldjump" r:id="rId20"/>
          </p:cNvPr>
          <p:cNvSpPr txBox="1"/>
          <p:nvPr/>
        </p:nvSpPr>
        <p:spPr>
          <a:xfrm>
            <a:off x="9111621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4" name="Rectangle 53">
            <a:hlinkClick action="ppaction://hlinksldjump" r:id="rId21"/>
          </p:cNvPr>
          <p:cNvSpPr/>
          <p:nvPr/>
        </p:nvSpPr>
        <p:spPr>
          <a:xfrm>
            <a:off x="963253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lide navigation 19" descr="Click to navigate to slide 19 of 22">
            <a:hlinkClick action="ppaction://hlinksldjump" r:id="rId21"/>
          </p:cNvPr>
          <p:cNvSpPr txBox="1"/>
          <p:nvPr/>
        </p:nvSpPr>
        <p:spPr>
          <a:xfrm>
            <a:off x="961425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6" name="Rectangle 55">
            <a:hlinkClick action="ppaction://hlinksldjump" r:id="rId22"/>
          </p:cNvPr>
          <p:cNvSpPr/>
          <p:nvPr/>
        </p:nvSpPr>
        <p:spPr>
          <a:xfrm>
            <a:off x="10135168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lide navigation 20" descr="Click to navigate to slide 20 of 22">
            <a:hlinkClick action="ppaction://hlinksldjump" r:id="rId22"/>
          </p:cNvPr>
          <p:cNvSpPr txBox="1"/>
          <p:nvPr/>
        </p:nvSpPr>
        <p:spPr>
          <a:xfrm>
            <a:off x="10116880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8" name="Rectangle 57">
            <a:hlinkClick action="ppaction://hlinksldjump" r:id="rId23"/>
          </p:cNvPr>
          <p:cNvSpPr/>
          <p:nvPr/>
        </p:nvSpPr>
        <p:spPr>
          <a:xfrm>
            <a:off x="10637797" y="6309360"/>
            <a:ext cx="466053" cy="45720"/>
          </a:xfrm>
          <a:prstGeom prst="rect">
            <a:avLst/>
          </a:prstGeom>
          <a:solidFill>
            <a:srgbClr val="1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lide navigation 21" descr="Click to navigate to slide 21 of 22">
            <a:hlinkClick action="ppaction://hlinksldjump" r:id="rId23"/>
          </p:cNvPr>
          <p:cNvSpPr txBox="1"/>
          <p:nvPr/>
        </p:nvSpPr>
        <p:spPr>
          <a:xfrm>
            <a:off x="10619509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0" name="Rectangle 59">
            <a:hlinkClick action="ppaction://hlinksldjump" r:id="rId24"/>
          </p:cNvPr>
          <p:cNvSpPr/>
          <p:nvPr/>
        </p:nvSpPr>
        <p:spPr>
          <a:xfrm>
            <a:off x="11140426" y="6293815"/>
            <a:ext cx="466053" cy="76809"/>
          </a:xfrm>
          <a:prstGeom prst="rect">
            <a:avLst/>
          </a:prstGeom>
          <a:solidFill>
            <a:srgbClr val="2F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lide navigation 22" descr="Click to navigate to slide 22 of 22">
            <a:hlinkClick action="ppaction://hlinksldjump" r:id="rId24"/>
          </p:cNvPr>
          <p:cNvSpPr txBox="1"/>
          <p:nvPr/>
        </p:nvSpPr>
        <p:spPr>
          <a:xfrm>
            <a:off x="11122138" y="6236208"/>
            <a:ext cx="502629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2" name="Rectangle 61"/>
          <p:cNvSpPr/>
          <p:nvPr/>
        </p:nvSpPr>
        <p:spPr>
          <a:xfrm>
            <a:off x="566928" y="6455664"/>
            <a:ext cx="11057839" cy="9144"/>
          </a:xfrm>
          <a:prstGeom prst="rect">
            <a:avLst/>
          </a:prstGeom>
          <a:solidFill>
            <a:srgbClr val="2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6510528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Segoe UI"/>
              </a:rPr>
              <a:t>RetainIQ · Signal Ops Console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8CA0BE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