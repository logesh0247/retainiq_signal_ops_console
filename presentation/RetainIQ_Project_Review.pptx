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Frame the pain, then the four questions — they structure the entire</a:t>
            </a:r>
          </a:p>
          <a:p>
            <a:r>
              <a:t>solution. Finish on the donut: "Notice the trap. If I predict nobody churns I'm</a:t>
            </a:r>
          </a:p>
          <a:p>
            <a:r>
              <a:t>73.46% accurate and completely useless. That single number is why no model in</a:t>
            </a:r>
          </a:p>
          <a:p>
            <a:r>
              <a:t>this deck is chosen on accuracy."</a:t>
            </a:r>
          </a:p>
          <a:p>
            <a:r>
              <a:t>That line earns credibility early and sets up Phase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(1:55–2:35)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(2:35–3:20)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(3:20–4:05)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(4:05–4:35)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(4:35–5:05)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(5:05–5:55)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(5:55–6:25)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(6:25–7:05)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(7:05–7:40) Left chart: "this is who the high-risk band is — every one of them is</a:t>
            </a:r>
          </a:p>
          <a:p>
            <a:r>
              <a:t>month-to-month, 91% are on fiber optic, 95% have no online security, and they</a:t>
            </a:r>
          </a:p>
          <a:p>
            <a:r>
              <a:t>average under ten months of tenure."</a:t>
            </a:r>
          </a:p>
          <a:p>
            <a:r>
              <a:t>Right: "and for a single customer the app names which of those factors pushed</a:t>
            </a:r>
          </a:p>
          <a:p>
            <a:r>
              <a:t>this particular score."</a:t>
            </a:r>
          </a:p>
          <a:p>
            <a:r>
              <a:t>If asked about SHAP: "I ran the SHAP analysis during experimentation; the</a:t>
            </a:r>
          </a:p>
          <a:p>
            <a:r>
              <a:t>deployed model is linear, so I explain it with coefficients — same information,</a:t>
            </a:r>
          </a:p>
          <a:p>
            <a:r>
              <a:t>no runtime cost." Do not overclaim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(7:40–8:15) "A probability isn't something a retention agent can act on, so I cut</a:t>
            </a:r>
          </a:p>
          <a:p>
            <a:r>
              <a:t>it into three bands."</a:t>
            </a:r>
          </a:p>
          <a:p>
            <a:r>
              <a:t>Then the validation, which is the point of the slide: "I checked the bands against</a:t>
            </a:r>
          </a:p>
          <a:p>
            <a:r>
              <a:t>the real churn labels. Low risk actually churns 9.5%, medium 42%, high 73%. The</a:t>
            </a:r>
          </a:p>
          <a:p>
            <a:r>
              <a:t>band is a genuine ordering of risk, not a cosmetic split."</a:t>
            </a:r>
          </a:p>
          <a:p>
            <a:r>
              <a:t>Close operationally: "the team starts with 1,135 customers instead 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(8:15–8:50) "Prediction alone doesn't retain anyone."</a:t>
            </a:r>
          </a:p>
          <a:p>
            <a:r>
              <a:t>Show the offer list — note the biggest group is a contract-upgrade nudge, which</a:t>
            </a:r>
          </a:p>
          <a:p>
            <a:r>
              <a:t>follows directly from the Phase 04 finding about month-to-month risk.</a:t>
            </a:r>
          </a:p>
          <a:p>
            <a:r>
              <a:t>Then be precise about money: "this is monthly revenue at risk — exposure, $92,539</a:t>
            </a:r>
          </a:p>
          <a:p>
            <a:r>
              <a:t>a month sitting in the high-risk band. I deliberately do not 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(8:50–9:15) "The machine learning app answers what is likely to happen. Power BI</a:t>
            </a:r>
          </a:p>
          <a:p>
            <a:r>
              <a:t>answers what already happened and why — and it's what a non-technical</a:t>
            </a:r>
          </a:p>
          <a:p>
            <a:r>
              <a:t>stakeholder actually opens."</a:t>
            </a:r>
          </a:p>
          <a:p>
            <a:r>
              <a:t>Four pages: executive overview, customer insights, risk intelligence, retention</a:t>
            </a:r>
          </a:p>
          <a:p>
            <a:r>
              <a:t>strategy. One sentence each, don't linger. Point out the underlined .pbit link —</a:t>
            </a:r>
          </a:p>
          <a:p>
            <a:r>
              <a:t>it opens the reusable report template in the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(9:15–9:45) This is the demo slide. If the live site is warm, switch to it for</a:t>
            </a:r>
          </a:p>
          <a:p>
            <a:r>
              <a:t>thirty seconds; otherwise walk the screenshots.</a:t>
            </a:r>
          </a:p>
          <a:p>
            <a:r>
              <a:t>"Upload a portfolio, validate it before scoring, then read churn rate, risk</a:t>
            </a:r>
          </a:p>
          <a:p>
            <a:r>
              <a:t>distribution and revenue at risk — and drill into any single customer."</a:t>
            </a:r>
          </a:p>
          <a:p>
            <a:r>
              <a:t>One engineering detail worth a sentence: "reports are scoped to the visitor with</a:t>
            </a:r>
          </a:p>
          <a:p>
            <a:r>
              <a:t>a signed cookie, so users never see each other's data — that has its own unit</a:t>
            </a:r>
          </a:p>
          <a:p>
            <a:r>
              <a:t>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(9:45–10:10) Don't list technology here — that's the next slide. This slide is</a:t>
            </a:r>
          </a:p>
          <a:p>
            <a:r>
              <a:t>about the production problems, which is what actually separates a notebook from</a:t>
            </a:r>
          </a:p>
          <a:p>
            <a:r>
              <a:t>a deployed service.</a:t>
            </a:r>
          </a:p>
          <a:p>
            <a:r>
              <a:t>"Four things broke or nearly broke when this left my laptop: slow scoring hitting</a:t>
            </a:r>
          </a:p>
          <a:p>
            <a:r>
              <a:t>the worker timeout, the model being reloaded per request, memory creeping until</a:t>
            </a:r>
          </a:p>
          <a:p>
            <a:r>
              <a:t>the platform killed the worker, and the free tier sleeping."</a:t>
            </a:r>
          </a:p>
          <a:p>
            <a:r>
              <a:t>Then the honest operational note: "which means if you scan the QR at the end, and</a:t>
            </a:r>
          </a:p>
          <a:p>
            <a:r>
              <a:t>the app has been idle, you'll wait about a minute for it to wake up. I'll warm it</a:t>
            </a:r>
          </a:p>
          <a:p>
            <a:r>
              <a:t>before we start."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(10:10–10:35) Use the logos as visual anchors; do not read the lists line by line.</a:t>
            </a:r>
          </a:p>
          <a:p>
            <a:r>
              <a:t>"Python, pandas and NumPy handle the data. Scikit-learn trains the deployed</a:t>
            </a:r>
          </a:p>
          <a:p>
            <a:r>
              <a:t>Logistic Regression; Flask and FastAPI expose it; Docker, Render and GitHub carry</a:t>
            </a:r>
          </a:p>
          <a:p>
            <a:r>
              <a:t>it to production; Power BI presents the business view."</a:t>
            </a:r>
          </a:p>
          <a:p>
            <a:r>
              <a:t>SHAP was explored only in research; the production explanations come from the</a:t>
            </a:r>
          </a:p>
          <a:p>
            <a:r>
              <a:t>Logistic Regression coefficients. One shared Python package keeps training and</a:t>
            </a:r>
          </a:p>
          <a:p>
            <a:r>
              <a:t>serving on the same preprocessing and scoring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(10:35–11:05) Most students hide this slide. Put it up and read it.</a:t>
            </a:r>
          </a:p>
          <a:p>
            <a:r>
              <a:t>"Three things I would not do with this model today. I wouldn't trust it on a</a:t>
            </a:r>
          </a:p>
          <a:p>
            <a:r>
              <a:t>different market — it has only ever seen one telecom. I wouldn't quote revenue as</a:t>
            </a:r>
          </a:p>
          <a:p>
            <a:r>
              <a:t>savings, only as exposure. And I wouldn't ship a retention campaign aimed at</a:t>
            </a:r>
          </a:p>
          <a:p>
            <a:r>
              <a:t>senior citizens without a bias audit — they churn at 41.7%, nearly double the</a:t>
            </a:r>
          </a:p>
          <a:p>
            <a:r>
              <a:t>base rate, so a risk-optimising model will concentrate offers on them."</a:t>
            </a:r>
          </a:p>
          <a:p>
            <a:r>
              <a:t>Then close the loop: "and the fix for the recall number is already measured — 0.35</a:t>
            </a:r>
          </a:p>
          <a:p>
            <a:r>
              <a:t>catches 71.7%. That's the next cycle, which starts back at Phase 02 with drift</a:t>
            </a:r>
          </a:p>
          <a:p>
            <a:r>
              <a:t>monitoring."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(11:05–11:30) Leave this slide up for questions. It puts the live URL and</a:t>
            </a:r>
          </a:p>
          <a:p>
            <a:r>
              <a:t>a scannable QR in front of the examiner and ends on the thesis, not a tool list.</a:t>
            </a:r>
          </a:p>
          <a:p>
            <a:r>
              <a:t>"The contribution isn't the 80% — it's that a probability becomes a prioritised,</a:t>
            </a:r>
          </a:p>
          <a:p>
            <a:r>
              <a:t>explained, costed action, in a product a retention team can actually open. Thank</a:t>
            </a:r>
          </a:p>
          <a:p>
            <a:r>
              <a:t>you — happy to take questions."</a:t>
            </a:r>
          </a:p>
          <a:p>
            <a:r>
              <a:t>Offer the demo: "if you'd like, I can upload a customer file and score it live."</a:t>
            </a:r>
          </a:p>
          <a:p>
            <a:r>
              <a:t>Remember the free tier sleeps — warm the app before you present.</a:t>
            </a:r>
          </a:p>
          <a:p/>
          <a:p>
            <a:r>
              <a:t>LIKELY QUESTIONS</a:t>
            </a:r>
          </a:p>
          <a:p>
            <a:r>
              <a:t>· Why not deep learning? 1,409 test rows and a largely linear signal; the four-way</a:t>
            </a:r>
          </a:p>
          <a:p>
            <a:r>
              <a:t>  benchmark supports the simpler model, and it stays explainable.</a:t>
            </a:r>
          </a:p>
          <a:p>
            <a:r>
              <a:t>· Why is recall low? The 0.5 threshold is a default. Phase 08 shows 0.35 catches</a:t>
            </a:r>
          </a:p>
          <a:p>
            <a:r>
              <a:t>  71.7%, and balanced class weights reach 77.81% recall at identical ROC-AUC.</a:t>
            </a:r>
          </a:p>
          <a:p>
            <a:r>
              <a:t>· Isn't revenue-at-risk optimistic? It's exposure, not savings — the deck and the</a:t>
            </a:r>
          </a:p>
          <a:p>
            <a:r>
              <a:t>  app both say so; validating it needs a live campaign.</a:t>
            </a:r>
          </a:p>
          <a:p>
            <a:r>
              <a:t>· How do you know it isn't leakage? Churn Score, Reason, Category and Status are</a:t>
            </a:r>
          </a:p>
          <a:p>
            <a:r>
              <a:t>  post-outcome fields and were dropped before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hyperlink" Target="https://github.com/Logesh0247/RetainIQ_Signal_Ops_Console/blob/main/Power_BI_dashboard/dashboard_template.pbit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4362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Three acts — the signal fades (I), reading the signal (II), the signal recovered (III). Every slide names its phase in the footer.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problem: retention is still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Reports explain what happened. They do not say who leaves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989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Churn compounds.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26.54% of this customer base churned — 1,869 of 7,043 customers.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Dashboards describe, they do not prioritise.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Knowing last quarter's churn rate does not tell a retention team whom to call today.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Generic campaigns waste budget.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Blanket offers discount loyal customers and still miss the ones about to leave.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041648"/>
            <a:ext cx="32004" cy="804671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Who is likely to churn?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Predicted churn probability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1024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1024" y="4041648"/>
            <a:ext cx="32004" cy="804671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1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Why are they at risk?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Feature contributions behind each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266944"/>
            <a:ext cx="32004" cy="80467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should we do?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A retention action matched to the risk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5266944"/>
            <a:ext cx="32004" cy="804671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is at stake?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Monthly recurring revenue exposed in each risk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17007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THE BASE RATE</a:t>
            </a:r>
          </a:p>
        </p:txBody>
      </p:sp>
      <p:pic>
        <p:nvPicPr>
          <p:cNvPr id="21" name="Picture 20" descr="chart_chur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796" y="1956815"/>
            <a:ext cx="3566159" cy="35661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87184" y="5614416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Segoe UI"/>
              </a:rPr>
              <a:t>1,869 churned · 5,174 retained of 7,043. Predicting "nobody churns" is already 73.46% accurate — which is why accuracy alone decides nothing here.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036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2755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09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315200" cy="367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47303" y="1517904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3" y="1664207"/>
            <a:ext cx="3111703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3" y="3941063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4069079"/>
            <a:ext cx="3111703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STATED PRECISELY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project; summary, bar, dependence and waterfall plots are in the repository. Production explanation is aligned to the deployed Logistic Regression instead — accurate for a linear model, and it costs nothing at request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09 · EXPLAINABILITY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10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96896"/>
            <a:ext cx="7059168" cy="34738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651760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798064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507992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4654296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— 16.1% of the base, where 73% will actually leave — carrying $92,539 of recurring monthly charges.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10 · RISK SEGMENTATION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11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39" cy="28187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17904"/>
            <a:ext cx="4352544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82495"/>
            <a:ext cx="4023360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Driven by each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18304"/>
            <a:ext cx="6492240" cy="14996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6126479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inside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718304"/>
            <a:ext cx="4352544" cy="14996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864608"/>
            <a:ext cx="40233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130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11 · RETENTION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12  · 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descriptive layer beneath the predictions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four-page Power BI dashboard for the people who fund the retention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491" y="1517904"/>
            <a:ext cx="5233273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87" y="1600200"/>
            <a:ext cx="5068681" cy="28163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53835" y="1517904"/>
            <a:ext cx="5234025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00200"/>
            <a:ext cx="5069433" cy="28163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36592"/>
            <a:ext cx="32004" cy="93268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Executive overview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Portfolio KPIs, churn rate and revenue in one view for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2535" y="4736592"/>
            <a:ext cx="32004" cy="93268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5415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Customer insights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Where churn concentrates — contract, tenure, service mix.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736592"/>
            <a:ext cx="32004" cy="93268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Risk intelligence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The scored risk distribution carried into BI.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3751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4736592"/>
            <a:ext cx="32004" cy="932688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6631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5C6C"/>
                </a:solidFill>
                <a:latin typeface="Segoe UI"/>
              </a:rPr>
              <a:t>Retention strategy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Which actions are recommended, and to how many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07024"/>
            <a:ext cx="11057839" cy="31089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92531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4"/>
              </a:rPr>
              <a:t>OPEN THE EDITABLE POWER BI TEMPLATE (.PBIT)  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474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12 · BUSINESS 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13  · 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working Flask application — bulk scoring, dashboard, private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.predic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4644813" cy="3531648"/>
          </a:xfrm>
          <a:prstGeom prst="rect">
            <a:avLst/>
          </a:prstGeom>
        </p:spPr>
      </p:pic>
      <p:pic>
        <p:nvPicPr>
          <p:cNvPr id="8" name="Picture 7" descr="04.Bulk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909" y="1517904"/>
            <a:ext cx="6211857" cy="353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93791"/>
            <a:ext cx="11057839" cy="1024127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21807"/>
            <a:ext cx="857067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80" b="1">
                <a:solidFill>
                  <a:srgbClr val="2FD8B4"/>
                </a:solidFill>
                <a:latin typeface="Consolas"/>
              </a:rPr>
              <a:t>WHAT A REVIEWER DOES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Upload a CSV  →  validate the file before scoring  →  score the whole portfolio
Read churn rate, risk split and revenue at risk  →  drill into a customer  →  download a private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3087" y="5321807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40" b="1">
                <a:solidFill>
                  <a:srgbClr val="8CA0BE"/>
                </a:solidFill>
                <a:latin typeface="Consolas"/>
              </a:rPr>
              <a:t>REPORTS ARE PRIVATE — SCOPED BY SIGNED COOKIE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13 · WEB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14  ·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Making it survive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Free-tier hosting is unforgiving — these are the four problems it creates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7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82495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Slow scoring on a shared CPU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 large CSV can take far longer than the default 30-second worker timeout, so the worker is killed mid-request and the browser shows a 502.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300-second timeout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4719" y="1664207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4175" y="1682495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Reloading the model per request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Reading the pickled model on every request wastes the little memory the instance has.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worker preload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584448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602736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Memory creeping past the limit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 long-lived worker grows until the platform OOM-kills it, which surfaces as a random error.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request recycling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4719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3584448"/>
            <a:ext cx="32004" cy="148132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4175" y="3602736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The free tier sleeps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An idle instance is suspended, so the first visitor waits for a cold start.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F5A623"/>
                </a:solidFill>
                <a:latin typeface="Consolas"/>
              </a:rPr>
              <a:t>→ fixed by warm it before demoing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58383"/>
            <a:ext cx="11057839" cy="85953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486399"/>
            <a:ext cx="10692079" cy="621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SHIPPED AS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Gunicorn with a threaded worker · Dockerfile and Procfile · version-pinned requirements · hosted on Render, where the application answers at the URL on the closing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14 · DEPLOYMENT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Tools behind the RetainIQ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shared Python path keeps model training and live scoring in sync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83464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1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1">
                <a:solidFill>
                  <a:srgbClr val="8CA0BE"/>
                </a:solidFill>
                <a:latin typeface="Consolas"/>
              </a:rPr>
              <a:t>TOOLS 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029967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3911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029967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483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284" y="303580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895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911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5164" y="303580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8483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Flask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04164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FastAPI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3911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ock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5164" y="404164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8483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Docker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werb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360" y="5047488"/>
            <a:ext cx="287895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Power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5164" y="5047488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GitHub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84448" y="1517904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84448" y="1517904"/>
            <a:ext cx="41148" cy="1078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5616" y="1645919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2FD8B4"/>
                </a:solidFill>
                <a:latin typeface="Consolas"/>
              </a:rPr>
              <a:t>LANGUAGE &amp; DATA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Python 3.11 · Pandas · NumPy · SQL Server · SQLAlchemy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2724911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84448" y="2724911"/>
            <a:ext cx="41148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5616" y="2852927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5A623"/>
                </a:solidFill>
                <a:latin typeface="Consolas"/>
              </a:rPr>
              <a:t>MACHINE LEARNING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Scikit-learn · Logistic Regression (deployed) ·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XGBoost · LightGBM · Joblib · SHAP (research only)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84448" y="3931920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84448" y="3931920"/>
            <a:ext cx="41148" cy="1078992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6" y="4059935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4C8DFF"/>
                </a:solidFill>
                <a:latin typeface="Consolas"/>
              </a:rPr>
              <a:t>WEB APPLICATION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Flask · Jinja2 · HTML5/CSS3 · Vanilla JavaScript · Gunicorn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5138927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84448" y="5138927"/>
            <a:ext cx="41148" cy="10789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266943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F5C6C"/>
                </a:solidFill>
                <a:latin typeface="Consolas"/>
              </a:rPr>
              <a:t>API &amp; DELIVERY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FastAPI + Pydantic · Docker · Render · Git/GitHub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Power BI · .pbix report · .pbit template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RESPONSIBLE AI, LIMITS &amp; THE NEXT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this model should not be trusted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Where it breaks, who it might treat unfairly, and what the next cycle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LIMITATIONS — STATED PLAINLY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Trained on historical data from one telecom; behaviour may not transfer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56.95% recall at the deployed threshold — two in five churners missed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live behavioural feed, no drift monitoring, no automatic retraining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Probabilities are not guarantees; recommendations are decision support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Revenue figures are exposure, not realised savings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290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F5C6C"/>
                </a:solidFill>
                <a:latin typeface="Consolas"/>
              </a:rPr>
              <a:t>FAIRNESS — AN OPEN QUESTION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Senior citizens churn at 41.7% — nearly double the base rate. A model optimising for churn risk will systematically concentrate its retention offers on them.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A blanket discount aimed at that group is not neutral; it can read as exploitative pricing.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bias audit has been run. Before this touched real customers, that would be a prerequisite, not a nice-to-have.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8484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4C8DFF"/>
                </a:solidFill>
                <a:latin typeface="Consolas"/>
              </a:rPr>
              <a:t>THE NEXT CYCLE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Move the operating point deliberately — 0.35 catches 71.7% of churners at no cost to F1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Decide the threshold with the business: a wasted offer is cheap, a lost customer is not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Bias audit across age and other protected attributes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Drift detection and scheduled retraining — which sends the project back to Phase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See it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Scan to open the live application and score a customer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5321808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778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4809744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LIVE APPLICATION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00" b="1" u="sng">
                <a:solidFill>
                  <a:srgbClr val="4C8DFF"/>
                </a:solidFill>
                <a:latin typeface="Segoe UI"/>
                <a:hlinkClick r:id="rId2"/>
              </a:rPr>
              <a:t>retainiq-predictive-customer-retention-zq6x.onrender.com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Bulk score a customer CSV, read the dashboard, and download a private report. The model, risk bands, explanations and recommendations run live — the same code paths that produced every figure in this deck.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SOURCE CODE</a:t>
            </a:r>
          </a:p>
          <a:p>
            <a:pPr algn="l">
              <a:lnSpc>
                <a:spcPct val="116000"/>
              </a:lnSpc>
              <a:spcAft>
                <a:spcPts val="1200"/>
              </a:spcAft>
            </a:pPr>
            <a:r>
              <a:rPr sz="1060" b="0" u="sng">
                <a:solidFill>
                  <a:srgbClr val="4C8DFF"/>
                </a:solidFill>
                <a:latin typeface="Consolas"/>
                <a:hlinkClick r:id="rId3"/>
              </a:rPr>
              <a:t>github.com/Logesh0247/RetainIQ_Signal_Ops_Console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Notebooks 01–09, the Flask console, the FastAPI wrapper and the nine-test suite are all in the repository.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F5A623"/>
                </a:solidFill>
                <a:latin typeface="Segoe UI"/>
              </a:rPr>
              <a:t>The host is a free tier — open it once a minute before the review so the first scan is 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1517904"/>
            <a:ext cx="2724912" cy="39684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_live_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719072"/>
            <a:ext cx="2615184" cy="2615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86460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SCAN FOR THE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LIVE APPLICATION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6528" y="1517904"/>
            <a:ext cx="2825496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reposi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1737360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408" y="1773936"/>
            <a:ext cx="6035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SOURCE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2999232"/>
            <a:ext cx="24597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EAF0F7"/>
                </a:solidFill>
                <a:latin typeface="Segoe UI"/>
              </a:rPr>
              <a:t>Thank you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2FD8B4"/>
                </a:solidFill>
                <a:latin typeface="Segoe UI"/>
              </a:rPr>
              <a:t>Questions welcome.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RetainIQ — from a churn probability to a prioritised, explained, costed retention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04120" y="4795113"/>
            <a:ext cx="89382" cy="170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59568" y="4670755"/>
            <a:ext cx="89382" cy="29535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15016" y="4546396"/>
            <a:ext cx="89382" cy="4197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70464" y="4422038"/>
            <a:ext cx="89382" cy="54406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725912" y="4297680"/>
            <a:ext cx="89382" cy="6684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66928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Consolas"/>
              </a:rPr>
              <a:t>Logesh S.  ·  B.Sc. Data Science  ·  RetainIQ Signal Ops Console  ·  80.34% accuracy  ·  84.91% ROC-AUC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