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(0:00–0:35). "Good morning. A telecom knows it lost a quarter of its</a:t>
            </a:r>
          </a:p>
          <a:p>
            <a:r>
              <a:t>customers last year. What it cannot tell you is who leaves next month, why, or</a:t>
            </a:r>
          </a:p>
          <a:p>
            <a:r>
              <a:t>what to do about it. That gap is the whole project.</a:t>
            </a:r>
          </a:p>
          <a:p/>
          <a:p>
            <a:r>
              <a:t>RetainIQ reads a customer's weakening signal — from raw records, to a predicted</a:t>
            </a:r>
          </a:p>
          <a:p>
            <a:r>
              <a:t>probability, to an explained reason, to a recommended action, and finally to the</a:t>
            </a:r>
          </a:p>
          <a:p>
            <a:r>
              <a:t>revenue that action protects. 80.34% accuracy, 84.91% ROC-AUC, 7,043 customers</a:t>
            </a:r>
          </a:p>
          <a:p>
            <a:r>
              <a:t>scored, and $92,539 a month of recurring revenue sitting in the high-risk band."</a:t>
            </a:r>
          </a:p>
          <a:p/>
          <a:p>
            <a:r>
              <a:t>Then move — do not read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(0:35–1:05) "Everything I show you maps to one of these fourteen boxes, and the</a:t>
            </a:r>
          </a:p>
          <a:p>
            <a:r>
              <a:t>boxes group into three acts."</a:t>
            </a:r>
          </a:p>
          <a:p>
            <a:r>
              <a:t>Point along the arcs: "Act one, the signal fades — the problem and the data. Act</a:t>
            </a:r>
          </a:p>
          <a:p>
            <a:r>
              <a:t>two, reading the signal — the model work. Act three — what it's worth and the</a:t>
            </a:r>
          </a:p>
          <a:p>
            <a:r>
              <a:t>product."</a:t>
            </a:r>
          </a:p>
          <a:p>
            <a:r>
              <a:t>Promise the structure and then keep it. Do not narrate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(1:05–1:55) Frame the pain, then the four questions — they structure the entire</a:t>
            </a:r>
          </a:p>
          <a:p>
            <a:r>
              <a:t>solution. Finish on the donut: "Notice the trap. If I predict nobody churns I'm</a:t>
            </a:r>
          </a:p>
          <a:p>
            <a:r>
              <a:t>73.46% accurate and completely useless. That single number is why no model in</a:t>
            </a:r>
          </a:p>
          <a:p>
            <a:r>
              <a:t>this deck is chosen on accuracy."</a:t>
            </a:r>
          </a:p>
          <a:p>
            <a:r>
              <a:t>That line earns credibility early and sets up Phase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(1:55–2:35) Quick pass on the tiles. Spend the time on the right-hand callouts:</a:t>
            </a:r>
          </a:p>
          <a:p>
            <a:r>
              <a:t>"the split is stratified, so both halves carry exactly the same 26.54% churn rate</a:t>
            </a:r>
          </a:p>
          <a:p>
            <a:r>
              <a:t>— the model never sees a distorted class balance."</a:t>
            </a:r>
          </a:p>
          <a:p>
            <a:r>
              <a:t>And the parity point: "the 30-column contract is saved next to the model and</a:t>
            </a:r>
          </a:p>
          <a:p>
            <a:r>
              <a:t>tested, so the app cannot silently score on the wrong schema."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(2:35–3:20) Walk the four boxes quickly, then slow down on the leakage callout —</a:t>
            </a:r>
          </a:p>
          <a:p>
            <a:r>
              <a:t>reviewers consistently reward this. "Churn Score and Churn Reason are the</a:t>
            </a:r>
          </a:p>
          <a:p>
            <a:r>
              <a:t>dataset's most seductive columns and they're poison: they only exist after the</a:t>
            </a:r>
          </a:p>
          <a:p>
            <a:r>
              <a:t>customer has left. I dropped them. That is why 80% here is a real 80%."</a:t>
            </a:r>
          </a:p>
          <a:p>
            <a:r>
              <a:t>One sentence on encoding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(3:20–4:05) Three takeaways only, no bar-by-bar narration.</a:t>
            </a:r>
          </a:p>
          <a:p>
            <a:r>
              <a:t>"Month-to-month is a 15× risk multiplier."</a:t>
            </a:r>
          </a:p>
          <a:p>
            <a:r>
              <a:t>"Risk is front-loaded — year one is where retention money belongs."</a:t>
            </a:r>
          </a:p>
          <a:p>
            <a:r>
              <a:t>"And the story is service experience, not just price: fiber optic, no security,</a:t>
            </a:r>
          </a:p>
          <a:p>
            <a:r>
              <a:t>no support."</a:t>
            </a:r>
          </a:p>
          <a:p>
            <a:r>
              <a:t>Bridge out: "these are the patterns the model later recovered on its own — and</a:t>
            </a:r>
          </a:p>
          <a:p>
            <a:r>
              <a:t>what the recommendation engine acts 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(4:05–4:35) Short slide, but it answers a question examiners like: "why did you</a:t>
            </a:r>
          </a:p>
          <a:p>
            <a:r>
              <a:t>encode it that way?"</a:t>
            </a:r>
          </a:p>
          <a:p>
            <a:r>
              <a:t>"Three continuous measures. Everything else is a yes/no flag — because numbering</a:t>
            </a:r>
          </a:p>
          <a:p>
            <a:r>
              <a:t>DSL as 1 and Fiber as 2 would invent an ordering that isn't real."</a:t>
            </a:r>
          </a:p>
          <a:p>
            <a:r>
              <a:t>Then the contract point: "the 30 column names are saved with the model and</a:t>
            </a:r>
          </a:p>
          <a:p>
            <a:r>
              <a:t>checked at scoring time, so a schema mismatch fails loudly instead of silently</a:t>
            </a:r>
          </a:p>
          <a:p>
            <a:r>
              <a:t>producing garbage."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(4:35–5:05) "Same features, same split, same code path — the only thing that</a:t>
            </a:r>
          </a:p>
          <a:p>
            <a:r>
              <a:t>changes is the algorithm."</a:t>
            </a:r>
          </a:p>
          <a:p>
            <a:r>
              <a:t>Then the key observation: Logistic Regression leads on F1 and ROC-AUC, with</a:t>
            </a:r>
          </a:p>
          <a:p>
            <a:r>
              <a:t>LightGBM a close second. Say why it matters: "churn here is largely linear in the</a:t>
            </a:r>
          </a:p>
          <a:p>
            <a:r>
              <a:t>encoded features, so the simplest model wins — and that also buys me</a:t>
            </a:r>
          </a:p>
          <a:p>
            <a:r>
              <a:t>explainability for free." That sets up Phase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(5:05–5:55) The credibility slide — slow down.</a:t>
            </a:r>
          </a:p>
          <a:p>
            <a:r>
              <a:t>"1,409 customers held back entirely. 919 stayed and were correctly left alone;</a:t>
            </a:r>
          </a:p>
          <a:p>
            <a:r>
              <a:t>116 were flagged unnecessarily; 161 churners were missed; 213 caught."</a:t>
            </a:r>
          </a:p>
          <a:p>
            <a:r>
              <a:t>Then the stability point, which most projects never show: "five-fold</a:t>
            </a:r>
          </a:p>
          <a:p>
            <a:r>
              <a:t>cross-validation gives 62.11% F1 with a 2.96 standard deviation, and my deployed</a:t>
            </a:r>
          </a:p>
          <a:p>
            <a:r>
              <a:t>result sits inside it. So this is a stable result, not a lucky split."</a:t>
            </a:r>
          </a:p>
          <a:p>
            <a:r>
              <a:t>Then own the weakness: "recall is 56.95% — that is the one number I would fix</a:t>
            </a:r>
          </a:p>
          <a:p>
            <a:r>
              <a:t>first, and I'll show you exactly how on the next slide."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(5:55–6:25) "Four algorithms, identical treatment. Look at how close they are —</a:t>
            </a:r>
          </a:p>
          <a:p>
            <a:r>
              <a:t>LightGBM is within 0.28 of a point on accuracy. If I had picked on accuracy I'd</a:t>
            </a:r>
          </a:p>
          <a:p>
            <a:r>
              <a:t>have picked a harder model to explain, for no real gain."</a:t>
            </a:r>
          </a:p>
          <a:p>
            <a:r>
              <a:t>Then state the rule: "I selected on F1 and ROC-AUC, because what matters</a:t>
            </a:r>
          </a:p>
          <a:p>
            <a:r>
              <a:t>operationally is ranking risk, not classifying the majority correctly."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(6:25–7:05) This is the strongest slide in the deck — give it time.</a:t>
            </a:r>
          </a:p>
          <a:p>
            <a:r>
              <a:t>"0.5 is a library default, not a business decision. So I measured the whole range."</a:t>
            </a:r>
          </a:p>
          <a:p>
            <a:r>
              <a:t>Point at the crossing: "at 0.35 I catch 71.7% of churners instead of 57% — and F1</a:t>
            </a:r>
          </a:p>
          <a:p>
            <a:r>
              <a:t>actually goes UP, not down."</a:t>
            </a:r>
          </a:p>
          <a:p>
            <a:r>
              <a:t>Then the diagnostic proof, which is the real insight: "I retrained with balanced</a:t>
            </a:r>
          </a:p>
          <a:p>
            <a:r>
              <a:t>class weights. Recall goes from 56.95 to 77.81, and ROC-AUC doesn't move —</a:t>
            </a:r>
          </a:p>
          <a:p>
            <a:r>
              <a:t>84.89 versus 84.90. The model was already ranking customers correctly. Only the</a:t>
            </a:r>
          </a:p>
          <a:p>
            <a:r>
              <a:t>cut-off was discarding them."</a:t>
            </a:r>
          </a:p>
          <a:p>
            <a:r>
              <a:t>Then be honest: "it stays at 0.5 in production today because moving it is a</a:t>
            </a:r>
          </a:p>
          <a:p>
            <a:r>
              <a:t>business decision about the cost of a wasted offer versus a lost customer — not</a:t>
            </a:r>
          </a:p>
          <a:p>
            <a:r>
              <a:t>something I should silently change."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(7:05–7:40) Left chart: "this is who the high-risk band is — every one of them is</a:t>
            </a:r>
          </a:p>
          <a:p>
            <a:r>
              <a:t>month-to-month, 91% are on fiber optic, 95% have no online security, and they</a:t>
            </a:r>
          </a:p>
          <a:p>
            <a:r>
              <a:t>average under ten months of tenure."</a:t>
            </a:r>
          </a:p>
          <a:p>
            <a:r>
              <a:t>Right: "and for a single customer the app names which of those factors pushed</a:t>
            </a:r>
          </a:p>
          <a:p>
            <a:r>
              <a:t>this particular score."</a:t>
            </a:r>
          </a:p>
          <a:p>
            <a:r>
              <a:t>If asked about SHAP: "I ran the SHAP analysis during experimentation; the</a:t>
            </a:r>
          </a:p>
          <a:p>
            <a:r>
              <a:t>deployed model is linear, so I explain it with coefficients — same information,</a:t>
            </a:r>
          </a:p>
          <a:p>
            <a:r>
              <a:t>no runtime cost." Do not overclaim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(7:40–8:15) "A probability isn't something a retention agent can act on, so I cut</a:t>
            </a:r>
          </a:p>
          <a:p>
            <a:r>
              <a:t>it into three bands."</a:t>
            </a:r>
          </a:p>
          <a:p>
            <a:r>
              <a:t>Then the validation, which is the point of the slide: "I checked the bands against</a:t>
            </a:r>
          </a:p>
          <a:p>
            <a:r>
              <a:t>the real churn labels. Low risk actually churns 9.5%, medium 42%, high 73%. The</a:t>
            </a:r>
          </a:p>
          <a:p>
            <a:r>
              <a:t>band is a genuine ordering of risk, not a cosmetic split."</a:t>
            </a:r>
          </a:p>
          <a:p>
            <a:r>
              <a:t>Close operationally: "the team starts with 1,135 customers instead of 7,043."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(8:15–8:50) "Prediction alone doesn't retain anyone."</a:t>
            </a:r>
          </a:p>
          <a:p>
            <a:r>
              <a:t>Show the offer list — note the biggest group is a contract-upgrade nudge, which</a:t>
            </a:r>
          </a:p>
          <a:p>
            <a:r>
              <a:t>follows directly from the Phase 04 finding about month-to-month risk.</a:t>
            </a:r>
          </a:p>
          <a:p>
            <a:r>
              <a:t>Then be precise about money: "this is monthly revenue at risk — exposure, $92,539</a:t>
            </a:r>
          </a:p>
          <a:p>
            <a:r>
              <a:t>a month sitting in the high-risk band. I deliberately do not call it savings."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(8:50–9:15) "The machine learning app answers what is likely to happen. Power BI</a:t>
            </a:r>
          </a:p>
          <a:p>
            <a:r>
              <a:t>answers what already happened and why — and it's what a non-technical</a:t>
            </a:r>
          </a:p>
          <a:p>
            <a:r>
              <a:t>stakeholder actually opens."</a:t>
            </a:r>
          </a:p>
          <a:p>
            <a:r>
              <a:t>Four pages: executive overview, customer insights, risk intelligence, retention</a:t>
            </a:r>
          </a:p>
          <a:p>
            <a:r>
              <a:t>strategy. One sentence each, don't linger. Point out the underlined .pbit link —</a:t>
            </a:r>
          </a:p>
          <a:p>
            <a:r>
              <a:t>it opens the reusable report template in the project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(9:15–9:45) This is the demo slide. If the live site is warm, switch to it for</a:t>
            </a:r>
          </a:p>
          <a:p>
            <a:r>
              <a:t>thirty seconds; otherwise walk the screenshots.</a:t>
            </a:r>
          </a:p>
          <a:p>
            <a:r>
              <a:t>"Upload a portfolio, validate it before scoring, then read churn rate, risk</a:t>
            </a:r>
          </a:p>
          <a:p>
            <a:r>
              <a:t>distribution and revenue at risk — and drill into any single customer."</a:t>
            </a:r>
          </a:p>
          <a:p>
            <a:r>
              <a:t>One engineering detail worth a sentence: "reports are scoped to the visitor with</a:t>
            </a:r>
          </a:p>
          <a:p>
            <a:r>
              <a:t>a signed cookie, so users never see each other's data — that has its own unit</a:t>
            </a:r>
          </a:p>
          <a:p>
            <a:r>
              <a:t>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hyperlink" Target="https://github.com/Logesh0247/RetainIQ_Signal_Ops_Console/blob/main/Power_BI_dashboard/dashboard_template.pbit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FINAL YEAR PROJECT   ·   B.SC. DATA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950976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5400" b="1">
                <a:solidFill>
                  <a:srgbClr val="EAF0F7"/>
                </a:solidFill>
                <a:latin typeface="Segoe UI"/>
              </a:rPr>
              <a:t>RetainIQ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Signal Ops Console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27248"/>
            <a:ext cx="1920240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3280"/>
            <a:ext cx="7406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>
                <a:solidFill>
                  <a:srgbClr val="8CA0BE"/>
                </a:solidFill>
                <a:latin typeface="Segoe UI"/>
              </a:rPr>
              <a:t>An explainable machine learning platform for customer churn prediction, risk intelligence and retention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4120" y="2242108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96144" y="2088489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88168" y="1934870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80192" y="1781251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72216" y="1627631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5493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2" b="0">
                <a:solidFill>
                  <a:srgbClr val="8CA0BE"/>
                </a:solidFill>
                <a:latin typeface="Consolas"/>
              </a:rPr>
              <a:t>signal strength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TEST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4C8DFF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CUSTOMERS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7" y="4498848"/>
            <a:ext cx="4197096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626864"/>
            <a:ext cx="3941063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FF5C6C"/>
                </a:solidFill>
                <a:latin typeface="Segoe UI"/>
              </a:rPr>
              <a:t>$92,539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MONTHLY REVENUE AT RISK IN THE HIGH-RISK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77658"/>
            <a:ext cx="11064240" cy="676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Logesh S.   ·   B.Sc. Data Science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80" b="0" u="sng">
                <a:solidFill>
                  <a:srgbClr val="4C8DFF"/>
                </a:solidFill>
                <a:latin typeface="Consolas"/>
                <a:hlinkClick r:id="rId2"/>
              </a:rPr>
              <a:t>LIVE APP  ↗  retainiq-predictive-customer-retention-zq6x.onrender.com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0" u="sng">
                <a:solidFill>
                  <a:srgbClr val="8CA0BE"/>
                </a:solidFill>
                <a:latin typeface="Consolas"/>
                <a:hlinkClick r:id="rId3"/>
              </a:rPr>
              <a:t>SOURCE  ↗  github.com/Logesh0247/RetainIQ_Signal_Ops_Console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THE DEVELOPMENT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Fourteen phases, three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This is the map for the whole talk — every slide that follows is one of these boxes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1057839" cy="34362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596128"/>
            <a:ext cx="11057839" cy="62179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724144"/>
            <a:ext cx="106920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HOW TO READ THE DECK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Three acts — the signal fades (I), reading the signal (II), the signal recovered (III). Every slide names its phase in the footer.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BUSINESS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problem: retention is still reactive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Reports explain what happened. They do not say who leaves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989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Churn compounds.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26.54% of this customer base churned — 1,869 of 7,043 customers.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Dashboards describe, they do not prioritise.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Knowing last quarter's churn rate does not tell a retention team whom to call today.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Generic campaigns waste budget.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Blanket offers discount loyal customers and still miss the ones about to leave.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041648"/>
            <a:ext cx="32004" cy="804671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Who is likely to churn?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Predicted churn probability per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1024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21024" y="4041648"/>
            <a:ext cx="32004" cy="804671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1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Why are they at risk?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Feature contributions behind each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266944"/>
            <a:ext cx="32004" cy="80467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should we do?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A retention action matched to the risk drivers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21024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21024" y="5266944"/>
            <a:ext cx="32004" cy="804671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is at stake?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Monthly recurring revenue exposed in each risk 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7184" y="170078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THE BASE RATE</a:t>
            </a:r>
          </a:p>
        </p:txBody>
      </p:sp>
      <p:pic>
        <p:nvPicPr>
          <p:cNvPr id="21" name="Picture 20" descr="chart_churn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796" y="1956815"/>
            <a:ext cx="3566159" cy="35661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87184" y="5614416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Segoe UI"/>
              </a:rPr>
              <a:t>1,869 churned · 5,174 retained of 7,043. Predicting "nobody churns" is already 73.46% accurate — which is why accuracy alone decides nothing here.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02  ·  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data that records the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IBM Telco Customer Churn — 7,043 customers, 34 raw fields, one binary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756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4060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RAW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8585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4889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9413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5717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FF5C6C"/>
                </a:solidFill>
                <a:latin typeface="Segoe UI"/>
              </a:rPr>
              <a:t>26.54%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CHURN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0242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546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4C8DFF"/>
                </a:solidFill>
                <a:latin typeface="Segoe UI"/>
              </a:rPr>
              <a:t>80 / 20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STRATIFIED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79776"/>
            <a:ext cx="5394960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2FD8B4"/>
                </a:solidFill>
                <a:latin typeface="Segoe UI"/>
              </a:rPr>
              <a:t>What a row contains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Customer profile — gender, senior citizen, partner, dependents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Services — phone, internet, security, backup, protection, support, streaming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Contract &amp; billing — contract type, payment method, paperless, charges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Value — tenure, monthly charges, total charges, CLTV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30" b="0">
                <a:solidFill>
                  <a:srgbClr val="8CA0BE"/>
                </a:solidFill>
                <a:latin typeface="Segoe UI"/>
              </a:rPr>
              <a:t>Target: Churn Label (Yes / No), converted to 1 /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79776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07792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CLASS BALANCE AND THE SPLIT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1,869 churned against 5,174 retained. The split is stratified, so both halves carry the identical 26.54% churn rate: 5,634 rows train, 1,409 rows are held back and touched only once.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572000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700016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TRAIN / SERVE PARITY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30 encoded columns are frozen in feature_columns.pkl and rebuilt by the same preprocessing code for every upload — training and live scoring cannot drift apart. There is a unit test for exactly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036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02 · DATA COLLECTION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03  ·  DATA CLEANING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raw records to 30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One reproducible pipeline, used identically in training and in the live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Raw upload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7,043 records · 34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93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996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284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Clean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types, blanks, duplicates, category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97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Encode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16 categoricals → 27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001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04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30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frozen column contract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9504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017520"/>
            <a:ext cx="10692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LEAKAGE PREVENTION — the detail that makes the results believable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Churn Score, Churn Reason, Churn Category and Customer Status were removed before training. All four are only known after a customer has already churned, so keeping them would inflate the metrics and break the model in production. This is the difference between a demo and a deployable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11055096" cy="1810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Cleaning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Data-type correction, 11 blank TotalCharges values (all zero-tenure new customers), duplicate checks, categorical normalisation, removal of ID and geographic columns that carry no predictive value.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Encoding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Every service column becomes an explicit flag — Contract_Two year, Tech Support_Yes, Internet Service_Fiber optic — so no ordering is invented where none exists: 3 numeric features + 27 flags = 30.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03 · DATA CLEANING &amp; PREPROCESSING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04  · 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patterns that shaped the model — and the retention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855"/>
            <a:ext cx="5440680" cy="2925057"/>
          </a:xfrm>
          <a:prstGeom prst="rect">
            <a:avLst/>
          </a:prstGeom>
        </p:spPr>
      </p:pic>
      <p:pic>
        <p:nvPicPr>
          <p:cNvPr id="8" name="Picture 7" descr="chart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17904"/>
            <a:ext cx="4772086" cy="31089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919472"/>
            <a:ext cx="32004" cy="115214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Contract is the strongest signal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42.7% churn on month-to-month vs 2.8% on two-year contracts — a 15×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738" y="4919472"/>
            <a:ext cx="32004" cy="115214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Churn is front-loaded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47.4% of first-year customers churn; 55.5% of all churners are in year one. Churned customers average 18.0 months vs 37.6.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54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548" y="4919472"/>
            <a:ext cx="32004" cy="1152143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It is a service-experience story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Fiber optic 41.9% vs 7.4% with no internet; customers without tech support or online security churn at 41.6% and 41.8%.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04 · EXPLORATORY DATA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05  · 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Thirty features, one 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numeric measures, twenty-seven explicit flags — and a test that guards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4C8DFF"/>
                </a:solidFill>
                <a:latin typeface="Segoe U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NUMERIC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F5A623"/>
                </a:solidFill>
                <a:latin typeface="Segoe UI"/>
              </a:rPr>
              <a:t>27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BINARY FLAGS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517904"/>
            <a:ext cx="3557016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645919"/>
            <a:ext cx="3300984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TOTAL MODEL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39"/>
            <a:ext cx="5440680" cy="3383279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503834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THE THREE NUMERIC MEASURES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Tenure Months, Monthly Charges, Total Charges — the only continuous quantities the model sees.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WHY FLAGS, NOT NUMBERS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Assigning 1, 2, 3 to DSL / Fiber / None would invent an ordering that does not exist. Flags keep the model honest about what these categories actually are.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Eleven Total Charges values are blank — every one of them belongs to a zero-tenure customer, so the missing rows never hide a churn signal.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39"/>
            <a:ext cx="5449824" cy="338327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99232"/>
            <a:ext cx="508406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THE COLUMN CONTRACT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exact 30 column names are saved to feature_columns.pkl alongside the model. The app rebuilds a feature frame and checks it against that list before scoring.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If the two ever disagree, the request fails loudly rather than silently scoring on a misaligned frame — the most common way a student project works in the notebook and quietly breaks in the app.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2FD8B4"/>
                </a:solidFill>
                <a:latin typeface="Segoe UI"/>
              </a:rPr>
              <a:t>Uploads are validated against that same list, so a mismatched CSV is rejected before a single row is scored.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067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05 · FEATURE ENGINEERING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06  ·  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 algorithms,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Same features, same split, same scoring code — only the algorithm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9627"/>
            <a:ext cx="6501384" cy="35924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24344" y="1572768"/>
            <a:ext cx="4300423" cy="3566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Logistic Regression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linear baseline; interpretable coefficients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bagged trees; captures non-linearity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XGBoost &amp; LightGBM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gradient boosting; strong on tabular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4344" y="4151376"/>
            <a:ext cx="4300423" cy="10424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4261104"/>
            <a:ext cx="39712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19" b="1">
                <a:solidFill>
                  <a:srgbClr val="F5A623"/>
                </a:solidFill>
                <a:latin typeface="Segoe UI"/>
              </a:rPr>
              <a:t>Benchmark ladder (F1)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Consolas"/>
              </a:rPr>
              <a:t>LR 60.6 · LightGBM 59.6 · XGBoost 58.5 · RF 57.1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40096"/>
            <a:ext cx="11057839" cy="87782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468112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WHY FOUR MODELS AND NOT ONE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 single model proves nothing. Four algorithms on the same pipeline show the result is a property of the features and the problem — not of one lucky configuration. Accuracy, precision, recall, F1 and ROC-AUC were all recorded, and the winner was chosen on F1 and ROC-AUC, never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06 · MODEL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07  ·  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Measuring the model — and its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 of 1,409 customers, plus five-fold cross-validation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3408697" cy="2523861"/>
          </a:xfrm>
          <a:prstGeom prst="rect">
            <a:avLst/>
          </a:prstGeom>
        </p:spPr>
      </p:pic>
      <p:pic>
        <p:nvPicPr>
          <p:cNvPr id="8" name="Picture 7" descr="chart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505" y="1517904"/>
            <a:ext cx="7466261" cy="25238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756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4060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64.74%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8585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4889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Segoe UI"/>
              </a:rPr>
              <a:t>56.95%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9413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5717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60.60%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0242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546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431536"/>
            <a:ext cx="11057839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Honest reading: of 374 churners in the test set the model catches 213. The deployed 60.60% F1 sits inside a cross-validated range of 62.11% ± 2.96% (accuracy 81.19% ± 1.18%), so the single split is not carrying the result — and recall is the number this project works on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2755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07 · MODEL 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Logistic Regression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Four models, five metrics, one decision — made on F1 and ROC-AUC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04441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517904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04441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97303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3838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97303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3838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876702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0632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876702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30632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556101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742639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556101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74263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235500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422038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4235500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442203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11057839" cy="1170431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9808" y="5175503"/>
            <a:ext cx="10692079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THE DECISION RULE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Accuracy alone would have picked LightGBM by one hundredth of a point. The choice was made on F1 and ROC-AUC, because a retention team cares about ranking risk correctly and catching churners — not about the share of all customers classified correctly. Logistic Regression also wins on being explainable, which the next phase depends 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  ·  THE OPERATING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cut-off was a default — not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0.5 is arbitrary. Measuring it turns the model's weakest number into a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680959" cy="44659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49056" y="1517904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1936" y="1664207"/>
            <a:ext cx="2809951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WHAT THE SWEEP SHOWS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At 0.35 the model catches 71.7% of churners instead of 57.0%, and F1 actually improves to 62.98%. Both recall and F1 are better than the deployed setting.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3941063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1936" y="4069079"/>
            <a:ext cx="2809951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THE PROOF THAT MATTERS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Training with class_weight='balanced' lifts recall to 77.81% while ROC-AUC barely moves: 84.89 against 84.90. The model already ranks customers correctly — the 0.5 cut-off was throwing churners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09  · 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the model flags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The profile of the high-risk band, and a per-customer explanation in the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high_ris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315200" cy="36737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47303" y="1517904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0183" y="1664207"/>
            <a:ext cx="3111703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PER-CUSTOMER EXPLANATION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For each prediction the console shows the top drivers, computed as coefficient × customer value — the honest linear explanation for a logistic model, with human labels like "Fiber optic internet" or "Account tenure".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3" y="3941063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4069079"/>
            <a:ext cx="3111703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ON SHAP — STATED PRECISELY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SHAP was explored during the project; summary, bar, dependence and waterfall plots are in the repository. Production explanation is aligned to the deployed Logistic Regression instead — accurate for a linear model, and it costs nothing at request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09 · EXPLAINABILITY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10  ·  RISK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Turning a probability into a work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Every scored customer lands in one of three operational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2FD8B4"/>
                </a:solidFill>
                <a:latin typeface="Consolas"/>
              </a:rPr>
              <a:t>&lt; 30%   LOW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4,435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6026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7194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Consolas"/>
              </a:rPr>
              <a:t>30 – 60%   MEDIUM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1,473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6292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5C6C"/>
                </a:solidFill>
                <a:latin typeface="Consolas"/>
              </a:rPr>
              <a:t>≥ 60%   HIGH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1,135 customers</a:t>
            </a:r>
          </a:p>
        </p:txBody>
      </p:sp>
      <p:pic>
        <p:nvPicPr>
          <p:cNvPr id="13" name="Picture 12" descr="chart_risk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96896"/>
            <a:ext cx="7059168" cy="347383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82127" y="2651760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7" y="2798064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VALIDATION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The bands track reality: actual churn is 9.5% in low risk, 42.0% in medium and 73.0% in high risk. The segmentation is not decoration — it orders the portfolio correctly.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4507992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7" y="4654296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F5C6C"/>
                </a:solidFill>
                <a:latin typeface="Consolas"/>
              </a:rPr>
              <a:t>THE OPERATIONAL PAYOFF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Instead of calling 7,043 customers, the team starts with 1,135 — 16.1% of the base, where 73% will actually leave — carrying $92,539 of recurring monthly charges.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10 · RISK SEGMENTATION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11  ·  RETENTION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risk to action — and to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2,608 at-risk customers each received a specific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492239" cy="28187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517904"/>
            <a:ext cx="4352544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1682495"/>
            <a:ext cx="4023360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RECOMMENDATIONS ISSUED (FULL PORTFOLIO)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Promote Long-Term Contract            792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5% Discount Offer                            663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Offer 15% Discount                          658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Welcome Retention Package          430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Online Security                       45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Switch to Autopay / Check-in          18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Premium Support                      2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Driven by each customer's own risk factors — a month-to-month customer with no security gets a different offer than a loyal high-value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18304"/>
            <a:ext cx="6492240" cy="14996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846320"/>
            <a:ext cx="6126479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SPEAK PRECISELY ABOUT THIS NUMBER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RetainIQ reports monthly revenue at risk — the recurring charges sitting inside flagged customers. $92,539/month in high risk, $200,302 including medium. It is exposure, not money already saved.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4718304"/>
            <a:ext cx="4352544" cy="14996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4864608"/>
            <a:ext cx="40233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DECISION FRAMEWORK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Data → insight → prediction → explanation → action → business value. The platform deliberately does not stop at step three.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130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11 · RETENTION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12  ·  BUSINESS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descriptive layer beneath the predictions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four-page Power BI dashboard for the people who fund the retention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491" y="1517904"/>
            <a:ext cx="5233273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ge1_executive_overview.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87" y="1600200"/>
            <a:ext cx="5068681" cy="28163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53835" y="1517904"/>
            <a:ext cx="5234025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3_risk_intelligence.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00200"/>
            <a:ext cx="5069433" cy="28163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36592"/>
            <a:ext cx="32004" cy="93268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Executive overview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Portfolio KPIs, churn rate and revenue in one view for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2535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2535" y="4736592"/>
            <a:ext cx="32004" cy="93268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5415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Customer insights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Where churn concentrates — contract, tenure, service mix.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4736592"/>
            <a:ext cx="32004" cy="93268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Risk intelligence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The scored risk distribution carried into BI.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3751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3751" y="4736592"/>
            <a:ext cx="32004" cy="932688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6631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5C6C"/>
                </a:solidFill>
                <a:latin typeface="Segoe UI"/>
              </a:rPr>
              <a:t>Retention strategy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Which actions are recommended, and to how many customers.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07024"/>
            <a:ext cx="11057839" cy="31089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925312"/>
            <a:ext cx="10692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4"/>
              </a:rPr>
              <a:t>OPEN THE EDITABLE POWER BI TEMPLATE (.PBIT)  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9474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12 · BUSINESS INTELLIGENCE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13  · 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product: a Signal Ops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working Flask application — bulk scoring, dashboard, private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.predic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4644813" cy="3531648"/>
          </a:xfrm>
          <a:prstGeom prst="rect">
            <a:avLst/>
          </a:prstGeom>
        </p:spPr>
      </p:pic>
      <p:pic>
        <p:nvPicPr>
          <p:cNvPr id="8" name="Picture 7" descr="04.Bulk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909" y="1517904"/>
            <a:ext cx="6211857" cy="35316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193791"/>
            <a:ext cx="11057839" cy="1024127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321807"/>
            <a:ext cx="8570671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80" b="1">
                <a:solidFill>
                  <a:srgbClr val="2FD8B4"/>
                </a:solidFill>
                <a:latin typeface="Consolas"/>
              </a:rPr>
              <a:t>WHAT A REVIEWER DOES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Upload a CSV  →  validate the file before scoring  →  score the whole portfolio
Read churn rate, risk split and revenue at risk  →  drill into a customer  →  download a private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3087" y="5321807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40" b="1">
                <a:solidFill>
                  <a:srgbClr val="8CA0BE"/>
                </a:solidFill>
                <a:latin typeface="Consolas"/>
              </a:rPr>
              <a:t>REPORTS ARE PRIVATE — SCOPED BY SIGNED COOKIE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13 · WEB 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