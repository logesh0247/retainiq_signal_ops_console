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(0:00–0:35). "Good morning. A telecom knows it lost a quarter of its</a:t>
            </a:r>
          </a:p>
          <a:p>
            <a:r>
              <a:t>customers last year. What it cannot tell you is who leaves next month, why, or</a:t>
            </a:r>
          </a:p>
          <a:p>
            <a:r>
              <a:t>what to do about it. That gap is the whole project.</a:t>
            </a:r>
          </a:p>
          <a:p/>
          <a:p>
            <a:r>
              <a:t>RetainIQ reads a customer's weakening signal — from raw records, to a predicted</a:t>
            </a:r>
          </a:p>
          <a:p>
            <a:r>
              <a:t>probability, to an explained reason, to a recommended action, and finally to the</a:t>
            </a:r>
          </a:p>
          <a:p>
            <a:r>
              <a:t>revenue that action protects. 80.34% accuracy, 84.91% ROC-AUC, 7,043 customers</a:t>
            </a:r>
          </a:p>
          <a:p>
            <a:r>
              <a:t>scored, and $92,539 a month of recurring revenue sitting in the high-risk band."</a:t>
            </a:r>
          </a:p>
          <a:p/>
          <a:p>
            <a:r>
              <a:t>Then move — do not read the 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(0:35–1:05) "Everything I show you maps to one of these fourteen boxes, and the</a:t>
            </a:r>
          </a:p>
          <a:p>
            <a:r>
              <a:t>boxes group into three acts."</a:t>
            </a:r>
          </a:p>
          <a:p>
            <a:r>
              <a:t>Point along the arcs: "Act one, the signal fades — the problem and the data. Act</a:t>
            </a:r>
          </a:p>
          <a:p>
            <a:r>
              <a:t>two, reading the signal — the model work. Act three — what it's worth and the</a:t>
            </a:r>
          </a:p>
          <a:p>
            <a:r>
              <a:t>product."</a:t>
            </a:r>
          </a:p>
          <a:p>
            <a:r>
              <a:t>Promise the structure and then keep it. Do not narrate every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(1:05–1:55) Make clear this is a comparison between two layers in this project,</a:t>
            </a:r>
          </a:p>
          <a:p>
            <a:r>
              <a:t>not a claim that RetainIQ replaces an external product. Power BI is useful for</a:t>
            </a:r>
          </a:p>
          <a:p>
            <a:r>
              <a:t>portfolio and segment monitoring: where is churn concentrated? The Signal Ops</a:t>
            </a:r>
          </a:p>
          <a:p>
            <a:r>
              <a:t>Console adds a different capability: upload customers, score each row with the</a:t>
            </a:r>
          </a:p>
          <a:p>
            <a:r>
              <a:t>deployed Logistic Regression, assign a risk tier, show coefficient-based drivers</a:t>
            </a:r>
          </a:p>
          <a:p>
            <a:r>
              <a:t>and a rule-based suggestion, then export the work for review.</a:t>
            </a:r>
          </a:p>
          <a:p/>
          <a:p>
            <a:r>
              <a:t>The two layers are complementary. Close with the caveat: recommendations are</a:t>
            </a:r>
          </a:p>
          <a:p>
            <a:r>
              <a:t>decision support; no campaign uplift has been measured, and revenue is framed as</a:t>
            </a:r>
          </a:p>
          <a:p>
            <a:r>
              <a:t>at risk rather than saved.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(1:55–2:35) Quick pass on the tiles. Spend the time on the right-hand callouts:</a:t>
            </a:r>
          </a:p>
          <a:p>
            <a:r>
              <a:t>"the split is stratified, so both halves carry exactly the same 26.54% churn rate</a:t>
            </a:r>
          </a:p>
          <a:p>
            <a:r>
              <a:t>— the model never sees a distorted class balance."</a:t>
            </a:r>
          </a:p>
          <a:p>
            <a:r>
              <a:t>And the parity point: "the 30-column contract is saved next to the model and</a:t>
            </a:r>
          </a:p>
          <a:p>
            <a:r>
              <a:t>tested, so the app cannot silently score on the wrong schema."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(2:35–3:20) Walk the four boxes quickly, then slow down on the leakage callout —</a:t>
            </a:r>
          </a:p>
          <a:p>
            <a:r>
              <a:t>reviewers consistently reward this. "Churn Score and Churn Reason are the</a:t>
            </a:r>
          </a:p>
          <a:p>
            <a:r>
              <a:t>dataset's most seductive columns and they're poison: they only exist after the</a:t>
            </a:r>
          </a:p>
          <a:p>
            <a:r>
              <a:t>customer has left. I dropped them. That is why 80% here is a real 80%."</a:t>
            </a:r>
          </a:p>
          <a:p>
            <a:r>
              <a:t>One sentence on encoding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(3:20–4:05) Three takeaways only, no bar-by-bar narration.</a:t>
            </a:r>
          </a:p>
          <a:p>
            <a:r>
              <a:t>"Month-to-month is a 15× risk multiplier."</a:t>
            </a:r>
          </a:p>
          <a:p>
            <a:r>
              <a:t>"Risk is front-loaded — year one is where retention money belongs."</a:t>
            </a:r>
          </a:p>
          <a:p>
            <a:r>
              <a:t>"And the story is service experience, not just price: fiber optic, no security,</a:t>
            </a:r>
          </a:p>
          <a:p>
            <a:r>
              <a:t>no support."</a:t>
            </a:r>
          </a:p>
          <a:p>
            <a:r>
              <a:t>Bridge out: "these are the patterns the model later recovered on its own — and</a:t>
            </a:r>
          </a:p>
          <a:p>
            <a:r>
              <a:t>what the recommendation engine acts 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(4:05–4:35) Short slide, but it answers a question examiners like: "why did you</a:t>
            </a:r>
          </a:p>
          <a:p>
            <a:r>
              <a:t>encode it that way?"</a:t>
            </a:r>
          </a:p>
          <a:p>
            <a:r>
              <a:t>"Three continuous measures. Everything else is a yes/no flag — because numbering</a:t>
            </a:r>
          </a:p>
          <a:p>
            <a:r>
              <a:t>DSL as 1 and Fiber as 2 would invent an ordering that isn't real."</a:t>
            </a:r>
          </a:p>
          <a:p>
            <a:r>
              <a:t>Then the contract point: "the 30 column names are saved with the model and</a:t>
            </a:r>
          </a:p>
          <a:p>
            <a:r>
              <a:t>checked at scoring time, so a schema mismatch fails loudly instead of silently</a:t>
            </a:r>
          </a:p>
          <a:p>
            <a:r>
              <a:t>producing garbage."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(4:35–5:05) "Same features, same split, same code path — the only thing that</a:t>
            </a:r>
          </a:p>
          <a:p>
            <a:r>
              <a:t>changes is the algorithm."</a:t>
            </a:r>
          </a:p>
          <a:p>
            <a:r>
              <a:t>Then the key observation: Logistic Regression leads on F1 and ROC-AUC, with</a:t>
            </a:r>
          </a:p>
          <a:p>
            <a:r>
              <a:t>LightGBM a close second. Say why it matters: "churn here is largely linear in the</a:t>
            </a:r>
          </a:p>
          <a:p>
            <a:r>
              <a:t>encoded features, so the simplest model wins — and that also buys me</a:t>
            </a:r>
          </a:p>
          <a:p>
            <a:r>
              <a:t>explainability for free." That sets up Phase 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(5:05–5:55) The credibility slide — slow down.</a:t>
            </a:r>
          </a:p>
          <a:p>
            <a:r>
              <a:t>"1,409 customers held back entirely. 919 stayed and were correctly left alone;</a:t>
            </a:r>
          </a:p>
          <a:p>
            <a:r>
              <a:t>116 were flagged unnecessarily; 161 churners were missed; 213 caught."</a:t>
            </a:r>
          </a:p>
          <a:p>
            <a:r>
              <a:t>Then the stability point, which most projects never show: "five-fold</a:t>
            </a:r>
          </a:p>
          <a:p>
            <a:r>
              <a:t>cross-validation gives 62.11% F1 with a 2.96 standard deviation, and my deployed</a:t>
            </a:r>
          </a:p>
          <a:p>
            <a:r>
              <a:t>result sits inside it. So this is a stable result, not a lucky split."</a:t>
            </a:r>
          </a:p>
          <a:p>
            <a:r>
              <a:t>Then own the weakness: "recall is 56.95% — that is the one number I would fix</a:t>
            </a:r>
          </a:p>
          <a:p>
            <a:r>
              <a:t>first, and I'll show you exactly how on the next slide."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(5:55–6:25) "Four algorithms, identical treatment. Look at how close they are —</a:t>
            </a:r>
          </a:p>
          <a:p>
            <a:r>
              <a:t>LightGBM is within 0.28 of a point on accuracy. If I had picked on accuracy I'd</a:t>
            </a:r>
          </a:p>
          <a:p>
            <a:r>
              <a:t>have picked a harder model to explain, for no real gain."</a:t>
            </a:r>
          </a:p>
          <a:p>
            <a:r>
              <a:t>Then state the rule: "I selected on F1 and ROC-AUC, because what matters</a:t>
            </a:r>
          </a:p>
          <a:p>
            <a:r>
              <a:t>operationally is ranking risk, not classifying the majority correctly."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(6:25–7:05) This is the strongest slide in the deck — give it time.</a:t>
            </a:r>
          </a:p>
          <a:p>
            <a:r>
              <a:t>"0.5 is a library default, not a business decision. So I measured the whole range."</a:t>
            </a:r>
          </a:p>
          <a:p>
            <a:r>
              <a:t>Point at the crossing: "at 0.35 I catch 71.7% of churners instead of 57% — and F1</a:t>
            </a:r>
          </a:p>
          <a:p>
            <a:r>
              <a:t>actually goes UP, not down."</a:t>
            </a:r>
          </a:p>
          <a:p>
            <a:r>
              <a:t>Then the diagnostic proof, which is the real insight: "I retrained with balanced</a:t>
            </a:r>
          </a:p>
          <a:p>
            <a:r>
              <a:t>class weights. Recall goes from 56.95 to 77.81, and ROC-AUC doesn't move —</a:t>
            </a:r>
          </a:p>
          <a:p>
            <a:r>
              <a:t>84.89 versus 84.90. The model was already ranking customers correctly. Only the</a:t>
            </a:r>
          </a:p>
          <a:p>
            <a:r>
              <a:t>cut-off was discarding them."</a:t>
            </a:r>
          </a:p>
          <a:p>
            <a:r>
              <a:t>Then be honest: "it stays at 0.5 in production today because moving it is a</a:t>
            </a:r>
          </a:p>
          <a:p>
            <a:r>
              <a:t>business decision about the cost of a wasted offer versus a lost customer — not</a:t>
            </a:r>
          </a:p>
          <a:p>
            <a:r>
              <a:t>something I should silently change."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(7:05–7:40) Left chart: "this is who the high-risk band is — every one of them is</a:t>
            </a:r>
          </a:p>
          <a:p>
            <a:r>
              <a:t>month-to-month, 91% are on fiber optic, 95% have no online security, and they</a:t>
            </a:r>
          </a:p>
          <a:p>
            <a:r>
              <a:t>average under ten months of tenure."</a:t>
            </a:r>
          </a:p>
          <a:p>
            <a:r>
              <a:t>Right: "and for a single customer the app names which of those factors pushed</a:t>
            </a:r>
          </a:p>
          <a:p>
            <a:r>
              <a:t>this particular score."</a:t>
            </a:r>
          </a:p>
          <a:p>
            <a:r>
              <a:t>If asked about SHAP: "I ran the SHAP analysis during experimentation; the</a:t>
            </a:r>
          </a:p>
          <a:p>
            <a:r>
              <a:t>deployed model is linear, so I explain it with coefficients — same information,</a:t>
            </a:r>
          </a:p>
          <a:p>
            <a:r>
              <a:t>no runtime cost." Do not overclaim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(7:40–8:15) "A probability isn't something a retention agent can act on, so I cut</a:t>
            </a:r>
          </a:p>
          <a:p>
            <a:r>
              <a:t>it into three bands."</a:t>
            </a:r>
          </a:p>
          <a:p>
            <a:r>
              <a:t>Then the validation, which is the point of the slide: "I checked the bands against</a:t>
            </a:r>
          </a:p>
          <a:p>
            <a:r>
              <a:t>the real churn labels. Low risk actually churns 9.5%, medium 42%, high 73%. The</a:t>
            </a:r>
          </a:p>
          <a:p>
            <a:r>
              <a:t>band is a genuine ordering of risk, not a cosmetic split."</a:t>
            </a:r>
          </a:p>
          <a:p>
            <a:r>
              <a:t>Close operationally: "the team starts with 1,135 customers instead of 7,043."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(8:15–8:50) "Prediction alone doesn't retain anyone."</a:t>
            </a:r>
          </a:p>
          <a:p>
            <a:r>
              <a:t>Show the offer list — note the biggest group is a contract-upgrade nudge, which</a:t>
            </a:r>
          </a:p>
          <a:p>
            <a:r>
              <a:t>follows directly from the Phase 04 finding about month-to-month risk.</a:t>
            </a:r>
          </a:p>
          <a:p>
            <a:r>
              <a:t>Then be precise about money: "this is monthly revenue at risk — exposure, $92,539</a:t>
            </a:r>
          </a:p>
          <a:p>
            <a:r>
              <a:t>a month sitting in the high-risk band. I deliberately do not call it savings."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(8:50–9:15) "The machine learning app answers what is likely to happen. Power BI</a:t>
            </a:r>
          </a:p>
          <a:p>
            <a:r>
              <a:t>answers what already happened and why — and it's what a non-technical</a:t>
            </a:r>
          </a:p>
          <a:p>
            <a:r>
              <a:t>stakeholder actually opens."</a:t>
            </a:r>
          </a:p>
          <a:p>
            <a:r>
              <a:t>Four pages: executive overview, customer insights, risk intelligence, retention</a:t>
            </a:r>
          </a:p>
          <a:p>
            <a:r>
              <a:t>strategy. One sentence each, don't linger. Point out the underlined .pbit link —</a:t>
            </a:r>
          </a:p>
          <a:p>
            <a:r>
              <a:t>it opens the reusable report template in the project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(9:15–9:45) This is the demo slide. If the live site is warm, switch to it for</a:t>
            </a:r>
          </a:p>
          <a:p>
            <a:r>
              <a:t>thirty seconds; otherwise walk the screenshots.</a:t>
            </a:r>
          </a:p>
          <a:p>
            <a:r>
              <a:t>"Upload a portfolio, validate it before scoring, then read churn rate, risk</a:t>
            </a:r>
          </a:p>
          <a:p>
            <a:r>
              <a:t>distribution and revenue at risk — and drill into any single customer."</a:t>
            </a:r>
          </a:p>
          <a:p>
            <a:r>
              <a:t>One engineering detail worth a sentence: "reports are scoped to the visitor with</a:t>
            </a:r>
          </a:p>
          <a:p>
            <a:r>
              <a:t>a signed cookie, so users never see each other's data — that has its own unit</a:t>
            </a:r>
          </a:p>
          <a:p>
            <a:r>
              <a:t>test."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(9:45–10:10) Don't list technology here — that's the next slide. This slide is</a:t>
            </a:r>
          </a:p>
          <a:p>
            <a:r>
              <a:t>about the production problems, which is what actually separates a notebook from</a:t>
            </a:r>
          </a:p>
          <a:p>
            <a:r>
              <a:t>a deployed service.</a:t>
            </a:r>
          </a:p>
          <a:p>
            <a:r>
              <a:t>"Four things broke or nearly broke when this left my laptop: slow scoring hitting</a:t>
            </a:r>
          </a:p>
          <a:p>
            <a:r>
              <a:t>the worker timeout, the model being reloaded per request, memory creeping until</a:t>
            </a:r>
          </a:p>
          <a:p>
            <a:r>
              <a:t>the platform killed the worker, and the free tier sleeping."</a:t>
            </a:r>
          </a:p>
          <a:p>
            <a:r>
              <a:t>Then the honest operational note: "which means if you scan the QR at the end, and</a:t>
            </a:r>
          </a:p>
          <a:p>
            <a:r>
              <a:t>the app has been idle, you'll wait about a minute for it to wake up. I'll warm it</a:t>
            </a:r>
          </a:p>
          <a:p>
            <a:r>
              <a:t>before we start."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(10:10–10:35) Use the logos as visual anchors; do not read the lists line by line.</a:t>
            </a:r>
          </a:p>
          <a:p>
            <a:r>
              <a:t>"Python, pandas and NumPy handle the data. Scikit-learn trains the deployed</a:t>
            </a:r>
          </a:p>
          <a:p>
            <a:r>
              <a:t>Logistic Regression; Flask and FastAPI expose it; Docker, Render and GitHub carry</a:t>
            </a:r>
          </a:p>
          <a:p>
            <a:r>
              <a:t>it to production; Power BI presents the business view."</a:t>
            </a:r>
          </a:p>
          <a:p>
            <a:r>
              <a:t>SHAP was explored only in research; the production explanations come from the</a:t>
            </a:r>
          </a:p>
          <a:p>
            <a:r>
              <a:t>Logistic Regression coefficients. One shared Python package keeps training and</a:t>
            </a:r>
          </a:p>
          <a:p>
            <a:r>
              <a:t>serving on the same preprocessing and scoring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(10:35–11:05) Most students hide this slide. Put it up and read it.</a:t>
            </a:r>
          </a:p>
          <a:p>
            <a:r>
              <a:t>"Three things I would not do with this model today. I wouldn't trust it on a</a:t>
            </a:r>
          </a:p>
          <a:p>
            <a:r>
              <a:t>different market — it has only ever seen one telecom. I wouldn't quote revenue as</a:t>
            </a:r>
          </a:p>
          <a:p>
            <a:r>
              <a:t>savings, only as exposure. And I wouldn't ship a retention campaign aimed at</a:t>
            </a:r>
          </a:p>
          <a:p>
            <a:r>
              <a:t>senior citizens without a bias audit — they churn at 41.7%, nearly double the</a:t>
            </a:r>
          </a:p>
          <a:p>
            <a:r>
              <a:t>base rate, so a risk-optimising model will concentrate offers on them."</a:t>
            </a:r>
          </a:p>
          <a:p>
            <a:r>
              <a:t>Then close the loop: "and the fix for the recall number is already measured — 0.35</a:t>
            </a:r>
          </a:p>
          <a:p>
            <a:r>
              <a:t>catches 71.7%. That's the next cycle, which starts back at Phase 02 with drift</a:t>
            </a:r>
          </a:p>
          <a:p>
            <a:r>
              <a:t>monitoring."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(11:05–11:30) Leave this slide up for questions. It puts the live URL and</a:t>
            </a:r>
          </a:p>
          <a:p>
            <a:r>
              <a:t>a scannable QR in front of the examiner and ends on the thesis, not a tool list.</a:t>
            </a:r>
          </a:p>
          <a:p>
            <a:r>
              <a:t>"The contribution isn't the 80% — it's that a probability becomes a prioritised,</a:t>
            </a:r>
          </a:p>
          <a:p>
            <a:r>
              <a:t>explained, costed action, in a product a retention team can actually open. Thank</a:t>
            </a:r>
          </a:p>
          <a:p>
            <a:r>
              <a:t>you — happy to take questions."</a:t>
            </a:r>
          </a:p>
          <a:p>
            <a:r>
              <a:t>Offer the demo: "if you'd like, I can upload a customer file and score it live."</a:t>
            </a:r>
          </a:p>
          <a:p>
            <a:r>
              <a:t>Remember the free tier sleeps — warm the app before you present.</a:t>
            </a:r>
          </a:p>
          <a:p/>
          <a:p>
            <a:r>
              <a:t>LIKELY QUESTIONS</a:t>
            </a:r>
          </a:p>
          <a:p>
            <a:r>
              <a:t>· Why not deep learning? 1,409 test rows and a largely linear signal; the four-way</a:t>
            </a:r>
          </a:p>
          <a:p>
            <a:r>
              <a:t>  benchmark supports the simpler model, and it stays explainable.</a:t>
            </a:r>
          </a:p>
          <a:p>
            <a:r>
              <a:t>· Why is recall low? The 0.5 threshold is a default. Phase 08 shows 0.35 catches</a:t>
            </a:r>
          </a:p>
          <a:p>
            <a:r>
              <a:t>  71.7%, and balanced class weights reach 77.81% recall at identical ROC-AUC.</a:t>
            </a:r>
          </a:p>
          <a:p>
            <a:r>
              <a:t>· Isn't revenue-at-risk optimistic? It's exposure, not savings — the deck and the</a:t>
            </a:r>
          </a:p>
          <a:p>
            <a:r>
              <a:t>  app both say so; validating it needs a live campaign.</a:t>
            </a:r>
          </a:p>
          <a:p>
            <a:r>
              <a:t>· How do you know it isn't leakage? Churn Score, Reason, Category and Status are</a:t>
            </a:r>
          </a:p>
          <a:p>
            <a:r>
              <a:t>  post-outcome fields and were dropped before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hyperlink" Target="https://github.com/Logesh0247/RetainIQ_Signal_Ops_Console/blob/main/Power_BI_dashboard/dashboard_template.pbit" TargetMode="Externa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tainiq-predictive-customer-retention-zq6x.onrender.com" TargetMode="External"/><Relationship Id="rId3" Type="http://schemas.openxmlformats.org/officeDocument/2006/relationships/hyperlink" Target="https://github.com/Logesh0247/RetainIQ_Signal_Ops_Console" TargetMode="External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8778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FD8B4"/>
                </a:solidFill>
                <a:latin typeface="Consolas"/>
              </a:rPr>
              <a:t>FINAL YEAR PROJECT   ·   B.SC. DATA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9509760" cy="1536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5400" b="1">
                <a:solidFill>
                  <a:srgbClr val="EAF0F7"/>
                </a:solidFill>
                <a:latin typeface="Segoe UI"/>
              </a:rPr>
              <a:t>RetainIQ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Signal Ops Console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3127248"/>
            <a:ext cx="1920240" cy="3200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383280"/>
            <a:ext cx="7406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0">
                <a:solidFill>
                  <a:srgbClr val="8CA0BE"/>
                </a:solidFill>
                <a:latin typeface="Segoe UI"/>
              </a:rPr>
              <a:t>An explainable machine learning platform for customer churn prediction, risk intelligence and retention strategy.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04120" y="2242108"/>
            <a:ext cx="110413" cy="2112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296144" y="2088489"/>
            <a:ext cx="110413" cy="364845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488168" y="1934870"/>
            <a:ext cx="110413" cy="51846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680192" y="1781251"/>
            <a:ext cx="110413" cy="67208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872216" y="1627631"/>
            <a:ext cx="110413" cy="82570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549347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92" b="0">
                <a:solidFill>
                  <a:srgbClr val="8CA0BE"/>
                </a:solidFill>
                <a:latin typeface="Consolas"/>
              </a:rPr>
              <a:t>signal strength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TEST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2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99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38928" y="4498848"/>
            <a:ext cx="2157984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85232" y="4626864"/>
            <a:ext cx="1901952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4C8DFF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CUSTOMERS SCORED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24927" y="4498848"/>
            <a:ext cx="4197096" cy="950794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71231" y="4626864"/>
            <a:ext cx="3941063" cy="7496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700" b="1">
                <a:solidFill>
                  <a:srgbClr val="FF5C6C"/>
                </a:solidFill>
                <a:latin typeface="Segoe UI"/>
              </a:rPr>
              <a:t>$92,539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MONTHLY REVENUE AT RISK IN THE HIGH-RISK BAND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77658"/>
            <a:ext cx="11064240" cy="6768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Logesh S.   ·   B.Sc. Data Science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80" b="0" u="sng">
                <a:solidFill>
                  <a:srgbClr val="4C8DFF"/>
                </a:solidFill>
                <a:latin typeface="Consolas"/>
                <a:hlinkClick r:id="rId2"/>
              </a:rPr>
              <a:t>LIVE APP  ↗  retainiq-predictive-customer-retention-zq6x.onrender.com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0" u="sng">
                <a:solidFill>
                  <a:srgbClr val="8CA0BE"/>
                </a:solidFill>
                <a:latin typeface="Consolas"/>
                <a:hlinkClick r:id="rId3"/>
              </a:rPr>
              <a:t>SOURCE  ↗  github.com/Logesh0247/RetainIQ_Signal_Ops_Console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THE DEVELOPMENT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Fourteen phases, three acts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This is the map for the whole talk — every slide that follows is one of these boxes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1057839" cy="343621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66928" y="5596128"/>
            <a:ext cx="11057839" cy="621792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5724144"/>
            <a:ext cx="106920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HOW TO READ THE DECK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Three acts — the signal fades (I), reading the signal (II), the signal recovered (III). Every slide names its phase in the footer.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01  ·  BUSINESS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RetainIQ adds to the existing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Power BI gives a portfolio view; the Signal Ops Console adds customer-level scoring and review.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517904"/>
            <a:ext cx="41148" cy="3429000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4C8DFF"/>
                </a:solidFill>
                <a:latin typeface="Consolas"/>
              </a:rPr>
              <a:t>EXISTING · POWER BI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Portfolio reporting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Aggregates historical churn and portfolio KPIs.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Compares patterns across contract, tenure and service.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Answers: where is churn concentrated?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517904"/>
            <a:ext cx="5428335" cy="34290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6431" y="1517904"/>
            <a:ext cx="41148" cy="342900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5887" y="1719072"/>
            <a:ext cx="4989423" cy="3063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80" b="1">
                <a:solidFill>
                  <a:srgbClr val="2FD8B4"/>
                </a:solidFill>
                <a:latin typeface="Consolas"/>
              </a:rPr>
              <a:t>NEW · RETAINIQ SIGNAL OPS</a:t>
            </a:r>
          </a:p>
          <a:p>
            <a:pPr algn="l">
              <a:lnSpc>
                <a:spcPct val="112000"/>
              </a:lnSpc>
              <a:spcAft>
                <a:spcPts val="1300"/>
              </a:spcAft>
            </a:pPr>
            <a:r>
              <a:rPr sz="1500" b="1">
                <a:solidFill>
                  <a:srgbClr val="EAF0F7"/>
                </a:solidFill>
                <a:latin typeface="Segoe UI"/>
              </a:rPr>
              <a:t>Customer-level decision support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Scores uploaded rows with the deployed Logistic Regression.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Returns churn probability and a Low / Medium / High risk tier.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Shows coefficient-based drivers and rule-based suggestions.</a:t>
            </a:r>
          </a:p>
          <a:p>
            <a:pPr algn="l">
              <a:lnSpc>
                <a:spcPct val="122000"/>
              </a:lnSpc>
              <a:spcAft>
                <a:spcPts val="1100"/>
              </a:spcAft>
            </a:pPr>
            <a:r>
              <a:rPr sz="1260" b="0">
                <a:solidFill>
                  <a:srgbClr val="EAF0F7"/>
                </a:solidFill>
                <a:latin typeface="Segoe UI"/>
              </a:rPr>
              <a:t>•  Supports bulk review and private report downloads.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093208"/>
            <a:ext cx="11057839" cy="7315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397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184648"/>
            <a:ext cx="10655503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40" b="1">
                <a:solidFill>
                  <a:srgbClr val="EAF0F7"/>
                </a:solidFill>
                <a:latin typeface="Segoe UI"/>
              </a:rPr>
              <a:t>POWER BI monitors the portfolio. RETAINIQ prioritises new customer uploads for review.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20" b="0">
                <a:solidFill>
                  <a:srgbClr val="2FD8B4"/>
                </a:solidFill>
                <a:latin typeface="Segoe UI"/>
              </a:rPr>
              <a:t>Complementary layers: reporting → risk priority → driver → suggested next step.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89788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30" b="0">
                <a:solidFill>
                  <a:srgbClr val="8CA0BE"/>
                </a:solidFill>
                <a:latin typeface="Segoe UI"/>
              </a:rPr>
              <a:t>Decision support only: campaign uplift has not been measured; revenue figures are exposure, not confirmed savings.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01 · BUSINESS UNDERSTANDING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02  ·  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data that records the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IBM Telco Customer Churn — 7,043 customers, 34 raw fields, one binary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7,043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756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54060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34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RAW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48585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4889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EAF0F7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ML FEATURES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9413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35717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FF5C6C"/>
                </a:solidFill>
                <a:latin typeface="Segoe UI"/>
              </a:rPr>
              <a:t>26.54%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CHURN 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30242" y="1517904"/>
            <a:ext cx="2094524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546" y="1645919"/>
            <a:ext cx="1838492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100" b="1">
                <a:solidFill>
                  <a:srgbClr val="4C8DFF"/>
                </a:solidFill>
                <a:latin typeface="Segoe UI"/>
              </a:rPr>
              <a:t>80 / 20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STRATIFIED SPLIT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779776"/>
            <a:ext cx="5394960" cy="3438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1">
                <a:solidFill>
                  <a:srgbClr val="2FD8B4"/>
                </a:solidFill>
                <a:latin typeface="Segoe UI"/>
              </a:rPr>
              <a:t>What a row contains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Customer profile — gender, senior citizen, partner, dependents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Services — phone, internet, security, backup, protection, support, streaming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Contract &amp; billing — contract type, payment method, paperless, charges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30" b="0">
                <a:solidFill>
                  <a:srgbClr val="EAF0F7"/>
                </a:solidFill>
                <a:latin typeface="Segoe UI"/>
              </a:rPr>
              <a:t>  ▸  Value — tenure, monthly charges, total charges, CLTV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30" b="0">
                <a:solidFill>
                  <a:srgbClr val="8CA0BE"/>
                </a:solidFill>
                <a:latin typeface="Segoe UI"/>
              </a:rPr>
              <a:t>Target: Churn Label (Yes / No), converted to 1 / 0.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779776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907792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CLASS BALANCE AND THE SPLIT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1,869 churned against 5,174 retained. The split is stratified, so both halves carry the identical 26.54% churn rate: 5,634 rows train, 1,409 rows are held back and touched only once.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572000"/>
            <a:ext cx="5358384" cy="164591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700016"/>
            <a:ext cx="4992624" cy="1408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TRAIN / SERVE PARITY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30 encoded columns are frozen in feature_columns.pkl and rebuilt by the same preprocessing code for every upload — training and live scoring cannot drift apart. There is a unit test for exactly this.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6036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02 · DATA COLLECTION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03  ·  DATA CLEANING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raw records to 30 model-ready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One reproducible pipeline, used identically in training and in the live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Raw upload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7,043 records · 34 columns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93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996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284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Clean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types, blanks, duplicates, category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697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Encode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16 categoricals → 27 flags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10015" y="1929384"/>
            <a:ext cx="256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700" b="1">
                <a:solidFill>
                  <a:srgbClr val="2FD8B4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6047" y="1517904"/>
            <a:ext cx="2558719" cy="118872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48927" y="1719072"/>
            <a:ext cx="21929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EAF0F7"/>
                </a:solidFill>
                <a:latin typeface="Segoe UI"/>
              </a:rPr>
              <a:t>30 features</a:t>
            </a:r>
          </a:p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000" b="0">
                <a:solidFill>
                  <a:srgbClr val="8CA0BE"/>
                </a:solidFill>
                <a:latin typeface="Segoe UI"/>
              </a:rPr>
              <a:t>frozen column contract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889504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017520"/>
            <a:ext cx="10692079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LEAKAGE PREVENTION — the detail that makes the results believable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Churn Score, Churn Reason, Churn Category and Customer Status were removed before training. All four are only known after a customer has already churned, so keeping them would inflate the metrics and break the model in production. This is the difference between a demo and a deployable model.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407408"/>
            <a:ext cx="11055096" cy="18105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Cleaning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Data-type correction, 11 blank TotalCharges values (all zero-tenure new customers), duplicate checks, categorical normalisation, removal of ID and geographic columns that carry no predictive value.</a:t>
            </a:r>
          </a:p>
          <a:p>
            <a:pPr algn="l">
              <a:lnSpc>
                <a:spcPct val="112000"/>
              </a:lnSpc>
              <a:spcBef>
                <a:spcPts val="900"/>
              </a:spcBef>
              <a:spcAft>
                <a:spcPts val="100"/>
              </a:spcAft>
            </a:pPr>
            <a:r>
              <a:rPr sz="1100" b="1">
                <a:solidFill>
                  <a:srgbClr val="2FD8B4"/>
                </a:solidFill>
                <a:latin typeface="Segoe UI"/>
              </a:rPr>
              <a:t>▸  Encoding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50" b="0">
                <a:solidFill>
                  <a:srgbClr val="EAF0F7"/>
                </a:solidFill>
                <a:latin typeface="Segoe UI"/>
              </a:rPr>
              <a:t>     Every service column becomes an explicit flag — Contract_Two year, Tech Support_Yes, Internet Service_Fiber optic — so no ordering is invented where none exists: 3 numeric features + 27 flags = 30.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03 · DATA CLEANING &amp; PREPROCESSING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04  · 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the data said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patterns that shaped the model — and the retention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855"/>
            <a:ext cx="5440680" cy="2925057"/>
          </a:xfrm>
          <a:prstGeom prst="rect">
            <a:avLst/>
          </a:prstGeom>
        </p:spPr>
      </p:pic>
      <p:pic>
        <p:nvPicPr>
          <p:cNvPr id="8" name="Picture 7" descr="chart_te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1517904"/>
            <a:ext cx="4772086" cy="310895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919472"/>
            <a:ext cx="32004" cy="1152143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Contract is the strongest signal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42.7% churn on month-to-month vs 2.8% on two-year contracts — a 15× gap.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773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7738" y="4919472"/>
            <a:ext cx="32004" cy="115214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Churn is front-loaded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47.4% of first-year customers churn; 55.5% of all churners are in year one. Churned customers average 18.0 months vs 37.6.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548" y="4773168"/>
            <a:ext cx="3576218" cy="1444751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548" y="4919472"/>
            <a:ext cx="32004" cy="1152143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428" y="4937759"/>
            <a:ext cx="3210458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It is a service-experience story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Segoe UI"/>
              </a:rPr>
              <a:t>Fiber optic 41.9% vs 7.4% with no internet; customers without tech support or online security churn at 41.6% and 41.8%.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04 · EXPLORATORY DATA ANALYSIS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05  · 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Thirty features, one frozen contract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Three numeric measures, twenty-seven explicit flags — and a test that guards them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4C8DFF"/>
                </a:solidFill>
                <a:latin typeface="Segoe UI"/>
              </a:rPr>
              <a:t>3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NUMERIC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517904"/>
            <a:ext cx="3584448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645919"/>
            <a:ext cx="3328415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F5A623"/>
                </a:solidFill>
                <a:latin typeface="Segoe UI"/>
              </a:rPr>
              <a:t>27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BINARY FLAGS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7" y="1517904"/>
            <a:ext cx="3557016" cy="113385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1" y="1645919"/>
            <a:ext cx="3300984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2FD8B4"/>
                </a:solidFill>
                <a:latin typeface="Segoe UI"/>
              </a:rPr>
              <a:t>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8CA0BE"/>
                </a:solidFill>
                <a:latin typeface="Segoe UI"/>
              </a:rPr>
              <a:t>TOTAL MODEL INPUTS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34639"/>
            <a:ext cx="5440680" cy="3383279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999232"/>
            <a:ext cx="503834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4C8DFF"/>
                </a:solidFill>
                <a:latin typeface="Consolas"/>
              </a:rPr>
              <a:t>THE THREE NUMERIC MEASURES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Tenure Months, Monthly Charges, Total Charges — the only continuous quantities the model sees.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5A623"/>
                </a:solidFill>
                <a:latin typeface="Consolas"/>
              </a:rPr>
              <a:t>WHY FLAGS, NOT NUMBERS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Assigning 1, 2, 3 to DSL / Fiber / None would invent an ordering that does not exist. Flags keep the model honest about what these categories actually are.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Eleven Total Charges values are blank — every one of them belongs to a zero-tenure customer, so the missing rows never hide a churn signal.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834639"/>
            <a:ext cx="5449824" cy="3383279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999232"/>
            <a:ext cx="5084064" cy="3054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THE COLUMN CONTRACT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The exact 30 column names are saved to feature_columns.pkl alongside the model. The app rebuilds a feature frame and checks it against that list before scoring.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If the two ever disagree, the request fails loudly rather than silently scoring on a misaligned frame — the most common way a student project works in the notebook and quietly breaks in the app.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80" b="0">
                <a:solidFill>
                  <a:srgbClr val="2FD8B4"/>
                </a:solidFill>
                <a:latin typeface="Segoe UI"/>
              </a:rPr>
              <a:t>Uploads are validated against that same list, so a mismatched CSV is rejected before a single row is scored.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067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05 · FEATURE ENGINEERING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06  ·  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Four algorithms, one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Same features, same split, same scoring code — only the algorithm changes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9627"/>
            <a:ext cx="6501384" cy="359244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24344" y="1572768"/>
            <a:ext cx="4300423" cy="3566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Logistic Regression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linear baseline; interpretable coefficients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bagged trees; captures non-linearity</a:t>
            </a:r>
          </a:p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100"/>
              </a:spcAft>
            </a:pPr>
            <a:r>
              <a:rPr sz="1080" b="1">
                <a:solidFill>
                  <a:srgbClr val="2FD8B4"/>
                </a:solidFill>
                <a:latin typeface="Segoe UI"/>
              </a:rPr>
              <a:t>▸  XGBoost &amp; LightGBM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30" b="0">
                <a:solidFill>
                  <a:srgbClr val="EAF0F7"/>
                </a:solidFill>
                <a:latin typeface="Segoe UI"/>
              </a:rPr>
              <a:t>     gradient boosting; strong on tabular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24344" y="4151376"/>
            <a:ext cx="4300423" cy="10424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88936" y="4261104"/>
            <a:ext cx="39712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19" b="1">
                <a:solidFill>
                  <a:srgbClr val="F5A623"/>
                </a:solidFill>
                <a:latin typeface="Segoe UI"/>
              </a:rPr>
              <a:t>Benchmark ladder (F1)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19" b="0">
                <a:solidFill>
                  <a:srgbClr val="EAF0F7"/>
                </a:solidFill>
                <a:latin typeface="Consolas"/>
              </a:rPr>
              <a:t>LR 60.6 · LightGBM 59.6 · XGBoost 58.5 · RF 57.1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340096"/>
            <a:ext cx="11057839" cy="877824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5468112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WHY FOUR MODELS AND NOT ONE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 single model proves nothing. Four algorithms on the same pipeline show the result is a property of the features and the problem — not of one lucky configuration. Accuracy, precision, recall, F1 and ROC-AUC were all recorded, and the winner was chosen on F1 and ROC-AUC, never accuracy.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06 · MODEL DEVELOPMENT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07  ·  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Measuring the model — and its stability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Held-out test set of 1,409 customers, plus five-fold cross-validation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3408697" cy="2523861"/>
          </a:xfrm>
          <a:prstGeom prst="rect">
            <a:avLst/>
          </a:prstGeom>
        </p:spPr>
      </p:pic>
      <p:pic>
        <p:nvPicPr>
          <p:cNvPr id="8" name="Picture 7" descr="chart_c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8505" y="1517904"/>
            <a:ext cx="7466261" cy="252386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80.34%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7756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4060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EAF0F7"/>
                </a:solidFill>
                <a:latin typeface="Segoe UI"/>
              </a:rPr>
              <a:t>64.74%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8585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4889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Segoe UI"/>
              </a:rPr>
              <a:t>56.95%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9413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5717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60.60%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30242" y="4279392"/>
            <a:ext cx="2094524" cy="106070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6546" y="4407407"/>
            <a:ext cx="1838492" cy="8595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2000" b="1">
                <a:solidFill>
                  <a:srgbClr val="2FD8B4"/>
                </a:solidFill>
                <a:latin typeface="Segoe UI"/>
              </a:rPr>
              <a:t>84.91%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ROC-AUC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431536"/>
            <a:ext cx="11057839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Honest reading: of 374 churners in the test set the model catches 213. The deployed 60.60% F1 sits inside a cross-validated range of 62.11% ± 2.96% (accuracy 81.19% ± 1.18%), so the single split is not carrying the result — and recall is the number this project works on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32755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07 · MODEL EVALUATION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Logistic Regression 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Four models, five metrics, one decision — made on F1 and ROC-AUC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704441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44568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2583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71031" y="1517904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9047" y="1704441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Precision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7496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25512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Recall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95944" y="1517904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23960" y="1704441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94392" y="1517904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22408" y="1704441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8CA0BE"/>
                </a:solidFill>
                <a:latin typeface="Consolas"/>
              </a:rPr>
              <a:t>ROC-AUC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2197303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23838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>
                <a:solidFill>
                  <a:srgbClr val="EAF0F7"/>
                </a:solidFill>
                <a:latin typeface="Segoe UI"/>
              </a:rPr>
              <a:t>Logistic Regression  ← selected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72583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80.34%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1031" y="2197303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9047" y="23838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64.74%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97496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25512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56.95%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944" y="2197303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3838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60.60%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4392" y="2197303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2408" y="23838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2FD8B4"/>
                </a:solidFill>
                <a:latin typeface="Consolas"/>
              </a:rPr>
              <a:t>84.91%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2876702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3063240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LightGBM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44568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72583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80.06%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71031" y="2876702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9047" y="3063240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64.49%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7496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25512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55.35%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95944" y="2876702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23960" y="3063240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59.57%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94392" y="2876702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22408" y="306324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84.71%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3556101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4944" y="3742639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XGBoost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44568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72583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79.06%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71031" y="3556101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9047" y="3742639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61.72%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97496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25512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55.61%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95944" y="3556101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23960" y="3742639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58.51%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994392" y="3556101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22408" y="3742639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83.34%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4235500"/>
            <a:ext cx="3977639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94944" y="4422038"/>
            <a:ext cx="3758183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Segoe UI"/>
              </a:rPr>
              <a:t>Random Forest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44568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72583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78.99%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971031" y="4235500"/>
            <a:ext cx="1426464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99047" y="4422038"/>
            <a:ext cx="12070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62.34%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97496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525512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52.67%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695944" y="4235500"/>
            <a:ext cx="1298448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23960" y="4422038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57.10%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94392" y="4235500"/>
            <a:ext cx="1636776" cy="665683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22408" y="442203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0">
                <a:solidFill>
                  <a:srgbClr val="EAF0F7"/>
                </a:solidFill>
                <a:latin typeface="Consolas"/>
              </a:rPr>
              <a:t>83.48%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66928" y="5047488"/>
            <a:ext cx="11057839" cy="1170431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9808" y="5175503"/>
            <a:ext cx="10692079" cy="9326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THE DECISION RULE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Accuracy alone would have picked LightGBM by one hundredth of a point. The choice was made on F1 and ROC-AUC, because a retention team cares about ranking risk correctly and catching churners — not about the share of all customers classified correctly. Logistic Regression also wins on being explainable, which the next phase depends 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08  ·  MODEL SELECTION  ·  THE OPERATING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cut-off was a default — not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0.5 is arbitrary. Measuring it turns the model's weakest number into a 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thresh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680959" cy="446597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49056" y="1517904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1936" y="1664207"/>
            <a:ext cx="2809951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WHAT THE SWEEP SHOWS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At 0.35 the model catches 71.7% of churners instead of 57.0%, and F1 actually improves to 62.98%. Both recall and F1 are better than the deployed setting.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49056" y="3941063"/>
            <a:ext cx="3175711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1936" y="4069079"/>
            <a:ext cx="2809951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THE PROOF THAT MATTERS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Training with class_weight='balanced' lifts recall to 77.81% while ROC-AUC barely moves: 84.89 against 84.90. The model already ranks customers correctly — the 0.5 cut-off was throwing churners away.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08 · MODEL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09  ·  EXPLAINABILITY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Why the model flags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The profile of the high-risk band, and a per-customer explanation in the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high_ris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7315200" cy="367371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47303" y="1517904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30183" y="1664207"/>
            <a:ext cx="3111703" cy="1984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PER-CUSTOMER EXPLANATION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For each prediction the console shows the top drivers, computed as coefficient × customer value — the honest linear explanation for a logistic model, with human labels like "Fiber optic internet" or "Account tenure".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47303" y="3941063"/>
            <a:ext cx="3477463" cy="227685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3" y="4069079"/>
            <a:ext cx="3111703" cy="2039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ON SHAP — STATED PRECISELY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SHAP was explored during the project; summary, bar, dependence and waterfall plots are in the repository. Production explanation is aligned to the deployed Logistic Regression instead — accurate for a linear model, and it costs nothing at request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09 · EXPLAINABILITY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10  ·  RISK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Turning a probability into a work queue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Every scored customer lands in one of three operational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2FD8B4"/>
                </a:solidFill>
                <a:latin typeface="Consolas"/>
              </a:rPr>
              <a:t>&lt; 30%   LOW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4,435 customers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6026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7194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Consolas"/>
              </a:rPr>
              <a:t>30 – 60%   MEDIUM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1,473 customers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5124" y="1517904"/>
            <a:ext cx="3539642" cy="91440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6292" y="1664207"/>
            <a:ext cx="3137306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FF5C6C"/>
                </a:solidFill>
                <a:latin typeface="Consolas"/>
              </a:rPr>
              <a:t>≥ 60%   HIGH RISK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EAF0F7"/>
                </a:solidFill>
                <a:latin typeface="Segoe UI"/>
              </a:rPr>
              <a:t>1,135 customers</a:t>
            </a:r>
          </a:p>
        </p:txBody>
      </p:sp>
      <p:pic>
        <p:nvPicPr>
          <p:cNvPr id="13" name="Picture 12" descr="chart_risk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596896"/>
            <a:ext cx="7059168" cy="347383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882127" y="2651760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7" y="2798064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VALIDATION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The bands track reality: actual churn is 9.5% in low risk, 42.0% in medium and 73.0% in high risk. The segmentation is not decoration — it orders the portfolio correctly.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4507992"/>
            <a:ext cx="3742639" cy="1709928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65007" y="4654296"/>
            <a:ext cx="3376879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FF5C6C"/>
                </a:solidFill>
                <a:latin typeface="Consolas"/>
              </a:rPr>
              <a:t>THE OPERATIONAL PAYOFF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Instead of calling 7,043 customers, the team starts with 1,135 — 16.1% of the base, where 73% will actually leave — carrying $92,539 of recurring monthly charges.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7869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10 · RISK SEGMENTATION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11  ·  RETENTION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From risk to action — and to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2,608 at-risk customers each received a specific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hart_reven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6492239" cy="281879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69480" y="1517904"/>
            <a:ext cx="4352544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1682495"/>
            <a:ext cx="4023360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RECOMMENDATIONS ISSUED (FULL PORTFOLIO)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Promote Long-Term Contract            792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5% Discount Offer                            663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Offer 15% Discount                          658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Welcome Retention Package          430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Online Security                       45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Switch to Autopay / Check-in          18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40" b="0">
                <a:solidFill>
                  <a:srgbClr val="EAF0F7"/>
                </a:solidFill>
                <a:latin typeface="Consolas"/>
              </a:rPr>
              <a:t>Free Premium Support                      2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Driven by each customer's own risk factors — a month-to-month customer with no security gets a different offer than a loyal high-value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718304"/>
            <a:ext cx="6492240" cy="149961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846320"/>
            <a:ext cx="6126479" cy="1261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SPEAK PRECISELY ABOUT THIS NUMBER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RetainIQ reports monthly revenue at risk — the recurring charges sitting inside flagged customers. $92,539/month in high risk, $200,302 including medium. It is exposure, not money already saved.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4718304"/>
            <a:ext cx="4352544" cy="149961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4864608"/>
            <a:ext cx="40233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>
                <a:solidFill>
                  <a:srgbClr val="2FD8B4"/>
                </a:solidFill>
                <a:latin typeface="Consolas"/>
              </a:rPr>
              <a:t>DECISION FRAMEWORK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Data → insight → prediction → explanation → action → business value. The platform deliberately does not stop at step three.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01307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11 · RETENTION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12  ·  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descriptive layer beneath the predictions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four-page Power BI dashboard for the people who fund the retention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491" y="1517904"/>
            <a:ext cx="5233273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ge1_executive_overview.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87" y="1600200"/>
            <a:ext cx="5068681" cy="2816351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53835" y="1517904"/>
            <a:ext cx="5234025" cy="2980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ge3_risk_intelligence.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6131" y="1600200"/>
            <a:ext cx="5069433" cy="2816351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66928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4736592"/>
            <a:ext cx="32004" cy="93268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2FD8B4"/>
                </a:solidFill>
                <a:latin typeface="Segoe UI"/>
              </a:rPr>
              <a:t>Executive overview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Portfolio KPIs, churn rate and revenue in one view for management.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2535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2535" y="4736592"/>
            <a:ext cx="32004" cy="932688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5415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Customer insights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Where churn concentrates — contract, tenure, service mix.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8143" y="4736592"/>
            <a:ext cx="32004" cy="93268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1023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Risk intelligence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The scored risk distribution carried into BI.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3751" y="4608576"/>
            <a:ext cx="2641015" cy="1188720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3751" y="4736592"/>
            <a:ext cx="32004" cy="932688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6631" y="4754880"/>
            <a:ext cx="225696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FF5C6C"/>
                </a:solidFill>
                <a:latin typeface="Segoe UI"/>
              </a:rPr>
              <a:t>Retention strategy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00" b="0">
                <a:solidFill>
                  <a:srgbClr val="EAF0F7"/>
                </a:solidFill>
                <a:latin typeface="Segoe UI"/>
              </a:rPr>
              <a:t>Which actions are recommended, and to how many customers.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907024"/>
            <a:ext cx="11057839" cy="310896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925312"/>
            <a:ext cx="10692079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4"/>
              </a:rPr>
              <a:t>OPEN THE EDITABLE POWER BI TEMPLATE (.PBIT)  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4745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12 · BUSINESS INTELLIGENCE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13  ·  WEB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The product: a Signal Ops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working Flask application — bulk scoring, dashboard, private reports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.prediction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4644813" cy="3531648"/>
          </a:xfrm>
          <a:prstGeom prst="rect">
            <a:avLst/>
          </a:prstGeom>
        </p:spPr>
      </p:pic>
      <p:pic>
        <p:nvPicPr>
          <p:cNvPr id="8" name="Picture 7" descr="04.Bulk_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909" y="1517904"/>
            <a:ext cx="6211857" cy="353164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5193791"/>
            <a:ext cx="11057839" cy="1024127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5321807"/>
            <a:ext cx="8570671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980" b="1">
                <a:solidFill>
                  <a:srgbClr val="2FD8B4"/>
                </a:solidFill>
                <a:latin typeface="Consolas"/>
              </a:rPr>
              <a:t>WHAT A REVIEWER DOES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40" b="0">
                <a:solidFill>
                  <a:srgbClr val="EAF0F7"/>
                </a:solidFill>
                <a:latin typeface="Segoe UI"/>
              </a:rPr>
              <a:t>Upload a CSV  →  validate the file before scoring  →  score the whole portfolio
Read churn rate, risk split and revenue at risk  →  drill into a customer  →  download a private report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3087" y="5321807"/>
            <a:ext cx="2011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840" b="1">
                <a:solidFill>
                  <a:srgbClr val="8CA0BE"/>
                </a:solidFill>
                <a:latin typeface="Consolas"/>
              </a:rPr>
              <a:t>REPORTS ARE PRIVATE — SCOPED BY SIGNED COOKIE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88183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13 · WEB APPLICATION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PHASE 14  · 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Making it survive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Free-tier hosting is unforgiving — these are the four problems it creates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Slow scoring on a shared CPU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large CSV can take far longer than the default 30-second worker timeout, so the worker is killed mid-request and the browser shows a 502.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300-second timeout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151790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4719" y="1664207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4175" y="1682495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Reloading the model per request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Reading the pickled model on every request wastes the little memory the instance has.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worker preload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584448"/>
            <a:ext cx="32004" cy="1481327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Memory creeping past the limit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 long-lived worker grows until the platform OOM-kills it, which surfaces as a random error.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2FD8B4"/>
                </a:solidFill>
                <a:latin typeface="Consolas"/>
              </a:rPr>
              <a:t>→ fixed by request recycling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4719" y="3438144"/>
            <a:ext cx="5410047" cy="1773935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4719" y="3584448"/>
            <a:ext cx="32004" cy="148132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4175" y="3602736"/>
            <a:ext cx="4952847" cy="14447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00" b="1">
                <a:solidFill>
                  <a:srgbClr val="EAF0F7"/>
                </a:solidFill>
                <a:latin typeface="Segoe UI"/>
              </a:rPr>
              <a:t>The free tier sleeps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19" b="0">
                <a:solidFill>
                  <a:srgbClr val="8CA0BE"/>
                </a:solidFill>
                <a:latin typeface="Segoe UI"/>
              </a:rPr>
              <a:t>An idle instance is suspended, so the first visitor waits for a cold start.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40" b="1">
                <a:solidFill>
                  <a:srgbClr val="F5A623"/>
                </a:solidFill>
                <a:latin typeface="Consolas"/>
              </a:rPr>
              <a:t>→ fixed by warm it before demoing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58383"/>
            <a:ext cx="11057839" cy="859535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5486399"/>
            <a:ext cx="10692079" cy="6217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50" b="1">
                <a:solidFill>
                  <a:srgbClr val="4C8DFF"/>
                </a:solidFill>
                <a:latin typeface="Segoe UI"/>
              </a:rPr>
              <a:t>SHIPPED AS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80" b="0">
                <a:solidFill>
                  <a:srgbClr val="EAF0F7"/>
                </a:solidFill>
                <a:latin typeface="Segoe UI"/>
              </a:rPr>
              <a:t>Gunicorn with a threaded worker · Dockerfile and Procfile · version-pinned requirements · hosted on Render, where the application answers at the URL on the closing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0881621" y="6296558"/>
            <a:ext cx="743145" cy="68580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   ·   PHASE 14 · DEPLOYMENT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Tools behind the RetainIQ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A shared Python path keeps model training and live scoring in sync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283464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1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80" b="1">
                <a:solidFill>
                  <a:srgbClr val="8CA0BE"/>
                </a:solidFill>
                <a:latin typeface="Consolas"/>
              </a:rPr>
              <a:t>TOOLS USED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yth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284" y="2029967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895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Python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39112" y="194767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n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029967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84832" y="247802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Pandas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cikitle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9284" y="3035808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895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Scikit-learn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39112" y="295351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5164" y="3035808"/>
            <a:ext cx="384048" cy="3840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084832" y="348386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Flask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fastap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9284" y="4041648"/>
            <a:ext cx="384048" cy="3840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FastAPI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39112" y="395935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dock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55164" y="4041648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084832" y="448970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Docker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powerb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7360" y="5047488"/>
            <a:ext cx="287895" cy="3840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5895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Power BI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039112" y="4965192"/>
            <a:ext cx="1216152" cy="932688"/>
          </a:xfrm>
          <a:prstGeom prst="roundRect">
            <a:avLst>
              <a:gd name="adj" fmla="val 8000"/>
            </a:avLst>
          </a:prstGeom>
          <a:solidFill>
            <a:srgbClr val="162136"/>
          </a:solidFill>
          <a:ln w="12700">
            <a:solidFill>
              <a:srgbClr val="1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githu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5164" y="5047488"/>
            <a:ext cx="384048" cy="3840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084832" y="5495544"/>
            <a:ext cx="11247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19" b="1">
                <a:solidFill>
                  <a:srgbClr val="EAF0F7"/>
                </a:solidFill>
                <a:latin typeface="Segoe UI"/>
              </a:rPr>
              <a:t>GitHub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84448" y="1517904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84448" y="1517904"/>
            <a:ext cx="41148" cy="1078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85616" y="1645919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2FD8B4"/>
                </a:solidFill>
                <a:latin typeface="Consolas"/>
              </a:rPr>
              <a:t>LANGUAGE &amp; DATA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Python 3.11 · Pandas · NumPy · SQL Server · SQLAlchemy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2724911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584448" y="2724911"/>
            <a:ext cx="41148" cy="107899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785616" y="2852927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5A623"/>
                </a:solidFill>
                <a:latin typeface="Consolas"/>
              </a:rPr>
              <a:t>MACHINE LEARNING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Scikit-learn · Logistic Regression (deployed) · Random Forest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XGBoost · LightGBM · Joblib · SHAP (research only)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84448" y="3931920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84448" y="3931920"/>
            <a:ext cx="41148" cy="1078992"/>
          </a:xfrm>
          <a:prstGeom prst="rect">
            <a:avLst/>
          </a:prstGeom>
          <a:solidFill>
            <a:srgbClr val="4C8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85616" y="4059935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4C8DFF"/>
                </a:solidFill>
                <a:latin typeface="Consolas"/>
              </a:rPr>
              <a:t>WEB APPLICATION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Flask · Jinja2 · HTML5/CSS3 · Vanilla JavaScript · Gunicorn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5138927"/>
            <a:ext cx="8040319" cy="1078992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84448" y="5138927"/>
            <a:ext cx="41148" cy="1078992"/>
          </a:xfrm>
          <a:prstGeom prst="rect">
            <a:avLst/>
          </a:prstGeom>
          <a:solidFill>
            <a:srgbClr val="FF5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85616" y="5266943"/>
            <a:ext cx="7656271" cy="84124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19" b="1">
                <a:solidFill>
                  <a:srgbClr val="FF5C6C"/>
                </a:solidFill>
                <a:latin typeface="Consolas"/>
              </a:rPr>
              <a:t>API &amp; DELIVERY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FastAPI + Pydantic · Docker · Render · Git/GitHub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270" b="0">
                <a:solidFill>
                  <a:srgbClr val="EAF0F7"/>
                </a:solidFill>
                <a:latin typeface="Segoe UI"/>
              </a:rPr>
              <a:t>Power BI · .pbix report · .pbit template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RESPONSIBLE AI, LIMITS &amp; THE NEXT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What this model should not be trusted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Where it breaks, who it might treat unfairly, and what the next cycle fixes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LIMITATIONS — STATED PLAINLY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Trained on historical data from one telecom; behaviour may not transfer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56.95% recall at the deployed threshold — two in five churners missed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live behavioural feed, no drift monitoring, no automatic retraining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Probabilities are not guarantees; recommendations are decision support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Revenue figures are exposure, not realised savings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FF5C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3290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FF5C6C"/>
                </a:solidFill>
                <a:latin typeface="Consolas"/>
              </a:rPr>
              <a:t>FAIRNESS — AN OPEN QUESTION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Senior citizens churn at 41.7% — nearly double the base rate. A model optimising for churn risk will systematically concentrate its retention offers on them.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A blanket discount aimed at that group is not neutral; it can read as exploitative pricing.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No bias audit has been run. Before this touched real customers, that would be a prerequisite, not a nice-to-have.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517904"/>
            <a:ext cx="3527450" cy="470001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5240">
            <a:solidFill>
              <a:srgbClr val="4C8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8484" y="1682495"/>
            <a:ext cx="3125114" cy="4370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1100" b="1">
                <a:solidFill>
                  <a:srgbClr val="4C8DFF"/>
                </a:solidFill>
                <a:latin typeface="Consolas"/>
              </a:rPr>
              <a:t>THE NEXT CYCLE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Move the operating point deliberately — 0.35 catches 71.7% of churners at no cost to F1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Decide the threshold with the business: a wasted offer is cheap, a lost customer is not</a:t>
            </a:r>
          </a:p>
          <a:p>
            <a:pPr algn="l">
              <a:lnSpc>
                <a:spcPct val="116000"/>
              </a:lnSpc>
              <a:spcAft>
                <a:spcPts val="50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Bias audit across age and other protected attributes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060" b="0">
                <a:solidFill>
                  <a:srgbClr val="EAF0F7"/>
                </a:solidFill>
                <a:latin typeface="Segoe UI"/>
              </a:rPr>
              <a:t>▸  Drift detection and scheduled retraining — which sends the project back to Phase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6036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5380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4724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74067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411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755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099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1443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07869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01307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94745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88183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81621" y="6309360"/>
            <a:ext cx="743145" cy="4389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6455664"/>
            <a:ext cx="11057839" cy="9144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510528"/>
            <a:ext cx="9509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Segoe UI"/>
              </a:rPr>
              <a:t>RetainIQ · Signal Ops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27487" y="651052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8CA0BE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8229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D8B4"/>
                </a:solidFill>
                <a:latin typeface="Consolas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76072"/>
            <a:ext cx="11057839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600" b="1">
                <a:solidFill>
                  <a:srgbClr val="EAF0F7"/>
                </a:solidFill>
                <a:latin typeface="Segoe UI"/>
              </a:rPr>
              <a:t>See it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60704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8CA0BE"/>
                </a:solidFill>
                <a:latin typeface="Segoe UI"/>
              </a:rPr>
              <a:t>Scan to open the live application and score a customer portfolio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371600"/>
            <a:ext cx="11057839" cy="12801"/>
          </a:xfrm>
          <a:prstGeom prst="rect">
            <a:avLst/>
          </a:prstGeom>
          <a:solidFill>
            <a:srgbClr val="223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17904"/>
            <a:ext cx="5321808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7780">
            <a:solidFill>
              <a:srgbClr val="2FD8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4809744" cy="3529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050" b="1" u="sng">
                <a:solidFill>
                  <a:srgbClr val="2FD8B4"/>
                </a:solidFill>
                <a:latin typeface="Consolas"/>
                <a:hlinkClick r:id="rId2"/>
              </a:rPr>
              <a:t>LIVE APPLICATION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100" b="1" u="sng">
                <a:solidFill>
                  <a:srgbClr val="4C8DFF"/>
                </a:solidFill>
                <a:latin typeface="Segoe UI"/>
                <a:hlinkClick r:id="rId2"/>
              </a:rPr>
              <a:t>retainiq-predictive-customer-retention-zq6x.onrender.com</a:t>
            </a:r>
          </a:p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080" b="0">
                <a:solidFill>
                  <a:srgbClr val="8CA0BE"/>
                </a:solidFill>
                <a:latin typeface="Segoe UI"/>
              </a:rPr>
              <a:t>Bulk score a customer CSV, read the dashboard, and download a private report. The model, risk bands, explanations and recommendations run live — the same code paths that produced every figure in this deck.</a:t>
            </a:r>
          </a:p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050" b="1" u="sng">
                <a:solidFill>
                  <a:srgbClr val="4C8DFF"/>
                </a:solidFill>
                <a:latin typeface="Consolas"/>
                <a:hlinkClick r:id="rId3"/>
              </a:rPr>
              <a:t>SOURCE CODE</a:t>
            </a:r>
          </a:p>
          <a:p>
            <a:pPr algn="l">
              <a:lnSpc>
                <a:spcPct val="116000"/>
              </a:lnSpc>
              <a:spcAft>
                <a:spcPts val="1200"/>
              </a:spcAft>
            </a:pPr>
            <a:r>
              <a:rPr sz="1060" b="0" u="sng">
                <a:solidFill>
                  <a:srgbClr val="4C8DFF"/>
                </a:solidFill>
                <a:latin typeface="Consolas"/>
                <a:hlinkClick r:id="rId3"/>
              </a:rPr>
              <a:t>github.com/Logesh0247/RetainIQ_Signal_Ops_Console</a:t>
            </a:r>
          </a:p>
          <a:p>
            <a:pPr algn="l">
              <a:lnSpc>
                <a:spcPct val="118000"/>
              </a:lnSpc>
              <a:spcAft>
                <a:spcPts val="100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Notebooks 01–09, the Flask console, the FastAPI wrapper and the nine-test suite are all in the repository.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F5A623"/>
                </a:solidFill>
                <a:latin typeface="Segoe UI"/>
              </a:rPr>
              <a:t>The host is a free tier — open it once a minute before the review so the first scan is instant.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0176" y="1517904"/>
            <a:ext cx="2724912" cy="39684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_live_ap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719072"/>
            <a:ext cx="2615184" cy="2615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4864608"/>
            <a:ext cx="243230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SCAN FOR THE</a:t>
            </a:r>
          </a:p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A0F1C"/>
                </a:solidFill>
                <a:latin typeface="Consolas"/>
              </a:rPr>
              <a:t>LIVE APPLICATION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96528" y="1517904"/>
            <a:ext cx="2825496" cy="3968496"/>
          </a:xfrm>
          <a:prstGeom prst="roundRect">
            <a:avLst>
              <a:gd name="adj" fmla="val 8000"/>
            </a:avLst>
          </a:prstGeom>
          <a:solidFill>
            <a:srgbClr val="111A2C"/>
          </a:solidFill>
          <a:ln w="12700">
            <a:solidFill>
              <a:srgbClr val="2230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qr_reposito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7776" y="1737360"/>
            <a:ext cx="114300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79408" y="1773936"/>
            <a:ext cx="60350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SOURCE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8CA0BE"/>
                </a:solidFill>
                <a:latin typeface="Consolas"/>
              </a:rPr>
              <a:t>REPO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9408" y="2999232"/>
            <a:ext cx="2459736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1900" b="1">
                <a:solidFill>
                  <a:srgbClr val="EAF0F7"/>
                </a:solidFill>
                <a:latin typeface="Segoe UI"/>
              </a:rPr>
              <a:t>Thank you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100" b="0">
                <a:solidFill>
                  <a:srgbClr val="2FD8B4"/>
                </a:solidFill>
                <a:latin typeface="Segoe UI"/>
              </a:rPr>
              <a:t>Questions welcome.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040" b="0">
                <a:solidFill>
                  <a:srgbClr val="8CA0BE"/>
                </a:solidFill>
                <a:latin typeface="Segoe UI"/>
              </a:rPr>
              <a:t>RetainIQ — from a churn probability to a prioritised, explained, costed retention action.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04120" y="4795113"/>
            <a:ext cx="89382" cy="170992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59568" y="4670755"/>
            <a:ext cx="89382" cy="295351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415016" y="4546396"/>
            <a:ext cx="89382" cy="419709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70464" y="4422038"/>
            <a:ext cx="89382" cy="544068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25912" y="4297680"/>
            <a:ext cx="89382" cy="668426"/>
          </a:xfrm>
          <a:prstGeom prst="rect">
            <a:avLst/>
          </a:prstGeom>
          <a:solidFill>
            <a:srgbClr val="2FD8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5669280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0">
                <a:solidFill>
                  <a:srgbClr val="8CA0BE"/>
                </a:solidFill>
                <a:latin typeface="Consolas"/>
              </a:rPr>
              <a:t>Logesh S.  ·  B.Sc. Data Science  ·  RetainIQ Signal Ops Console  ·  80.34% accuracy  ·  84.91% ROC-AUC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